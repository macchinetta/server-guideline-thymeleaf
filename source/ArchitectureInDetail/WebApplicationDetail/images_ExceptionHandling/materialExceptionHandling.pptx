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77" r:id="rId2"/>
    <p:sldId id="295" r:id="rId3"/>
    <p:sldId id="283" r:id="rId4"/>
    <p:sldId id="289" r:id="rId5"/>
    <p:sldId id="291" r:id="rId6"/>
    <p:sldId id="294" r:id="rId7"/>
    <p:sldId id="292" r:id="rId8"/>
    <p:sldId id="293" r:id="rId9"/>
    <p:sldId id="278" r:id="rId10"/>
    <p:sldId id="279" r:id="rId11"/>
    <p:sldId id="280" r:id="rId12"/>
    <p:sldId id="281" r:id="rId13"/>
    <p:sldId id="290" r:id="rId14"/>
  </p:sldIdLst>
  <p:sldSz cx="9144000" cy="6858000" type="screen4x3"/>
  <p:notesSz cx="6858000" cy="9144000"/>
  <p:defaultTextStyle>
    <a:defPPr>
      <a:defRPr lang="ja-JP"/>
    </a:defPPr>
    <a:lvl1pPr marL="0" algn="l" defTabSz="4572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既定のセクション" id="{13B5A670-18EB-4C2A-9E2D-CECF1D609070}">
          <p14:sldIdLst>
            <p14:sldId id="277"/>
            <p14:sldId id="295"/>
          </p14:sldIdLst>
        </p14:section>
        <p14:section name="pattern" id="{1BE8E1E3-145D-4501-9CB0-26410DBA7079}">
          <p14:sldIdLst>
            <p14:sldId id="283"/>
            <p14:sldId id="289"/>
            <p14:sldId id="291"/>
            <p14:sldId id="294"/>
            <p14:sldId id="292"/>
            <p14:sldId id="293"/>
          </p14:sldIdLst>
        </p14:section>
        <p14:section name="basic flow" id="{810E4711-6F3D-4FA0-8A6C-623344363812}">
          <p14:sldIdLst>
            <p14:sldId id="278"/>
            <p14:sldId id="279"/>
            <p14:sldId id="280"/>
            <p14:sldId id="281"/>
          </p14:sldIdLst>
        </p14:section>
        <p14:section name="未使用だけど、がんばったので残しておく" id="{0030BA6C-F97F-411F-99F7-F63090F20159}">
          <p14:sldIdLst>
            <p14:sldId id="290"/>
          </p14:sldIdLst>
        </p14:section>
      </p14:sectionLst>
    </p:ext>
    <p:ext uri="{EFAFB233-063F-42B5-8137-9DF3F51BA10A}">
      <p15:sldGuideLst xmlns=""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9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91" autoAdjust="0"/>
    <p:restoredTop sz="94712" autoAdjust="0"/>
  </p:normalViewPr>
  <p:slideViewPr>
    <p:cSldViewPr snapToGrid="0" snapToObjects="1">
      <p:cViewPr varScale="1">
        <p:scale>
          <a:sx n="111" d="100"/>
          <a:sy n="111" d="100"/>
        </p:scale>
        <p:origin x="-1614" y="-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 dirty="0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B47352-BF5A-4CD2-B029-996118CD8E01}" type="datetimeFigureOut">
              <a:rPr kumimoji="1" lang="ja-JP" altLang="en-US" smtClean="0"/>
              <a:pPr/>
              <a:t>2017/11/21</a:t>
            </a:fld>
            <a:endParaRPr kumimoji="1" lang="ja-JP" altLang="en-US" dirty="0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 dirty="0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 dirty="0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03CFFA3-9D07-4088-826B-DF328166082C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5632120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3CFFA3-9D07-4088-826B-DF328166082C}" type="slidenum">
              <a:rPr kumimoji="1" lang="ja-JP" altLang="en-US" smtClean="0"/>
              <a:pPr/>
              <a:t>1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91178811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3CFFA3-9D07-4088-826B-DF328166082C}" type="slidenum">
              <a:rPr kumimoji="1" lang="ja-JP" altLang="en-US" smtClean="0"/>
              <a:pPr/>
              <a:t>2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91178811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3CFFA3-9D07-4088-826B-DF328166082C}" type="slidenum">
              <a:rPr kumimoji="1" lang="ja-JP" altLang="en-US" smtClean="0"/>
              <a:pPr/>
              <a:t>3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91178811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3CFFA3-9D07-4088-826B-DF328166082C}" type="slidenum">
              <a:rPr kumimoji="1" lang="ja-JP" altLang="en-US" smtClean="0"/>
              <a:pPr/>
              <a:t>4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91178811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3CFFA3-9D07-4088-826B-DF328166082C}" type="slidenum">
              <a:rPr kumimoji="1" lang="ja-JP" altLang="en-US" smtClean="0"/>
              <a:pPr/>
              <a:t>5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91178811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3CFFA3-9D07-4088-826B-DF328166082C}" type="slidenum">
              <a:rPr kumimoji="1" lang="ja-JP" altLang="en-US" smtClean="0"/>
              <a:pPr/>
              <a:t>6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91178811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3CFFA3-9D07-4088-826B-DF328166082C}" type="slidenum">
              <a:rPr kumimoji="1" lang="ja-JP" altLang="en-US" smtClean="0"/>
              <a:pPr/>
              <a:t>7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91178811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3CFFA3-9D07-4088-826B-DF328166082C}" type="slidenum">
              <a:rPr kumimoji="1" lang="ja-JP" altLang="en-US" smtClean="0"/>
              <a:pPr/>
              <a:t>8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91178811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3CFFA3-9D07-4088-826B-DF328166082C}" type="slidenum">
              <a:rPr kumimoji="1" lang="ja-JP" altLang="en-US" smtClean="0"/>
              <a:pPr/>
              <a:t>13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9117881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ja-JP" altLang="en-US" smtClean="0"/>
              <a:t>マスター サブタイトルの書式設定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9B12EC-6AA0-374B-A2D3-850081A07A26}" type="datetimeFigureOut">
              <a:rPr kumimoji="1" lang="ja-JP" altLang="en-US" smtClean="0"/>
              <a:pPr/>
              <a:t>2017/11/21</a:t>
            </a:fld>
            <a:endParaRPr kumimoji="1" lang="ja-JP" altLang="en-US" dirty="0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EF739-006C-E447-A3B9-2B495A864FAC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9572681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9B12EC-6AA0-374B-A2D3-850081A07A26}" type="datetimeFigureOut">
              <a:rPr kumimoji="1" lang="ja-JP" altLang="en-US" smtClean="0"/>
              <a:pPr/>
              <a:t>2017/11/21</a:t>
            </a:fld>
            <a:endParaRPr kumimoji="1" lang="ja-JP" altLang="en-US" dirty="0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EF739-006C-E447-A3B9-2B495A864FAC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9566105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9B12EC-6AA0-374B-A2D3-850081A07A26}" type="datetimeFigureOut">
              <a:rPr kumimoji="1" lang="ja-JP" altLang="en-US" smtClean="0"/>
              <a:pPr/>
              <a:t>2017/11/21</a:t>
            </a:fld>
            <a:endParaRPr kumimoji="1" lang="ja-JP" altLang="en-US" dirty="0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EF739-006C-E447-A3B9-2B495A864FAC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4920953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9B12EC-6AA0-374B-A2D3-850081A07A26}" type="datetimeFigureOut">
              <a:rPr kumimoji="1" lang="ja-JP" altLang="en-US" smtClean="0"/>
              <a:pPr/>
              <a:t>2017/11/21</a:t>
            </a:fld>
            <a:endParaRPr kumimoji="1" lang="ja-JP" altLang="en-US" dirty="0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EF739-006C-E447-A3B9-2B495A864FAC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5577122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5" name="テキス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</p:txBody>
      </p:sp>
      <p:sp>
        <p:nvSpPr>
          <p:cNvPr id="6" name="コンテンツ プレースホルダー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7" name="日付プレースホルダー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9B12EC-6AA0-374B-A2D3-850081A07A26}" type="datetimeFigureOut">
              <a:rPr kumimoji="1" lang="ja-JP" altLang="en-US" smtClean="0"/>
              <a:pPr/>
              <a:t>2017/11/21</a:t>
            </a:fld>
            <a:endParaRPr kumimoji="1" lang="ja-JP" altLang="en-US" dirty="0"/>
          </a:p>
        </p:txBody>
      </p:sp>
      <p:sp>
        <p:nvSpPr>
          <p:cNvPr id="8" name="フッター プレースホルダー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9" name="スライド番号プレースホルダー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EF739-006C-E447-A3B9-2B495A864FAC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6383386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9B12EC-6AA0-374B-A2D3-850081A07A26}" type="datetimeFigureOut">
              <a:rPr kumimoji="1" lang="ja-JP" altLang="en-US" smtClean="0"/>
              <a:pPr/>
              <a:t>2017/11/21</a:t>
            </a:fld>
            <a:endParaRPr kumimoji="1" lang="ja-JP" altLang="en-US" dirty="0"/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EF739-006C-E447-A3B9-2B495A864FAC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0637780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9B12EC-6AA0-374B-A2D3-850081A07A26}" type="datetimeFigureOut">
              <a:rPr kumimoji="1" lang="ja-JP" altLang="en-US" smtClean="0"/>
              <a:pPr/>
              <a:t>2017/11/21</a:t>
            </a:fld>
            <a:endParaRPr kumimoji="1" lang="ja-JP" altLang="en-US" dirty="0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EF739-006C-E447-A3B9-2B495A864FAC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5753236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9B12EC-6AA0-374B-A2D3-850081A07A26}" type="datetimeFigureOut">
              <a:rPr kumimoji="1" lang="ja-JP" altLang="en-US" smtClean="0"/>
              <a:pPr/>
              <a:t>2017/11/21</a:t>
            </a:fld>
            <a:endParaRPr kumimoji="1" lang="ja-JP" altLang="en-US" dirty="0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EF739-006C-E447-A3B9-2B495A864FAC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5496947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図プレースホルダー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 dirty="0"/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9B12EC-6AA0-374B-A2D3-850081A07A26}" type="datetimeFigureOut">
              <a:rPr kumimoji="1" lang="ja-JP" altLang="en-US" smtClean="0"/>
              <a:pPr/>
              <a:t>2017/11/21</a:t>
            </a:fld>
            <a:endParaRPr kumimoji="1" lang="ja-JP" altLang="en-US" dirty="0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EF739-006C-E447-A3B9-2B495A864FAC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9280062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9B12EC-6AA0-374B-A2D3-850081A07A26}" type="datetimeFigureOut">
              <a:rPr kumimoji="1" lang="ja-JP" altLang="en-US" smtClean="0"/>
              <a:pPr/>
              <a:t>2017/11/21</a:t>
            </a:fld>
            <a:endParaRPr kumimoji="1" lang="ja-JP" altLang="en-US" dirty="0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EF739-006C-E447-A3B9-2B495A864FAC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992483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9B12EC-6AA0-374B-A2D3-850081A07A26}" type="datetimeFigureOut">
              <a:rPr kumimoji="1" lang="ja-JP" altLang="en-US" smtClean="0"/>
              <a:pPr/>
              <a:t>2017/11/21</a:t>
            </a:fld>
            <a:endParaRPr kumimoji="1" lang="ja-JP" altLang="en-US" dirty="0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EF739-006C-E447-A3B9-2B495A864FAC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753696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B9B12EC-6AA0-374B-A2D3-850081A07A26}" type="datetimeFigureOut">
              <a:rPr kumimoji="1" lang="ja-JP" altLang="en-US" smtClean="0"/>
              <a:pPr/>
              <a:t>2017/11/21</a:t>
            </a:fld>
            <a:endParaRPr kumimoji="1" lang="ja-JP" altLang="en-US" dirty="0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 dirty="0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7EF739-006C-E447-A3B9-2B495A864FAC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9191673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正方形/長方形 43"/>
          <p:cNvSpPr/>
          <p:nvPr/>
        </p:nvSpPr>
        <p:spPr>
          <a:xfrm>
            <a:off x="1994194" y="610232"/>
            <a:ext cx="6866965" cy="712451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="horz" rtlCol="0" anchor="t" anchorCtr="0"/>
          <a:lstStyle/>
          <a:p>
            <a:pPr algn="ctr"/>
            <a:r>
              <a:rPr kumimoji="1" lang="en-US" altLang="ja-JP" sz="1200" b="1" dirty="0" smtClean="0"/>
              <a:t>&lt;Application Server&gt;</a:t>
            </a:r>
          </a:p>
          <a:p>
            <a:pPr algn="ctr"/>
            <a:r>
              <a:rPr kumimoji="1" lang="en-US" altLang="ja-JP" sz="1600" dirty="0" smtClean="0"/>
              <a:t>Servlet</a:t>
            </a:r>
          </a:p>
          <a:p>
            <a:pPr algn="ctr"/>
            <a:r>
              <a:rPr lang="en-US" altLang="ja-JP" sz="1600" dirty="0"/>
              <a:t>Container</a:t>
            </a:r>
            <a:endParaRPr kumimoji="1" lang="ja-JP" altLang="en-US" sz="1600" dirty="0"/>
          </a:p>
        </p:txBody>
      </p:sp>
      <p:cxnSp>
        <p:nvCxnSpPr>
          <p:cNvPr id="41" name="直線矢印コネクタ 13"/>
          <p:cNvCxnSpPr/>
          <p:nvPr/>
        </p:nvCxnSpPr>
        <p:spPr>
          <a:xfrm>
            <a:off x="1209122" y="1138257"/>
            <a:ext cx="594295" cy="0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prstDash val="dash"/>
            <a:headEnd type="arrow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直線矢印コネクタ 13"/>
          <p:cNvCxnSpPr/>
          <p:nvPr/>
        </p:nvCxnSpPr>
        <p:spPr>
          <a:xfrm flipV="1">
            <a:off x="1209122" y="859087"/>
            <a:ext cx="612330" cy="1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headEnd type="none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3" name="Picture 4" descr="PC関連機器のイラストカット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6936" y="444665"/>
            <a:ext cx="1142031" cy="906011"/>
          </a:xfrm>
          <a:prstGeom prst="rect">
            <a:avLst/>
          </a:prstGeom>
          <a:noFill/>
        </p:spPr>
      </p:pic>
      <p:sp>
        <p:nvSpPr>
          <p:cNvPr id="46" name="テキスト ボックス 45"/>
          <p:cNvSpPr txBox="1"/>
          <p:nvPr/>
        </p:nvSpPr>
        <p:spPr>
          <a:xfrm>
            <a:off x="1132495" y="416672"/>
            <a:ext cx="69643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1100" dirty="0" smtClean="0"/>
              <a:t>request</a:t>
            </a:r>
          </a:p>
        </p:txBody>
      </p:sp>
      <p:sp>
        <p:nvSpPr>
          <p:cNvPr id="47" name="テキスト ボックス 46"/>
          <p:cNvSpPr txBox="1"/>
          <p:nvPr/>
        </p:nvSpPr>
        <p:spPr>
          <a:xfrm>
            <a:off x="1113132" y="1258067"/>
            <a:ext cx="76226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1100" dirty="0" smtClean="0"/>
              <a:t>response</a:t>
            </a:r>
          </a:p>
        </p:txBody>
      </p:sp>
      <p:sp>
        <p:nvSpPr>
          <p:cNvPr id="3" name="角丸四角形 2"/>
          <p:cNvSpPr/>
          <p:nvPr/>
        </p:nvSpPr>
        <p:spPr>
          <a:xfrm>
            <a:off x="4763409" y="2462482"/>
            <a:ext cx="1594426" cy="883521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dirty="0" smtClean="0"/>
              <a:t>&lt;framework&gt;</a:t>
            </a:r>
          </a:p>
          <a:p>
            <a:pPr algn="ctr"/>
            <a:r>
              <a:rPr lang="en-US" altLang="ja-JP" dirty="0" smtClean="0"/>
              <a:t>Dispatcher</a:t>
            </a:r>
          </a:p>
          <a:p>
            <a:pPr algn="ctr"/>
            <a:r>
              <a:rPr lang="en-US" altLang="ja-JP" dirty="0" smtClean="0"/>
              <a:t>Servlet</a:t>
            </a:r>
            <a:endParaRPr kumimoji="1" lang="ja-JP" altLang="en-US" dirty="0"/>
          </a:p>
        </p:txBody>
      </p:sp>
      <p:sp>
        <p:nvSpPr>
          <p:cNvPr id="53" name="角丸四角形 52"/>
          <p:cNvSpPr/>
          <p:nvPr/>
        </p:nvSpPr>
        <p:spPr>
          <a:xfrm>
            <a:off x="2138698" y="3277237"/>
            <a:ext cx="1539887" cy="1008213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dirty="0" smtClean="0"/>
              <a:t>&lt;framework&gt;</a:t>
            </a:r>
          </a:p>
          <a:p>
            <a:pPr algn="ctr"/>
            <a:r>
              <a:rPr lang="en-US" altLang="ja-JP" dirty="0" smtClean="0"/>
              <a:t>Filter</a:t>
            </a:r>
          </a:p>
          <a:p>
            <a:pPr algn="ctr"/>
            <a:r>
              <a:rPr lang="en-US" altLang="ja-JP" dirty="0" smtClean="0"/>
              <a:t>ChainProxy</a:t>
            </a:r>
            <a:endParaRPr kumimoji="1" lang="ja-JP" altLang="en-US" dirty="0"/>
          </a:p>
        </p:txBody>
      </p:sp>
      <p:cxnSp>
        <p:nvCxnSpPr>
          <p:cNvPr id="54" name="直線矢印コネクタ 13"/>
          <p:cNvCxnSpPr/>
          <p:nvPr/>
        </p:nvCxnSpPr>
        <p:spPr>
          <a:xfrm>
            <a:off x="3154341" y="1353651"/>
            <a:ext cx="0" cy="385502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headEnd type="none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直線矢印コネクタ 13"/>
          <p:cNvCxnSpPr/>
          <p:nvPr/>
        </p:nvCxnSpPr>
        <p:spPr>
          <a:xfrm flipV="1">
            <a:off x="2727973" y="1337828"/>
            <a:ext cx="0" cy="416469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prstDash val="dash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直線矢印コネクタ 13"/>
          <p:cNvCxnSpPr/>
          <p:nvPr/>
        </p:nvCxnSpPr>
        <p:spPr>
          <a:xfrm>
            <a:off x="3820253" y="3102025"/>
            <a:ext cx="710946" cy="0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headEnd type="none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直線矢印コネクタ 13"/>
          <p:cNvCxnSpPr/>
          <p:nvPr/>
        </p:nvCxnSpPr>
        <p:spPr>
          <a:xfrm flipH="1">
            <a:off x="3775434" y="3423118"/>
            <a:ext cx="746806" cy="0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prstDash val="dash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7" name="角丸四角形 86"/>
          <p:cNvSpPr/>
          <p:nvPr/>
        </p:nvSpPr>
        <p:spPr>
          <a:xfrm>
            <a:off x="2727973" y="4455490"/>
            <a:ext cx="824034" cy="57374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90" name="角丸四角形 89"/>
          <p:cNvSpPr/>
          <p:nvPr/>
        </p:nvSpPr>
        <p:spPr>
          <a:xfrm>
            <a:off x="2617294" y="4563068"/>
            <a:ext cx="824034" cy="57374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91" name="角丸四角形 90"/>
          <p:cNvSpPr/>
          <p:nvPr/>
        </p:nvSpPr>
        <p:spPr>
          <a:xfrm>
            <a:off x="2466255" y="4697540"/>
            <a:ext cx="824034" cy="57374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92" name="角丸四角形 91"/>
          <p:cNvSpPr/>
          <p:nvPr/>
        </p:nvSpPr>
        <p:spPr>
          <a:xfrm>
            <a:off x="2330307" y="4840974"/>
            <a:ext cx="824034" cy="57374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400" dirty="0" smtClean="0"/>
              <a:t>&lt;filter&gt;</a:t>
            </a:r>
          </a:p>
          <a:p>
            <a:pPr algn="ctr"/>
            <a:r>
              <a:rPr kumimoji="1" lang="en-US" altLang="ja-JP" sz="1400" dirty="0" smtClean="0"/>
              <a:t>…</a:t>
            </a:r>
            <a:endParaRPr kumimoji="1" lang="ja-JP" altLang="en-US" sz="1400" dirty="0"/>
          </a:p>
        </p:txBody>
      </p:sp>
      <p:sp>
        <p:nvSpPr>
          <p:cNvPr id="76" name="角丸四角形 75"/>
          <p:cNvSpPr/>
          <p:nvPr/>
        </p:nvSpPr>
        <p:spPr>
          <a:xfrm>
            <a:off x="4247454" y="1801906"/>
            <a:ext cx="4784036" cy="4285129"/>
          </a:xfrm>
          <a:prstGeom prst="roundRect">
            <a:avLst/>
          </a:prstGeom>
          <a:noFill/>
          <a:ln w="50800">
            <a:solidFill>
              <a:srgbClr val="FF990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35" name="正方形/長方形 34"/>
          <p:cNvSpPr/>
          <p:nvPr/>
        </p:nvSpPr>
        <p:spPr>
          <a:xfrm>
            <a:off x="4558094" y="2004991"/>
            <a:ext cx="4233613" cy="1715368"/>
          </a:xfrm>
          <a:prstGeom prst="rect">
            <a:avLst/>
          </a:prstGeom>
          <a:noFill/>
          <a:ln w="317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kumimoji="1" lang="en-US" altLang="ja-JP" sz="16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&lt;spring </a:t>
            </a:r>
            <a:r>
              <a:rPr lang="en-US" altLang="ja-JP" sz="16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MVC</a:t>
            </a:r>
            <a:r>
              <a:rPr lang="en-US" altLang="ja-JP" sz="16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&gt;</a:t>
            </a:r>
            <a:endParaRPr kumimoji="1" lang="ja-JP" altLang="en-US" sz="16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6" name="正方形/長方形 35"/>
          <p:cNvSpPr/>
          <p:nvPr/>
        </p:nvSpPr>
        <p:spPr>
          <a:xfrm>
            <a:off x="2041849" y="2927591"/>
            <a:ext cx="1733586" cy="2872575"/>
          </a:xfrm>
          <a:prstGeom prst="rect">
            <a:avLst/>
          </a:prstGeom>
          <a:noFill/>
          <a:ln w="317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kumimoji="1" lang="en-US" altLang="ja-JP" sz="16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&lt;spring </a:t>
            </a:r>
            <a:r>
              <a:rPr lang="en-US" altLang="ja-JP" sz="16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Security&gt;</a:t>
            </a:r>
            <a:endParaRPr kumimoji="1" lang="ja-JP" altLang="en-US" sz="16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7" name="角丸四角形 36"/>
          <p:cNvSpPr/>
          <p:nvPr/>
        </p:nvSpPr>
        <p:spPr>
          <a:xfrm>
            <a:off x="6872802" y="2494169"/>
            <a:ext cx="1278073" cy="729083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 anchorCtr="1"/>
          <a:lstStyle/>
          <a:p>
            <a:pPr algn="ctr"/>
            <a:r>
              <a:rPr lang="en-US" altLang="ja-JP" sz="1400" b="1" dirty="0" smtClean="0">
                <a:solidFill>
                  <a:schemeClr val="tx2"/>
                </a:solidFill>
              </a:rPr>
              <a:t>Application</a:t>
            </a:r>
            <a:r>
              <a:rPr kumimoji="1" lang="en-US" altLang="ja-JP" sz="1400" b="1" dirty="0" smtClean="0">
                <a:solidFill>
                  <a:schemeClr val="tx2"/>
                </a:solidFill>
              </a:rPr>
              <a:t> Layer</a:t>
            </a:r>
            <a:endParaRPr kumimoji="1" lang="ja-JP" altLang="en-US" sz="1400" b="1" dirty="0">
              <a:solidFill>
                <a:schemeClr val="tx2"/>
              </a:solidFill>
            </a:endParaRPr>
          </a:p>
        </p:txBody>
      </p:sp>
      <p:sp>
        <p:nvSpPr>
          <p:cNvPr id="58" name="角丸四角形 57"/>
          <p:cNvSpPr/>
          <p:nvPr/>
        </p:nvSpPr>
        <p:spPr>
          <a:xfrm>
            <a:off x="5182099" y="4301414"/>
            <a:ext cx="1278073" cy="763645"/>
          </a:xfrm>
          <a:prstGeom prst="round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 anchorCtr="1"/>
          <a:lstStyle/>
          <a:p>
            <a:pPr algn="ctr"/>
            <a:r>
              <a:rPr lang="en-US" altLang="ja-JP" sz="1400" b="1" dirty="0" smtClean="0">
                <a:solidFill>
                  <a:schemeClr val="accent3">
                    <a:lumMod val="75000"/>
                  </a:schemeClr>
                </a:solidFill>
              </a:rPr>
              <a:t>Domain</a:t>
            </a:r>
            <a:endParaRPr lang="en-US" altLang="ja-JP" sz="1400" b="1" dirty="0">
              <a:solidFill>
                <a:schemeClr val="accent3">
                  <a:lumMod val="75000"/>
                </a:schemeClr>
              </a:solidFill>
            </a:endParaRPr>
          </a:p>
          <a:p>
            <a:pPr algn="ctr"/>
            <a:r>
              <a:rPr kumimoji="1" lang="en-US" altLang="ja-JP" sz="1400" b="1" dirty="0" smtClean="0">
                <a:solidFill>
                  <a:schemeClr val="accent3">
                    <a:lumMod val="75000"/>
                  </a:schemeClr>
                </a:solidFill>
              </a:rPr>
              <a:t>Layer</a:t>
            </a:r>
            <a:endParaRPr kumimoji="1" lang="ja-JP" altLang="en-US" sz="1400" b="1" dirty="0">
              <a:solidFill>
                <a:schemeClr val="accent3">
                  <a:lumMod val="75000"/>
                </a:schemeClr>
              </a:solidFill>
            </a:endParaRPr>
          </a:p>
        </p:txBody>
      </p:sp>
      <p:sp>
        <p:nvSpPr>
          <p:cNvPr id="59" name="角丸四角形 58"/>
          <p:cNvSpPr/>
          <p:nvPr/>
        </p:nvSpPr>
        <p:spPr>
          <a:xfrm>
            <a:off x="6917759" y="4301414"/>
            <a:ext cx="1323878" cy="763645"/>
          </a:xfrm>
          <a:prstGeom prst="round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 anchorCtr="1"/>
          <a:lstStyle/>
          <a:p>
            <a:pPr algn="ctr"/>
            <a:r>
              <a:rPr kumimoji="1" lang="en-US" altLang="ja-JP" sz="1400" b="1" dirty="0" smtClean="0">
                <a:solidFill>
                  <a:srgbClr val="7030A0"/>
                </a:solidFill>
              </a:rPr>
              <a:t>Infrastructure Layer</a:t>
            </a:r>
            <a:endParaRPr kumimoji="1" lang="ja-JP" altLang="en-US" sz="1400" b="1" dirty="0">
              <a:solidFill>
                <a:srgbClr val="7030A0"/>
              </a:solidFill>
            </a:endParaRPr>
          </a:p>
        </p:txBody>
      </p:sp>
      <p:sp>
        <p:nvSpPr>
          <p:cNvPr id="67" name="正方形/長方形 66"/>
          <p:cNvSpPr/>
          <p:nvPr/>
        </p:nvSpPr>
        <p:spPr>
          <a:xfrm>
            <a:off x="4558094" y="3801046"/>
            <a:ext cx="4233613" cy="1999120"/>
          </a:xfrm>
          <a:prstGeom prst="rect">
            <a:avLst/>
          </a:prstGeom>
          <a:noFill/>
          <a:ln w="317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kumimoji="1" lang="en-US" altLang="ja-JP" sz="16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&lt;springframework</a:t>
            </a:r>
            <a:r>
              <a:rPr lang="en-US" altLang="ja-JP" sz="16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&gt;</a:t>
            </a:r>
            <a:endParaRPr kumimoji="1" lang="ja-JP" altLang="en-US" sz="16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0" name="フローチャート : 書類 39"/>
          <p:cNvSpPr/>
          <p:nvPr/>
        </p:nvSpPr>
        <p:spPr>
          <a:xfrm>
            <a:off x="3015909" y="636839"/>
            <a:ext cx="850837" cy="659236"/>
          </a:xfrm>
          <a:prstGeom prst="flowChartDocumen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t" anchorCtr="0"/>
          <a:lstStyle/>
          <a:p>
            <a:pPr algn="ctr"/>
            <a:r>
              <a:rPr lang="en-US" altLang="ja-JP" sz="1400" dirty="0" smtClean="0"/>
              <a:t>w</a:t>
            </a:r>
            <a:r>
              <a:rPr kumimoji="1" lang="en-US" altLang="ja-JP" sz="1400" dirty="0" smtClean="0"/>
              <a:t>eb.xml</a:t>
            </a:r>
          </a:p>
        </p:txBody>
      </p:sp>
      <p:sp>
        <p:nvSpPr>
          <p:cNvPr id="45" name="角丸四角形 44"/>
          <p:cNvSpPr/>
          <p:nvPr/>
        </p:nvSpPr>
        <p:spPr>
          <a:xfrm>
            <a:off x="1922476" y="416672"/>
            <a:ext cx="7109014" cy="1103005"/>
          </a:xfrm>
          <a:prstGeom prst="roundRect">
            <a:avLst/>
          </a:prstGeom>
          <a:noFill/>
          <a:ln w="50800">
            <a:solidFill>
              <a:srgbClr val="FF990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51" name="角丸四角形 50"/>
          <p:cNvSpPr/>
          <p:nvPr/>
        </p:nvSpPr>
        <p:spPr>
          <a:xfrm>
            <a:off x="2527117" y="1888742"/>
            <a:ext cx="824034" cy="57374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52" name="角丸四角形 51"/>
          <p:cNvSpPr/>
          <p:nvPr/>
        </p:nvSpPr>
        <p:spPr>
          <a:xfrm>
            <a:off x="2382204" y="1754294"/>
            <a:ext cx="824034" cy="57374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400" dirty="0" smtClean="0"/>
              <a:t>&lt;filter&gt;</a:t>
            </a:r>
          </a:p>
          <a:p>
            <a:pPr algn="ctr"/>
            <a:r>
              <a:rPr kumimoji="1" lang="en-US" altLang="ja-JP" sz="1400" dirty="0" smtClean="0"/>
              <a:t>…</a:t>
            </a:r>
            <a:endParaRPr kumimoji="1" lang="ja-JP" altLang="en-US" sz="1400" dirty="0"/>
          </a:p>
        </p:txBody>
      </p:sp>
      <p:cxnSp>
        <p:nvCxnSpPr>
          <p:cNvPr id="55" name="直線矢印コネクタ 13"/>
          <p:cNvCxnSpPr/>
          <p:nvPr/>
        </p:nvCxnSpPr>
        <p:spPr>
          <a:xfrm>
            <a:off x="3139990" y="2462482"/>
            <a:ext cx="0" cy="441760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headEnd type="none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直線矢印コネクタ 13"/>
          <p:cNvCxnSpPr/>
          <p:nvPr/>
        </p:nvCxnSpPr>
        <p:spPr>
          <a:xfrm flipV="1">
            <a:off x="2736938" y="2462482"/>
            <a:ext cx="0" cy="448157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prstDash val="dash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角丸四角形 56"/>
          <p:cNvSpPr/>
          <p:nvPr/>
        </p:nvSpPr>
        <p:spPr>
          <a:xfrm>
            <a:off x="364397" y="5377827"/>
            <a:ext cx="1370228" cy="721661"/>
          </a:xfrm>
          <a:prstGeom prst="roundRect">
            <a:avLst/>
          </a:prstGeom>
          <a:noFill/>
          <a:ln w="50800">
            <a:solidFill>
              <a:srgbClr val="FF990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 smtClean="0">
                <a:solidFill>
                  <a:srgbClr val="FF9900"/>
                </a:solidFill>
              </a:rPr>
              <a:t>DescriptionTarget</a:t>
            </a:r>
            <a:endParaRPr kumimoji="1" lang="ja-JP" altLang="en-US" dirty="0">
              <a:solidFill>
                <a:srgbClr val="FF9900"/>
              </a:solidFill>
            </a:endParaRPr>
          </a:p>
        </p:txBody>
      </p:sp>
      <p:grpSp>
        <p:nvGrpSpPr>
          <p:cNvPr id="49" name="グループ化 48"/>
          <p:cNvGrpSpPr/>
          <p:nvPr/>
        </p:nvGrpSpPr>
        <p:grpSpPr>
          <a:xfrm>
            <a:off x="5878185" y="3072114"/>
            <a:ext cx="1112438" cy="555462"/>
            <a:chOff x="5775544" y="3053452"/>
            <a:chExt cx="1112438" cy="555462"/>
          </a:xfrm>
        </p:grpSpPr>
        <p:sp>
          <p:nvSpPr>
            <p:cNvPr id="48" name="星 24 47"/>
            <p:cNvSpPr/>
            <p:nvPr/>
          </p:nvSpPr>
          <p:spPr>
            <a:xfrm>
              <a:off x="5775544" y="3053452"/>
              <a:ext cx="1112438" cy="555462"/>
            </a:xfrm>
            <a:prstGeom prst="star24">
              <a:avLst/>
            </a:prstGeom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100" dirty="0"/>
            </a:p>
          </p:txBody>
        </p:sp>
        <p:sp>
          <p:nvSpPr>
            <p:cNvPr id="70" name="正方形/長方形 69"/>
            <p:cNvSpPr/>
            <p:nvPr/>
          </p:nvSpPr>
          <p:spPr>
            <a:xfrm>
              <a:off x="5848408" y="3193295"/>
              <a:ext cx="927601" cy="29110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ja-JP" sz="1200" dirty="0" smtClean="0">
                  <a:solidFill>
                    <a:schemeClr val="bg1"/>
                  </a:solidFill>
                </a:rPr>
                <a:t>Exception</a:t>
              </a:r>
              <a:endParaRPr kumimoji="1" lang="ja-JP" altLang="en-US" sz="12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66" name="グループ化 65"/>
          <p:cNvGrpSpPr/>
          <p:nvPr/>
        </p:nvGrpSpPr>
        <p:grpSpPr>
          <a:xfrm>
            <a:off x="7594656" y="3068272"/>
            <a:ext cx="1112438" cy="555462"/>
            <a:chOff x="5775544" y="3053452"/>
            <a:chExt cx="1112438" cy="555462"/>
          </a:xfrm>
        </p:grpSpPr>
        <p:sp>
          <p:nvSpPr>
            <p:cNvPr id="71" name="星 24 70"/>
            <p:cNvSpPr/>
            <p:nvPr/>
          </p:nvSpPr>
          <p:spPr>
            <a:xfrm>
              <a:off x="5775544" y="3053452"/>
              <a:ext cx="1112438" cy="555462"/>
            </a:xfrm>
            <a:prstGeom prst="star24">
              <a:avLst/>
            </a:prstGeom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100" dirty="0"/>
            </a:p>
          </p:txBody>
        </p:sp>
        <p:sp>
          <p:nvSpPr>
            <p:cNvPr id="73" name="正方形/長方形 72"/>
            <p:cNvSpPr/>
            <p:nvPr/>
          </p:nvSpPr>
          <p:spPr>
            <a:xfrm>
              <a:off x="5848408" y="3193295"/>
              <a:ext cx="927601" cy="29110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ja-JP" sz="1200" dirty="0" smtClean="0">
                  <a:solidFill>
                    <a:schemeClr val="bg1"/>
                  </a:solidFill>
                </a:rPr>
                <a:t>Exception</a:t>
              </a:r>
              <a:endParaRPr kumimoji="1" lang="ja-JP" altLang="en-US" sz="12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74" name="グループ化 73"/>
          <p:cNvGrpSpPr/>
          <p:nvPr/>
        </p:nvGrpSpPr>
        <p:grpSpPr>
          <a:xfrm>
            <a:off x="5760364" y="4859252"/>
            <a:ext cx="1112438" cy="555462"/>
            <a:chOff x="5775544" y="3053452"/>
            <a:chExt cx="1112438" cy="555462"/>
          </a:xfrm>
        </p:grpSpPr>
        <p:sp>
          <p:nvSpPr>
            <p:cNvPr id="75" name="星 24 74"/>
            <p:cNvSpPr/>
            <p:nvPr/>
          </p:nvSpPr>
          <p:spPr>
            <a:xfrm>
              <a:off x="5775544" y="3053452"/>
              <a:ext cx="1112438" cy="555462"/>
            </a:xfrm>
            <a:prstGeom prst="star24">
              <a:avLst/>
            </a:prstGeom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100" dirty="0"/>
            </a:p>
          </p:txBody>
        </p:sp>
        <p:sp>
          <p:nvSpPr>
            <p:cNvPr id="77" name="正方形/長方形 76"/>
            <p:cNvSpPr/>
            <p:nvPr/>
          </p:nvSpPr>
          <p:spPr>
            <a:xfrm>
              <a:off x="5848408" y="3193295"/>
              <a:ext cx="927601" cy="29110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ja-JP" sz="1200" dirty="0" smtClean="0">
                  <a:solidFill>
                    <a:schemeClr val="bg1"/>
                  </a:solidFill>
                </a:rPr>
                <a:t>Exception</a:t>
              </a:r>
              <a:endParaRPr kumimoji="1" lang="ja-JP" altLang="en-US" sz="12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78" name="グループ化 77"/>
          <p:cNvGrpSpPr/>
          <p:nvPr/>
        </p:nvGrpSpPr>
        <p:grpSpPr>
          <a:xfrm>
            <a:off x="7635083" y="4840974"/>
            <a:ext cx="1112438" cy="555462"/>
            <a:chOff x="5775544" y="3053452"/>
            <a:chExt cx="1112438" cy="555462"/>
          </a:xfrm>
        </p:grpSpPr>
        <p:sp>
          <p:nvSpPr>
            <p:cNvPr id="79" name="星 24 78"/>
            <p:cNvSpPr/>
            <p:nvPr/>
          </p:nvSpPr>
          <p:spPr>
            <a:xfrm>
              <a:off x="5775544" y="3053452"/>
              <a:ext cx="1112438" cy="555462"/>
            </a:xfrm>
            <a:prstGeom prst="star24">
              <a:avLst/>
            </a:prstGeom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100" dirty="0"/>
            </a:p>
          </p:txBody>
        </p:sp>
        <p:sp>
          <p:nvSpPr>
            <p:cNvPr id="80" name="正方形/長方形 79"/>
            <p:cNvSpPr/>
            <p:nvPr/>
          </p:nvSpPr>
          <p:spPr>
            <a:xfrm>
              <a:off x="5848408" y="3193295"/>
              <a:ext cx="927601" cy="29110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ja-JP" sz="1200" dirty="0" smtClean="0">
                  <a:solidFill>
                    <a:schemeClr val="bg1"/>
                  </a:solidFill>
                </a:rPr>
                <a:t>Exception</a:t>
              </a:r>
              <a:endParaRPr kumimoji="1" lang="ja-JP" altLang="en-US" sz="1200" dirty="0">
                <a:solidFill>
                  <a:schemeClr val="bg1"/>
                </a:solidFill>
              </a:endParaRPr>
            </a:p>
          </p:txBody>
        </p:sp>
      </p:grpSp>
      <p:sp>
        <p:nvSpPr>
          <p:cNvPr id="81" name="テキスト ボックス 80"/>
          <p:cNvSpPr txBox="1"/>
          <p:nvPr/>
        </p:nvSpPr>
        <p:spPr>
          <a:xfrm>
            <a:off x="2951901" y="894935"/>
            <a:ext cx="100069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1050" dirty="0" smtClean="0"/>
              <a:t>&lt;error-page&gt;</a:t>
            </a:r>
          </a:p>
        </p:txBody>
      </p:sp>
    </p:spTree>
    <p:extLst>
      <p:ext uri="{BB962C8B-B14F-4D97-AF65-F5344CB8AC3E}">
        <p14:creationId xmlns:p14="http://schemas.microsoft.com/office/powerpoint/2010/main" val="22431195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角丸四角形 49"/>
          <p:cNvSpPr/>
          <p:nvPr/>
        </p:nvSpPr>
        <p:spPr>
          <a:xfrm>
            <a:off x="2924227" y="382038"/>
            <a:ext cx="5341546" cy="5967358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 anchorCtr="1"/>
          <a:lstStyle/>
          <a:p>
            <a:pPr algn="ctr"/>
            <a:endParaRPr kumimoji="1" lang="ja-JP" altLang="en-US" dirty="0"/>
          </a:p>
        </p:txBody>
      </p:sp>
      <p:sp>
        <p:nvSpPr>
          <p:cNvPr id="34" name="正方形/長方形 33"/>
          <p:cNvSpPr/>
          <p:nvPr/>
        </p:nvSpPr>
        <p:spPr>
          <a:xfrm>
            <a:off x="1385137" y="358290"/>
            <a:ext cx="1160007" cy="5991106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="horz" rtlCol="0" anchor="t" anchorCtr="0"/>
          <a:lstStyle/>
          <a:p>
            <a:pPr algn="ctr"/>
            <a:endParaRPr kumimoji="1" lang="en-US" altLang="ja-JP" sz="900" dirty="0" smtClean="0"/>
          </a:p>
          <a:p>
            <a:pPr algn="ctr"/>
            <a:endParaRPr lang="en-US" altLang="ja-JP" sz="900" dirty="0"/>
          </a:p>
          <a:p>
            <a:pPr algn="ctr"/>
            <a:endParaRPr kumimoji="1" lang="en-US" altLang="ja-JP" sz="900" dirty="0" smtClean="0"/>
          </a:p>
          <a:p>
            <a:pPr algn="ctr"/>
            <a:endParaRPr lang="en-US" altLang="ja-JP" sz="900" dirty="0"/>
          </a:p>
          <a:p>
            <a:pPr algn="ctr"/>
            <a:endParaRPr kumimoji="1" lang="en-US" altLang="ja-JP" sz="900" dirty="0" smtClean="0"/>
          </a:p>
          <a:p>
            <a:pPr algn="ctr"/>
            <a:endParaRPr lang="en-US" altLang="ja-JP" sz="900" dirty="0"/>
          </a:p>
          <a:p>
            <a:pPr algn="ctr"/>
            <a:endParaRPr kumimoji="1" lang="en-US" altLang="ja-JP" sz="900" dirty="0" smtClean="0"/>
          </a:p>
          <a:p>
            <a:pPr algn="ctr"/>
            <a:r>
              <a:rPr kumimoji="1" lang="en-US" altLang="ja-JP" sz="900" dirty="0" smtClean="0"/>
              <a:t>&lt;Application Server&gt;</a:t>
            </a:r>
          </a:p>
          <a:p>
            <a:pPr algn="ctr"/>
            <a:r>
              <a:rPr kumimoji="1" lang="en-US" altLang="ja-JP" dirty="0" smtClean="0"/>
              <a:t>Servlet</a:t>
            </a:r>
          </a:p>
          <a:p>
            <a:pPr algn="ctr"/>
            <a:r>
              <a:rPr lang="en-US" altLang="ja-JP" dirty="0"/>
              <a:t>Container</a:t>
            </a:r>
            <a:endParaRPr kumimoji="1" lang="ja-JP" altLang="en-US" dirty="0"/>
          </a:p>
        </p:txBody>
      </p:sp>
      <p:sp>
        <p:nvSpPr>
          <p:cNvPr id="45" name="角丸四角形 44"/>
          <p:cNvSpPr/>
          <p:nvPr/>
        </p:nvSpPr>
        <p:spPr>
          <a:xfrm>
            <a:off x="6259723" y="1231259"/>
            <a:ext cx="1853887" cy="3037487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 anchorCtr="1"/>
          <a:lstStyle/>
          <a:p>
            <a:pPr algn="ctr"/>
            <a:r>
              <a:rPr lang="en-US" altLang="ja-JP" b="1" dirty="0" smtClean="0">
                <a:solidFill>
                  <a:schemeClr val="accent1"/>
                </a:solidFill>
              </a:rPr>
              <a:t>Application</a:t>
            </a:r>
            <a:r>
              <a:rPr kumimoji="1" lang="en-US" altLang="ja-JP" b="1" dirty="0" smtClean="0">
                <a:solidFill>
                  <a:schemeClr val="accent1"/>
                </a:solidFill>
              </a:rPr>
              <a:t> Layer</a:t>
            </a:r>
            <a:endParaRPr kumimoji="1" lang="ja-JP" altLang="en-US" b="1" dirty="0">
              <a:solidFill>
                <a:schemeClr val="accent1"/>
              </a:solidFill>
            </a:endParaRPr>
          </a:p>
        </p:txBody>
      </p:sp>
      <p:sp>
        <p:nvSpPr>
          <p:cNvPr id="48" name="角丸四角形 47"/>
          <p:cNvSpPr/>
          <p:nvPr/>
        </p:nvSpPr>
        <p:spPr>
          <a:xfrm>
            <a:off x="6466667" y="2010468"/>
            <a:ext cx="1440000" cy="1846739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kumimoji="1" lang="en-US" altLang="ja-JP" sz="1600" dirty="0" smtClean="0"/>
              <a:t>Controller</a:t>
            </a:r>
            <a:endParaRPr kumimoji="1" lang="ja-JP" altLang="en-US" sz="1600" dirty="0"/>
          </a:p>
        </p:txBody>
      </p:sp>
      <p:sp>
        <p:nvSpPr>
          <p:cNvPr id="49" name="角丸四角形 48"/>
          <p:cNvSpPr/>
          <p:nvPr/>
        </p:nvSpPr>
        <p:spPr>
          <a:xfrm>
            <a:off x="3118059" y="950601"/>
            <a:ext cx="2700077" cy="5097755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 anchorCtr="1"/>
          <a:lstStyle/>
          <a:p>
            <a:pPr algn="ctr"/>
            <a:r>
              <a:rPr kumimoji="1" lang="en-US" altLang="ja-JP" dirty="0" smtClean="0"/>
              <a:t>Framework Layer</a:t>
            </a:r>
          </a:p>
          <a:p>
            <a:pPr algn="ctr"/>
            <a:r>
              <a:rPr kumimoji="1" lang="en-US" altLang="ja-JP" dirty="0" smtClean="0"/>
              <a:t>&lt;Spring MVC&gt;</a:t>
            </a:r>
            <a:endParaRPr kumimoji="1" lang="ja-JP" altLang="en-US" dirty="0"/>
          </a:p>
        </p:txBody>
      </p:sp>
      <p:sp>
        <p:nvSpPr>
          <p:cNvPr id="51" name="角丸四角形 50"/>
          <p:cNvSpPr/>
          <p:nvPr/>
        </p:nvSpPr>
        <p:spPr>
          <a:xfrm>
            <a:off x="3619173" y="1813507"/>
            <a:ext cx="1440000" cy="667225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altLang="ja-JP" sz="1600" dirty="0"/>
              <a:t>Dispatcher</a:t>
            </a:r>
          </a:p>
          <a:p>
            <a:pPr algn="ctr"/>
            <a:r>
              <a:rPr lang="en-US" altLang="ja-JP" sz="1600" dirty="0"/>
              <a:t>Servlet</a:t>
            </a:r>
            <a:endParaRPr lang="ja-JP" altLang="en-US" sz="1600" dirty="0"/>
          </a:p>
        </p:txBody>
      </p:sp>
      <p:sp>
        <p:nvSpPr>
          <p:cNvPr id="52" name="角丸四角形 51"/>
          <p:cNvSpPr/>
          <p:nvPr/>
        </p:nvSpPr>
        <p:spPr>
          <a:xfrm>
            <a:off x="3619171" y="3147186"/>
            <a:ext cx="1440002" cy="1021977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altLang="ja-JP" sz="1100" dirty="0" smtClean="0"/>
              <a:t>&lt;interface&gt;</a:t>
            </a:r>
          </a:p>
          <a:p>
            <a:pPr algn="ctr"/>
            <a:r>
              <a:rPr lang="en-US" altLang="ja-JP" sz="1600" dirty="0" smtClean="0"/>
              <a:t>Handler</a:t>
            </a:r>
          </a:p>
          <a:p>
            <a:pPr algn="ctr"/>
            <a:r>
              <a:rPr lang="en-US" altLang="ja-JP" sz="1600" dirty="0" smtClean="0"/>
              <a:t>Exception</a:t>
            </a:r>
          </a:p>
          <a:p>
            <a:pPr algn="ctr"/>
            <a:r>
              <a:rPr lang="en-US" altLang="ja-JP" sz="1600" dirty="0" smtClean="0"/>
              <a:t>Resolver</a:t>
            </a:r>
            <a:endParaRPr lang="ja-JP" altLang="en-US" sz="1600" dirty="0"/>
          </a:p>
        </p:txBody>
      </p:sp>
      <p:sp>
        <p:nvSpPr>
          <p:cNvPr id="57" name="フローチャート : 他ページ結合子 56"/>
          <p:cNvSpPr/>
          <p:nvPr/>
        </p:nvSpPr>
        <p:spPr>
          <a:xfrm>
            <a:off x="1653918" y="3203172"/>
            <a:ext cx="622705" cy="360951"/>
          </a:xfrm>
          <a:prstGeom prst="flowChartOffpageConnector">
            <a:avLst/>
          </a:prstGeom>
          <a:gradFill>
            <a:gsLst>
              <a:gs pos="54000">
                <a:srgbClr val="FFC000"/>
              </a:gs>
              <a:gs pos="0">
                <a:srgbClr val="FFFF00"/>
              </a:gs>
              <a:gs pos="100000">
                <a:srgbClr val="FFC000"/>
              </a:gs>
            </a:gsLst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66" name="フローチャート : 他ページ結合子 65"/>
          <p:cNvSpPr/>
          <p:nvPr/>
        </p:nvSpPr>
        <p:spPr>
          <a:xfrm>
            <a:off x="6848943" y="2540801"/>
            <a:ext cx="709351" cy="324593"/>
          </a:xfrm>
          <a:prstGeom prst="flowChartOffpageConnector">
            <a:avLst/>
          </a:prstGeom>
          <a:gradFill>
            <a:gsLst>
              <a:gs pos="54000">
                <a:srgbClr val="FFC000"/>
              </a:gs>
              <a:gs pos="0">
                <a:srgbClr val="FFFF00"/>
              </a:gs>
              <a:gs pos="100000">
                <a:srgbClr val="FFC000"/>
              </a:gs>
            </a:gsLst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71" name="フローチャート : 他ページ結合子 70"/>
          <p:cNvSpPr/>
          <p:nvPr/>
        </p:nvSpPr>
        <p:spPr>
          <a:xfrm>
            <a:off x="6867337" y="3147186"/>
            <a:ext cx="663770" cy="330715"/>
          </a:xfrm>
          <a:prstGeom prst="flowChartOffpageConnector">
            <a:avLst/>
          </a:prstGeom>
          <a:gradFill>
            <a:gsLst>
              <a:gs pos="54000">
                <a:srgbClr val="FFC000"/>
              </a:gs>
              <a:gs pos="0">
                <a:srgbClr val="FFFF00"/>
              </a:gs>
              <a:gs pos="100000">
                <a:srgbClr val="FFC000"/>
              </a:gs>
            </a:gsLst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80" name="フローチャート : 他ページ結合子 79"/>
          <p:cNvSpPr/>
          <p:nvPr/>
        </p:nvSpPr>
        <p:spPr>
          <a:xfrm>
            <a:off x="4003936" y="2921380"/>
            <a:ext cx="695960" cy="304977"/>
          </a:xfrm>
          <a:prstGeom prst="flowChartOffpageConnector">
            <a:avLst/>
          </a:prstGeom>
          <a:gradFill>
            <a:gsLst>
              <a:gs pos="54000">
                <a:srgbClr val="FFC000"/>
              </a:gs>
              <a:gs pos="0">
                <a:srgbClr val="FFFF00"/>
              </a:gs>
              <a:gs pos="100000">
                <a:srgbClr val="FFC000"/>
              </a:gs>
            </a:gsLst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84" name="線吹き出し 2 (枠付き) 83"/>
          <p:cNvSpPr/>
          <p:nvPr/>
        </p:nvSpPr>
        <p:spPr>
          <a:xfrm>
            <a:off x="905304" y="3759035"/>
            <a:ext cx="2300230" cy="1579822"/>
          </a:xfrm>
          <a:prstGeom prst="borderCallout2">
            <a:avLst>
              <a:gd name="adj1" fmla="val -2237"/>
              <a:gd name="adj2" fmla="val 74191"/>
              <a:gd name="adj3" fmla="val -24130"/>
              <a:gd name="adj4" fmla="val 65949"/>
              <a:gd name="adj5" fmla="val -23687"/>
              <a:gd name="adj6" fmla="val 43890"/>
            </a:avLst>
          </a:prstGeom>
          <a:ln/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US" altLang="ja-JP" sz="3200" b="1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4</a:t>
            </a:r>
          </a:p>
          <a:p>
            <a:endParaRPr lang="en-US" altLang="ja-JP" sz="1200" b="1" dirty="0">
              <a:solidFill>
                <a:schemeClr val="tx1"/>
              </a:solidFill>
            </a:endParaRPr>
          </a:p>
          <a:p>
            <a:r>
              <a:rPr lang="en-US" altLang="ja-JP" sz="1200" b="1" dirty="0">
                <a:solidFill>
                  <a:schemeClr val="tx1"/>
                </a:solidFill>
              </a:rPr>
              <a:t>&lt;error-page&gt;</a:t>
            </a:r>
          </a:p>
          <a:p>
            <a:r>
              <a:rPr lang="en-US" altLang="ja-JP" sz="1000" b="1" dirty="0" smtClean="0">
                <a:solidFill>
                  <a:schemeClr val="tx1"/>
                </a:solidFill>
              </a:rPr>
              <a:t>   </a:t>
            </a:r>
            <a:r>
              <a:rPr lang="en-US" altLang="ja-JP" sz="1000" dirty="0" smtClean="0">
                <a:solidFill>
                  <a:schemeClr val="tx1"/>
                </a:solidFill>
              </a:rPr>
              <a:t>&lt;!– </a:t>
            </a:r>
            <a:r>
              <a:rPr lang="en-US" altLang="ja-JP" sz="1000" dirty="0">
                <a:solidFill>
                  <a:schemeClr val="tx1"/>
                </a:solidFill>
              </a:rPr>
              <a:t>define exception handling rule.  --&gt;</a:t>
            </a:r>
          </a:p>
          <a:p>
            <a:r>
              <a:rPr lang="en-US" altLang="ja-JP" sz="1200" b="1" dirty="0" smtClean="0">
                <a:solidFill>
                  <a:schemeClr val="tx1"/>
                </a:solidFill>
              </a:rPr>
              <a:t>&lt;/</a:t>
            </a:r>
            <a:r>
              <a:rPr lang="en-US" altLang="ja-JP" sz="1200" b="1" dirty="0">
                <a:solidFill>
                  <a:schemeClr val="tx1"/>
                </a:solidFill>
              </a:rPr>
              <a:t>error-page&gt;</a:t>
            </a:r>
          </a:p>
          <a:p>
            <a:endParaRPr lang="en-US" altLang="ja-JP" sz="1200" b="1" dirty="0">
              <a:solidFill>
                <a:schemeClr val="tx1"/>
              </a:solidFill>
            </a:endParaRPr>
          </a:p>
        </p:txBody>
      </p:sp>
      <p:sp>
        <p:nvSpPr>
          <p:cNvPr id="85" name="フローチャート : 書類 84"/>
          <p:cNvSpPr/>
          <p:nvPr/>
        </p:nvSpPr>
        <p:spPr>
          <a:xfrm>
            <a:off x="2332610" y="3778637"/>
            <a:ext cx="850837" cy="577751"/>
          </a:xfrm>
          <a:prstGeom prst="flowChartDocumen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t" anchorCtr="0"/>
          <a:lstStyle/>
          <a:p>
            <a:pPr algn="ctr"/>
            <a:r>
              <a:rPr lang="en-US" altLang="ja-JP" sz="1400" dirty="0" smtClean="0"/>
              <a:t>w</a:t>
            </a:r>
            <a:r>
              <a:rPr kumimoji="1" lang="en-US" altLang="ja-JP" sz="1400" dirty="0" smtClean="0"/>
              <a:t>eb.xml</a:t>
            </a:r>
          </a:p>
          <a:p>
            <a:pPr algn="ctr"/>
            <a:endParaRPr lang="en-US" altLang="ja-JP" sz="900" dirty="0"/>
          </a:p>
        </p:txBody>
      </p:sp>
      <p:cxnSp>
        <p:nvCxnSpPr>
          <p:cNvPr id="4" name="直線矢印コネクタ 3"/>
          <p:cNvCxnSpPr>
            <a:stCxn id="51" idx="2"/>
            <a:endCxn id="80" idx="0"/>
          </p:cNvCxnSpPr>
          <p:nvPr/>
        </p:nvCxnSpPr>
        <p:spPr>
          <a:xfrm rot="16200000" flipH="1">
            <a:off x="4125220" y="2694684"/>
            <a:ext cx="440648" cy="12743"/>
          </a:xfrm>
          <a:prstGeom prst="straightConnector1">
            <a:avLst/>
          </a:prstGeom>
          <a:ln>
            <a:prstDash val="solid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6" name="線吹き出し 2 (枠付き) 85"/>
          <p:cNvSpPr/>
          <p:nvPr/>
        </p:nvSpPr>
        <p:spPr>
          <a:xfrm>
            <a:off x="5928600" y="5213481"/>
            <a:ext cx="3956136" cy="1559869"/>
          </a:xfrm>
          <a:prstGeom prst="borderCallout2">
            <a:avLst>
              <a:gd name="adj1" fmla="val -6793"/>
              <a:gd name="adj2" fmla="val 4066"/>
              <a:gd name="adj3" fmla="val -137879"/>
              <a:gd name="adj4" fmla="val -11827"/>
              <a:gd name="adj5" fmla="val -138038"/>
              <a:gd name="adj6" fmla="val -38470"/>
            </a:avLst>
          </a:prstGeom>
          <a:ln/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US" altLang="ja-JP" sz="3200" b="1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3</a:t>
            </a:r>
          </a:p>
          <a:p>
            <a:r>
              <a:rPr lang="en-US" altLang="ja-JP" sz="1200" b="1" dirty="0">
                <a:solidFill>
                  <a:schemeClr val="tx1"/>
                </a:solidFill>
              </a:rPr>
              <a:t>&lt;</a:t>
            </a:r>
            <a:r>
              <a:rPr lang="en-US" altLang="ja-JP" sz="1200" b="1" dirty="0" smtClean="0">
                <a:solidFill>
                  <a:schemeClr val="tx1"/>
                </a:solidFill>
              </a:rPr>
              <a:t>mvc:annotation-driven</a:t>
            </a:r>
            <a:r>
              <a:rPr lang="ja-JP" altLang="en-US" sz="1200" b="1" dirty="0" smtClean="0">
                <a:solidFill>
                  <a:schemeClr val="tx1"/>
                </a:solidFill>
              </a:rPr>
              <a:t> </a:t>
            </a:r>
            <a:r>
              <a:rPr lang="en-US" altLang="ja-JP" sz="1200" b="1" dirty="0" smtClean="0">
                <a:solidFill>
                  <a:schemeClr val="tx1"/>
                </a:solidFill>
              </a:rPr>
              <a:t>/&gt;</a:t>
            </a:r>
          </a:p>
          <a:p>
            <a:endParaRPr lang="en-US" altLang="ja-JP" sz="1200" b="1" dirty="0" smtClean="0">
              <a:solidFill>
                <a:schemeClr val="tx1"/>
              </a:solidFill>
            </a:endParaRPr>
          </a:p>
          <a:p>
            <a:r>
              <a:rPr lang="en-US" altLang="ja-JP" sz="1200" b="1" dirty="0">
                <a:solidFill>
                  <a:schemeClr val="tx1"/>
                </a:solidFill>
              </a:rPr>
              <a:t>&lt;bean class</a:t>
            </a:r>
            <a:r>
              <a:rPr lang="en-US" altLang="ja-JP" sz="1200" b="1" dirty="0" smtClean="0">
                <a:solidFill>
                  <a:schemeClr val="tx1"/>
                </a:solidFill>
              </a:rPr>
              <a:t>=“org.terasoluna…SystemExceptionResolver"&gt;</a:t>
            </a:r>
          </a:p>
          <a:p>
            <a:r>
              <a:rPr lang="en-US" altLang="ja-JP" sz="1200" b="1" dirty="0" smtClean="0">
                <a:solidFill>
                  <a:schemeClr val="tx1"/>
                </a:solidFill>
              </a:rPr>
              <a:t>    </a:t>
            </a:r>
            <a:r>
              <a:rPr lang="en-US" altLang="ja-JP" sz="1200" dirty="0" smtClean="0">
                <a:solidFill>
                  <a:schemeClr val="tx1"/>
                </a:solidFill>
              </a:rPr>
              <a:t>&lt;!– define exception handling rule.  --&gt;</a:t>
            </a:r>
          </a:p>
          <a:p>
            <a:r>
              <a:rPr lang="en-US" altLang="ja-JP" sz="1200" b="1" dirty="0" smtClean="0">
                <a:solidFill>
                  <a:schemeClr val="tx1"/>
                </a:solidFill>
              </a:rPr>
              <a:t>&lt;/bean&gt;</a:t>
            </a:r>
          </a:p>
          <a:p>
            <a:endParaRPr lang="en-US" altLang="ja-JP" sz="1200" b="1" dirty="0">
              <a:solidFill>
                <a:schemeClr val="tx1"/>
              </a:solidFill>
            </a:endParaRPr>
          </a:p>
        </p:txBody>
      </p:sp>
      <p:sp>
        <p:nvSpPr>
          <p:cNvPr id="88" name="角丸四角形 87"/>
          <p:cNvSpPr/>
          <p:nvPr/>
        </p:nvSpPr>
        <p:spPr>
          <a:xfrm>
            <a:off x="4715690" y="4884245"/>
            <a:ext cx="596894" cy="334339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ja-JP" altLang="en-US" sz="1600" dirty="0"/>
          </a:p>
        </p:txBody>
      </p:sp>
      <p:sp>
        <p:nvSpPr>
          <p:cNvPr id="89" name="角丸四角形 88"/>
          <p:cNvSpPr/>
          <p:nvPr/>
        </p:nvSpPr>
        <p:spPr>
          <a:xfrm>
            <a:off x="4825417" y="5004518"/>
            <a:ext cx="596894" cy="334339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ja-JP" altLang="en-US" sz="1600" dirty="0"/>
          </a:p>
        </p:txBody>
      </p:sp>
      <p:sp>
        <p:nvSpPr>
          <p:cNvPr id="93" name="角丸四角形 92"/>
          <p:cNvSpPr/>
          <p:nvPr/>
        </p:nvSpPr>
        <p:spPr>
          <a:xfrm>
            <a:off x="4964870" y="5154082"/>
            <a:ext cx="596894" cy="334339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ja-JP" altLang="en-US" sz="1600" dirty="0"/>
          </a:p>
        </p:txBody>
      </p:sp>
      <p:sp>
        <p:nvSpPr>
          <p:cNvPr id="94" name="角丸四角形 93"/>
          <p:cNvSpPr/>
          <p:nvPr/>
        </p:nvSpPr>
        <p:spPr>
          <a:xfrm>
            <a:off x="3237959" y="4689536"/>
            <a:ext cx="1214700" cy="1056668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altLang="ja-JP" sz="1600" dirty="0" smtClean="0"/>
              <a:t>System</a:t>
            </a:r>
          </a:p>
          <a:p>
            <a:pPr algn="ctr"/>
            <a:r>
              <a:rPr lang="en-US" altLang="ja-JP" sz="1600" dirty="0" smtClean="0"/>
              <a:t>Exception</a:t>
            </a:r>
            <a:endParaRPr lang="en-US" altLang="ja-JP" sz="1600" dirty="0"/>
          </a:p>
          <a:p>
            <a:pPr algn="ctr"/>
            <a:r>
              <a:rPr lang="en-US" altLang="ja-JP" sz="1600" dirty="0"/>
              <a:t>Resolver</a:t>
            </a:r>
            <a:endParaRPr lang="ja-JP" altLang="en-US" sz="1600" dirty="0"/>
          </a:p>
          <a:p>
            <a:pPr algn="ctr"/>
            <a:endParaRPr lang="ja-JP" altLang="en-US" sz="1600" dirty="0"/>
          </a:p>
        </p:txBody>
      </p:sp>
      <p:sp>
        <p:nvSpPr>
          <p:cNvPr id="95" name="フローチャート : 書類 94"/>
          <p:cNvSpPr/>
          <p:nvPr/>
        </p:nvSpPr>
        <p:spPr>
          <a:xfrm>
            <a:off x="9046655" y="5234256"/>
            <a:ext cx="819975" cy="665248"/>
          </a:xfrm>
          <a:prstGeom prst="flowChartDocumen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t" anchorCtr="0"/>
          <a:lstStyle/>
          <a:p>
            <a:pPr algn="ctr"/>
            <a:r>
              <a:rPr lang="en-US" altLang="ja-JP" sz="1200" dirty="0"/>
              <a:t>spring-mvc.xml</a:t>
            </a:r>
          </a:p>
        </p:txBody>
      </p:sp>
      <p:cxnSp>
        <p:nvCxnSpPr>
          <p:cNvPr id="96" name="直線矢印コネクタ 95"/>
          <p:cNvCxnSpPr>
            <a:stCxn id="94" idx="0"/>
            <a:endCxn id="52" idx="2"/>
          </p:cNvCxnSpPr>
          <p:nvPr/>
        </p:nvCxnSpPr>
        <p:spPr>
          <a:xfrm flipV="1">
            <a:off x="3845309" y="4169163"/>
            <a:ext cx="493863" cy="520373"/>
          </a:xfrm>
          <a:prstGeom prst="straightConnector1">
            <a:avLst/>
          </a:prstGeom>
          <a:ln>
            <a:prstDash val="dash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直線矢印コネクタ 96"/>
          <p:cNvCxnSpPr>
            <a:stCxn id="88" idx="0"/>
            <a:endCxn id="52" idx="2"/>
          </p:cNvCxnSpPr>
          <p:nvPr/>
        </p:nvCxnSpPr>
        <p:spPr>
          <a:xfrm flipH="1" flipV="1">
            <a:off x="4339172" y="4169163"/>
            <a:ext cx="674965" cy="715082"/>
          </a:xfrm>
          <a:prstGeom prst="straightConnector1">
            <a:avLst/>
          </a:prstGeom>
          <a:ln>
            <a:prstDash val="dash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9" name="角丸四角形 98"/>
          <p:cNvSpPr/>
          <p:nvPr/>
        </p:nvSpPr>
        <p:spPr>
          <a:xfrm>
            <a:off x="4547807" y="4584048"/>
            <a:ext cx="1077674" cy="1162156"/>
          </a:xfrm>
          <a:prstGeom prst="roundRect">
            <a:avLst/>
          </a:prstGeom>
          <a:noFill/>
          <a:ln w="12700">
            <a:solidFill>
              <a:schemeClr val="tx1"/>
            </a:solidFill>
            <a:prstDash val="lg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17" name="テキスト ボックス 16"/>
          <p:cNvSpPr txBox="1"/>
          <p:nvPr/>
        </p:nvSpPr>
        <p:spPr>
          <a:xfrm>
            <a:off x="4880959" y="458184"/>
            <a:ext cx="19866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dirty="0"/>
              <a:t>Web </a:t>
            </a:r>
            <a:r>
              <a:rPr lang="en-US" altLang="ja-JP" dirty="0" smtClean="0"/>
              <a:t>Application</a:t>
            </a:r>
            <a:endParaRPr lang="ja-JP" altLang="en-US" dirty="0"/>
          </a:p>
        </p:txBody>
      </p:sp>
      <p:sp>
        <p:nvSpPr>
          <p:cNvPr id="32" name="線吹き出し 2 (枠付き) 31"/>
          <p:cNvSpPr/>
          <p:nvPr/>
        </p:nvSpPr>
        <p:spPr>
          <a:xfrm>
            <a:off x="7809216" y="959655"/>
            <a:ext cx="2057414" cy="1637132"/>
          </a:xfrm>
          <a:prstGeom prst="borderCallout2">
            <a:avLst>
              <a:gd name="adj1" fmla="val 88156"/>
              <a:gd name="adj2" fmla="val -2184"/>
              <a:gd name="adj3" fmla="val 105354"/>
              <a:gd name="adj4" fmla="val -13387"/>
              <a:gd name="adj5" fmla="val 105794"/>
              <a:gd name="adj6" fmla="val -28226"/>
            </a:avLst>
          </a:prstGeom>
          <a:ln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US" altLang="ja-JP" sz="3200" b="1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1</a:t>
            </a:r>
          </a:p>
          <a:p>
            <a:endParaRPr lang="en-US" altLang="ja-JP" sz="1200" b="1" dirty="0">
              <a:solidFill>
                <a:schemeClr val="tx1"/>
              </a:solidFill>
            </a:endParaRPr>
          </a:p>
          <a:p>
            <a:r>
              <a:rPr lang="en-US" altLang="ja-JP" sz="1200" b="1" dirty="0">
                <a:solidFill>
                  <a:schemeClr val="tx1"/>
                </a:solidFill>
              </a:rPr>
              <a:t>try {</a:t>
            </a:r>
          </a:p>
          <a:p>
            <a:r>
              <a:rPr lang="en-US" altLang="ja-JP" sz="1200" dirty="0">
                <a:solidFill>
                  <a:schemeClr val="tx1"/>
                </a:solidFill>
              </a:rPr>
              <a:t>    </a:t>
            </a:r>
            <a:r>
              <a:rPr lang="en-US" altLang="ja-JP" sz="1200" dirty="0" smtClean="0">
                <a:solidFill>
                  <a:schemeClr val="tx1"/>
                </a:solidFill>
              </a:rPr>
              <a:t>service.xxxx</a:t>
            </a:r>
            <a:r>
              <a:rPr lang="en-US" altLang="ja-JP" sz="1200" dirty="0">
                <a:solidFill>
                  <a:schemeClr val="tx1"/>
                </a:solidFill>
              </a:rPr>
              <a:t>(…);</a:t>
            </a:r>
          </a:p>
          <a:p>
            <a:r>
              <a:rPr lang="en-US" altLang="ja-JP" sz="1200" b="1" dirty="0">
                <a:solidFill>
                  <a:schemeClr val="tx1"/>
                </a:solidFill>
              </a:rPr>
              <a:t>} </a:t>
            </a:r>
            <a:r>
              <a:rPr lang="en-US" altLang="ja-JP" sz="1200" b="1" dirty="0" smtClean="0">
                <a:solidFill>
                  <a:schemeClr val="tx1"/>
                </a:solidFill>
              </a:rPr>
              <a:t>catch(XxxxException </a:t>
            </a:r>
            <a:r>
              <a:rPr lang="en-US" altLang="ja-JP" sz="1200" b="1" dirty="0">
                <a:solidFill>
                  <a:schemeClr val="tx1"/>
                </a:solidFill>
              </a:rPr>
              <a:t>e) {</a:t>
            </a:r>
          </a:p>
          <a:p>
            <a:r>
              <a:rPr lang="en-US" altLang="ja-JP" sz="1200" dirty="0">
                <a:solidFill>
                  <a:schemeClr val="tx1"/>
                </a:solidFill>
              </a:rPr>
              <a:t>    // do exception handling.</a:t>
            </a:r>
          </a:p>
          <a:p>
            <a:r>
              <a:rPr lang="en-US" altLang="ja-JP" sz="1200" b="1" dirty="0">
                <a:solidFill>
                  <a:schemeClr val="tx1"/>
                </a:solidFill>
              </a:rPr>
              <a:t>}</a:t>
            </a:r>
            <a:endParaRPr lang="ja-JP" altLang="en-US" sz="1200" b="1" dirty="0">
              <a:solidFill>
                <a:schemeClr val="tx1"/>
              </a:solidFill>
            </a:endParaRPr>
          </a:p>
          <a:p>
            <a:pPr algn="ctr"/>
            <a:endParaRPr kumimoji="1" lang="ja-JP" altLang="en-US" sz="1200" dirty="0"/>
          </a:p>
        </p:txBody>
      </p:sp>
      <p:sp>
        <p:nvSpPr>
          <p:cNvPr id="33" name="線吹き出し 2 (枠付き) 32"/>
          <p:cNvSpPr/>
          <p:nvPr/>
        </p:nvSpPr>
        <p:spPr>
          <a:xfrm>
            <a:off x="7038474" y="3562256"/>
            <a:ext cx="2846262" cy="1442849"/>
          </a:xfrm>
          <a:prstGeom prst="borderCallout2">
            <a:avLst>
              <a:gd name="adj1" fmla="val -5052"/>
              <a:gd name="adj2" fmla="val 28368"/>
              <a:gd name="adj3" fmla="val -17303"/>
              <a:gd name="adj4" fmla="val 16410"/>
              <a:gd name="adj5" fmla="val -16910"/>
              <a:gd name="adj6" fmla="val 5073"/>
            </a:avLst>
          </a:prstGeom>
          <a:ln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US" altLang="ja-JP" sz="3200" b="1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2</a:t>
            </a:r>
          </a:p>
          <a:p>
            <a:r>
              <a:rPr lang="en-US" altLang="ja-JP" sz="1200" b="1" dirty="0" smtClean="0">
                <a:solidFill>
                  <a:schemeClr val="tx1"/>
                </a:solidFill>
              </a:rPr>
              <a:t>@ExceptionHandler(XxxException.class)</a:t>
            </a:r>
            <a:endParaRPr lang="en-US" altLang="ja-JP" sz="1200" b="1" dirty="0">
              <a:solidFill>
                <a:schemeClr val="tx1"/>
              </a:solidFill>
            </a:endParaRPr>
          </a:p>
          <a:p>
            <a:r>
              <a:rPr lang="en-US" altLang="ja-JP" sz="1200" b="1" dirty="0">
                <a:solidFill>
                  <a:schemeClr val="tx1"/>
                </a:solidFill>
              </a:rPr>
              <a:t>p</a:t>
            </a:r>
            <a:r>
              <a:rPr lang="en-US" altLang="ja-JP" sz="1200" b="1" dirty="0" smtClean="0">
                <a:solidFill>
                  <a:schemeClr val="tx1"/>
                </a:solidFill>
              </a:rPr>
              <a:t>ublic String handleXxxException(…) {</a:t>
            </a:r>
          </a:p>
          <a:p>
            <a:r>
              <a:rPr lang="en-US" altLang="ja-JP" sz="1200" dirty="0" smtClean="0">
                <a:solidFill>
                  <a:schemeClr val="tx1"/>
                </a:solidFill>
              </a:rPr>
              <a:t>    // </a:t>
            </a:r>
            <a:r>
              <a:rPr lang="en-US" altLang="ja-JP" sz="1200" dirty="0">
                <a:solidFill>
                  <a:schemeClr val="tx1"/>
                </a:solidFill>
              </a:rPr>
              <a:t>do exception handling</a:t>
            </a:r>
            <a:r>
              <a:rPr lang="en-US" altLang="ja-JP" sz="1200" dirty="0" smtClean="0">
                <a:solidFill>
                  <a:schemeClr val="tx1"/>
                </a:solidFill>
              </a:rPr>
              <a:t>.</a:t>
            </a:r>
          </a:p>
          <a:p>
            <a:r>
              <a:rPr lang="en-US" altLang="ja-JP" sz="1200" b="1" dirty="0">
                <a:solidFill>
                  <a:schemeClr val="tx1"/>
                </a:solidFill>
              </a:rPr>
              <a:t>}</a:t>
            </a:r>
            <a:endParaRPr lang="en-US" altLang="ja-JP" sz="1200" b="1" dirty="0" smtClean="0">
              <a:solidFill>
                <a:schemeClr val="tx1"/>
              </a:solidFill>
            </a:endParaRPr>
          </a:p>
        </p:txBody>
      </p:sp>
      <p:cxnSp>
        <p:nvCxnSpPr>
          <p:cNvPr id="36" name="直線矢印コネクタ 13"/>
          <p:cNvCxnSpPr/>
          <p:nvPr/>
        </p:nvCxnSpPr>
        <p:spPr>
          <a:xfrm>
            <a:off x="762467" y="1138257"/>
            <a:ext cx="594295" cy="0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prstDash val="dash"/>
            <a:headEnd type="arrow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直線矢印コネクタ 13"/>
          <p:cNvCxnSpPr/>
          <p:nvPr/>
        </p:nvCxnSpPr>
        <p:spPr>
          <a:xfrm flipV="1">
            <a:off x="762467" y="859087"/>
            <a:ext cx="612330" cy="1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headEnd type="none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8" name="Picture 4" descr="PC関連機器のイラストカット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-318619" y="591565"/>
            <a:ext cx="1003607" cy="796195"/>
          </a:xfrm>
          <a:prstGeom prst="rect">
            <a:avLst/>
          </a:prstGeom>
          <a:noFill/>
        </p:spPr>
      </p:pic>
      <p:sp>
        <p:nvSpPr>
          <p:cNvPr id="39" name="テキスト ボックス 38"/>
          <p:cNvSpPr txBox="1"/>
          <p:nvPr/>
        </p:nvSpPr>
        <p:spPr>
          <a:xfrm>
            <a:off x="688704" y="458184"/>
            <a:ext cx="69643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1100" dirty="0" smtClean="0"/>
              <a:t>request</a:t>
            </a:r>
          </a:p>
        </p:txBody>
      </p:sp>
      <p:sp>
        <p:nvSpPr>
          <p:cNvPr id="40" name="テキスト ボックス 39"/>
          <p:cNvSpPr txBox="1"/>
          <p:nvPr/>
        </p:nvSpPr>
        <p:spPr>
          <a:xfrm>
            <a:off x="688704" y="1258067"/>
            <a:ext cx="76226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1100" dirty="0" smtClean="0"/>
              <a:t>response</a:t>
            </a:r>
          </a:p>
        </p:txBody>
      </p:sp>
    </p:spTree>
    <p:extLst>
      <p:ext uri="{BB962C8B-B14F-4D97-AF65-F5344CB8AC3E}">
        <p14:creationId xmlns:p14="http://schemas.microsoft.com/office/powerpoint/2010/main" val="17034489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正方形/長方形 43"/>
          <p:cNvSpPr/>
          <p:nvPr/>
        </p:nvSpPr>
        <p:spPr>
          <a:xfrm>
            <a:off x="2160504" y="610232"/>
            <a:ext cx="5477426" cy="712451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="horz" rtlCol="0" anchor="t" anchorCtr="0"/>
          <a:lstStyle/>
          <a:p>
            <a:pPr algn="ctr"/>
            <a:r>
              <a:rPr lang="en-US" altLang="ja-JP" sz="1200" b="1" dirty="0"/>
              <a:t>&lt;Application Server&gt;</a:t>
            </a:r>
          </a:p>
          <a:p>
            <a:pPr algn="ctr"/>
            <a:r>
              <a:rPr kumimoji="1" lang="en-US" altLang="ja-JP" sz="1600" dirty="0" smtClean="0"/>
              <a:t>Servlet</a:t>
            </a:r>
          </a:p>
          <a:p>
            <a:pPr algn="ctr"/>
            <a:r>
              <a:rPr lang="en-US" altLang="ja-JP" sz="1600" dirty="0"/>
              <a:t>Container</a:t>
            </a:r>
            <a:endParaRPr kumimoji="1" lang="ja-JP" altLang="en-US" sz="1600" dirty="0"/>
          </a:p>
        </p:txBody>
      </p:sp>
      <p:cxnSp>
        <p:nvCxnSpPr>
          <p:cNvPr id="42" name="直線矢印コネクタ 13"/>
          <p:cNvCxnSpPr/>
          <p:nvPr/>
        </p:nvCxnSpPr>
        <p:spPr>
          <a:xfrm flipV="1">
            <a:off x="1375431" y="812527"/>
            <a:ext cx="612330" cy="1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headEnd type="none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3" name="Picture 4" descr="PC関連機器のイラストカット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18620" y="525807"/>
            <a:ext cx="1187541" cy="942115"/>
          </a:xfrm>
          <a:prstGeom prst="rect">
            <a:avLst/>
          </a:prstGeom>
          <a:noFill/>
        </p:spPr>
      </p:pic>
      <p:sp>
        <p:nvSpPr>
          <p:cNvPr id="46" name="テキスト ボックス 45"/>
          <p:cNvSpPr txBox="1"/>
          <p:nvPr/>
        </p:nvSpPr>
        <p:spPr>
          <a:xfrm>
            <a:off x="1347999" y="386107"/>
            <a:ext cx="69643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1100" dirty="0" smtClean="0"/>
              <a:t>request</a:t>
            </a:r>
          </a:p>
        </p:txBody>
      </p:sp>
      <p:sp>
        <p:nvSpPr>
          <p:cNvPr id="47" name="テキスト ボックス 46"/>
          <p:cNvSpPr txBox="1"/>
          <p:nvPr/>
        </p:nvSpPr>
        <p:spPr>
          <a:xfrm>
            <a:off x="1300454" y="1333571"/>
            <a:ext cx="76226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1100" dirty="0" smtClean="0"/>
              <a:t>response</a:t>
            </a:r>
          </a:p>
        </p:txBody>
      </p:sp>
      <p:sp>
        <p:nvSpPr>
          <p:cNvPr id="51" name="正方形/長方形 50"/>
          <p:cNvSpPr/>
          <p:nvPr/>
        </p:nvSpPr>
        <p:spPr>
          <a:xfrm>
            <a:off x="2191879" y="1622613"/>
            <a:ext cx="5446051" cy="1493921"/>
          </a:xfrm>
          <a:prstGeom prst="rect">
            <a:avLst/>
          </a:prstGeom>
          <a:noFill/>
          <a:ln w="317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kumimoji="1" lang="en-US" altLang="ja-JP" sz="16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&lt;spring </a:t>
            </a:r>
            <a:r>
              <a:rPr lang="en-US" altLang="ja-JP" sz="16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MVC</a:t>
            </a:r>
            <a:r>
              <a:rPr lang="en-US" altLang="ja-JP" sz="16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&gt;</a:t>
            </a:r>
            <a:endParaRPr kumimoji="1" lang="ja-JP" altLang="en-US" sz="16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" name="角丸四角形 2"/>
          <p:cNvSpPr/>
          <p:nvPr/>
        </p:nvSpPr>
        <p:spPr>
          <a:xfrm>
            <a:off x="2616052" y="1963986"/>
            <a:ext cx="1594426" cy="883521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dirty="0" smtClean="0"/>
              <a:t>&lt;framework&gt;</a:t>
            </a:r>
          </a:p>
          <a:p>
            <a:pPr algn="ctr"/>
            <a:r>
              <a:rPr lang="en-US" altLang="ja-JP" dirty="0" smtClean="0"/>
              <a:t>Dispatcher</a:t>
            </a:r>
          </a:p>
          <a:p>
            <a:pPr algn="ctr"/>
            <a:r>
              <a:rPr lang="en-US" altLang="ja-JP" dirty="0" smtClean="0"/>
              <a:t>Servlet</a:t>
            </a:r>
            <a:endParaRPr kumimoji="1" lang="ja-JP" altLang="en-US" dirty="0"/>
          </a:p>
        </p:txBody>
      </p:sp>
      <p:sp>
        <p:nvSpPr>
          <p:cNvPr id="37" name="角丸四角形 36"/>
          <p:cNvSpPr/>
          <p:nvPr/>
        </p:nvSpPr>
        <p:spPr>
          <a:xfrm>
            <a:off x="5118274" y="3542064"/>
            <a:ext cx="1945975" cy="1675370"/>
          </a:xfrm>
          <a:prstGeom prst="round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b" anchorCtr="1"/>
          <a:lstStyle/>
          <a:p>
            <a:pPr algn="ctr"/>
            <a:r>
              <a:rPr lang="en-US" altLang="ja-JP" sz="1600" b="1" dirty="0" smtClean="0">
                <a:solidFill>
                  <a:schemeClr val="accent3">
                    <a:lumMod val="75000"/>
                  </a:schemeClr>
                </a:solidFill>
              </a:rPr>
              <a:t>Domain</a:t>
            </a:r>
            <a:r>
              <a:rPr kumimoji="1" lang="en-US" altLang="ja-JP" sz="1600" b="1" dirty="0" smtClean="0">
                <a:solidFill>
                  <a:schemeClr val="accent3">
                    <a:lumMod val="75000"/>
                  </a:schemeClr>
                </a:solidFill>
              </a:rPr>
              <a:t> Layer</a:t>
            </a:r>
            <a:endParaRPr kumimoji="1" lang="ja-JP" altLang="en-US" sz="1600" b="1" dirty="0">
              <a:solidFill>
                <a:schemeClr val="accent3">
                  <a:lumMod val="75000"/>
                </a:schemeClr>
              </a:solidFill>
            </a:endParaRPr>
          </a:p>
        </p:txBody>
      </p:sp>
      <p:sp>
        <p:nvSpPr>
          <p:cNvPr id="39" name="角丸四角形 38"/>
          <p:cNvSpPr/>
          <p:nvPr/>
        </p:nvSpPr>
        <p:spPr>
          <a:xfrm>
            <a:off x="5368074" y="2052914"/>
            <a:ext cx="1440000" cy="454339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600" dirty="0" smtClean="0"/>
              <a:t>Controller</a:t>
            </a:r>
            <a:endParaRPr kumimoji="1" lang="ja-JP" altLang="en-US" sz="1600" dirty="0"/>
          </a:p>
        </p:txBody>
      </p:sp>
      <p:sp>
        <p:nvSpPr>
          <p:cNvPr id="45" name="角丸四角形 44"/>
          <p:cNvSpPr/>
          <p:nvPr/>
        </p:nvSpPr>
        <p:spPr>
          <a:xfrm>
            <a:off x="5371261" y="3717646"/>
            <a:ext cx="1440000" cy="360000"/>
          </a:xfrm>
          <a:prstGeom prst="round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600" dirty="0" smtClean="0">
                <a:solidFill>
                  <a:schemeClr val="bg1"/>
                </a:solidFill>
              </a:rPr>
              <a:t>Service</a:t>
            </a:r>
            <a:endParaRPr kumimoji="1" lang="ja-JP" altLang="en-US" sz="1600" dirty="0">
              <a:solidFill>
                <a:schemeClr val="bg1"/>
              </a:solidFill>
            </a:endParaRPr>
          </a:p>
        </p:txBody>
      </p:sp>
      <p:sp>
        <p:nvSpPr>
          <p:cNvPr id="48" name="角丸四角形 47"/>
          <p:cNvSpPr/>
          <p:nvPr/>
        </p:nvSpPr>
        <p:spPr>
          <a:xfrm>
            <a:off x="5371261" y="4334310"/>
            <a:ext cx="1440000" cy="360000"/>
          </a:xfrm>
          <a:prstGeom prst="round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600" dirty="0" smtClean="0">
                <a:solidFill>
                  <a:schemeClr val="bg1"/>
                </a:solidFill>
              </a:rPr>
              <a:t>Repository</a:t>
            </a:r>
            <a:endParaRPr kumimoji="1" lang="ja-JP" altLang="en-US" sz="1600" dirty="0">
              <a:solidFill>
                <a:schemeClr val="bg1"/>
              </a:solidFill>
            </a:endParaRPr>
          </a:p>
        </p:txBody>
      </p:sp>
      <p:cxnSp>
        <p:nvCxnSpPr>
          <p:cNvPr id="56" name="直線矢印コネクタ 13"/>
          <p:cNvCxnSpPr/>
          <p:nvPr/>
        </p:nvCxnSpPr>
        <p:spPr>
          <a:xfrm>
            <a:off x="3656525" y="1359003"/>
            <a:ext cx="2413" cy="604983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headEnd type="none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直線矢印コネクタ 13"/>
          <p:cNvCxnSpPr/>
          <p:nvPr/>
        </p:nvCxnSpPr>
        <p:spPr>
          <a:xfrm flipV="1">
            <a:off x="4219443" y="2203911"/>
            <a:ext cx="1157596" cy="1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headEnd type="none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直線矢印コネクタ 13"/>
          <p:cNvCxnSpPr/>
          <p:nvPr/>
        </p:nvCxnSpPr>
        <p:spPr>
          <a:xfrm rot="16200000" flipH="1">
            <a:off x="5794191" y="3113043"/>
            <a:ext cx="1159243" cy="1594"/>
          </a:xfrm>
          <a:prstGeom prst="bentConnector3">
            <a:avLst>
              <a:gd name="adj1" fmla="val 50000"/>
            </a:avLst>
          </a:prstGeom>
          <a:ln>
            <a:solidFill>
              <a:schemeClr val="tx1">
                <a:lumMod val="50000"/>
                <a:lumOff val="50000"/>
              </a:schemeClr>
            </a:solidFill>
            <a:headEnd type="none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直線矢印コネクタ 13"/>
          <p:cNvCxnSpPr/>
          <p:nvPr/>
        </p:nvCxnSpPr>
        <p:spPr>
          <a:xfrm flipV="1">
            <a:off x="5781370" y="2710726"/>
            <a:ext cx="0" cy="982736"/>
          </a:xfrm>
          <a:prstGeom prst="straightConnector1">
            <a:avLst/>
          </a:prstGeom>
          <a:ln>
            <a:solidFill>
              <a:schemeClr val="tx2">
                <a:lumMod val="60000"/>
                <a:lumOff val="40000"/>
              </a:schemeClr>
            </a:solidFill>
            <a:prstDash val="dash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テキスト ボックス 66"/>
          <p:cNvSpPr txBox="1"/>
          <p:nvPr/>
        </p:nvSpPr>
        <p:spPr>
          <a:xfrm>
            <a:off x="1553931" y="516912"/>
            <a:ext cx="4762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1400" dirty="0"/>
              <a:t>1</a:t>
            </a:r>
            <a:endParaRPr kumimoji="1" lang="en-US" altLang="ja-JP" sz="1400" dirty="0" smtClean="0"/>
          </a:p>
        </p:txBody>
      </p:sp>
      <p:sp>
        <p:nvSpPr>
          <p:cNvPr id="69" name="テキスト ボックス 68"/>
          <p:cNvSpPr txBox="1"/>
          <p:nvPr/>
        </p:nvSpPr>
        <p:spPr>
          <a:xfrm>
            <a:off x="3766547" y="1656209"/>
            <a:ext cx="4762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400" dirty="0" smtClean="0"/>
              <a:t>2</a:t>
            </a:r>
          </a:p>
        </p:txBody>
      </p:sp>
      <p:sp>
        <p:nvSpPr>
          <p:cNvPr id="70" name="テキスト ボックス 69"/>
          <p:cNvSpPr txBox="1"/>
          <p:nvPr/>
        </p:nvSpPr>
        <p:spPr>
          <a:xfrm>
            <a:off x="4532081" y="1874336"/>
            <a:ext cx="4762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400" dirty="0" smtClean="0"/>
              <a:t>3</a:t>
            </a:r>
          </a:p>
        </p:txBody>
      </p:sp>
      <p:sp>
        <p:nvSpPr>
          <p:cNvPr id="71" name="テキスト ボックス 70"/>
          <p:cNvSpPr txBox="1"/>
          <p:nvPr/>
        </p:nvSpPr>
        <p:spPr>
          <a:xfrm>
            <a:off x="6501707" y="2654869"/>
            <a:ext cx="4762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400" dirty="0" smtClean="0"/>
              <a:t>4</a:t>
            </a:r>
          </a:p>
        </p:txBody>
      </p:sp>
      <p:cxnSp>
        <p:nvCxnSpPr>
          <p:cNvPr id="86" name="直線矢印コネクタ 13"/>
          <p:cNvCxnSpPr/>
          <p:nvPr/>
        </p:nvCxnSpPr>
        <p:spPr>
          <a:xfrm flipV="1">
            <a:off x="3202722" y="1357101"/>
            <a:ext cx="0" cy="609621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headEnd type="none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直線矢印コネクタ 13"/>
          <p:cNvCxnSpPr/>
          <p:nvPr/>
        </p:nvCxnSpPr>
        <p:spPr>
          <a:xfrm flipH="1">
            <a:off x="1375431" y="1166457"/>
            <a:ext cx="546259" cy="1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headEnd type="none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3" name="テキスト ボックス 92"/>
          <p:cNvSpPr txBox="1"/>
          <p:nvPr/>
        </p:nvSpPr>
        <p:spPr>
          <a:xfrm>
            <a:off x="4525441" y="2380330"/>
            <a:ext cx="4762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400" dirty="0" smtClean="0"/>
              <a:t>7</a:t>
            </a:r>
          </a:p>
        </p:txBody>
      </p:sp>
      <p:sp>
        <p:nvSpPr>
          <p:cNvPr id="94" name="テキスト ボックス 93"/>
          <p:cNvSpPr txBox="1"/>
          <p:nvPr/>
        </p:nvSpPr>
        <p:spPr>
          <a:xfrm>
            <a:off x="2879995" y="1663813"/>
            <a:ext cx="4762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400" dirty="0" smtClean="0"/>
              <a:t>8</a:t>
            </a:r>
          </a:p>
        </p:txBody>
      </p:sp>
      <p:sp>
        <p:nvSpPr>
          <p:cNvPr id="95" name="テキスト ボックス 94"/>
          <p:cNvSpPr txBox="1"/>
          <p:nvPr/>
        </p:nvSpPr>
        <p:spPr>
          <a:xfrm>
            <a:off x="1539447" y="1177017"/>
            <a:ext cx="4762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1400" dirty="0" smtClean="0"/>
              <a:t>9</a:t>
            </a:r>
            <a:endParaRPr kumimoji="1" lang="en-US" altLang="ja-JP" sz="1400" dirty="0" smtClean="0"/>
          </a:p>
        </p:txBody>
      </p:sp>
      <p:sp>
        <p:nvSpPr>
          <p:cNvPr id="24" name="フローチャート : 他ページ結合子 23"/>
          <p:cNvSpPr/>
          <p:nvPr/>
        </p:nvSpPr>
        <p:spPr>
          <a:xfrm>
            <a:off x="5461016" y="2405746"/>
            <a:ext cx="610600" cy="304977"/>
          </a:xfrm>
          <a:prstGeom prst="flowChartOffpageConnector">
            <a:avLst/>
          </a:prstGeom>
          <a:gradFill>
            <a:gsLst>
              <a:gs pos="54000">
                <a:srgbClr val="FFC000"/>
              </a:gs>
              <a:gs pos="0">
                <a:srgbClr val="FFFF00"/>
              </a:gs>
              <a:gs pos="100000">
                <a:srgbClr val="FFC000"/>
              </a:gs>
            </a:gsLst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cxnSp>
        <p:nvCxnSpPr>
          <p:cNvPr id="50" name="直線矢印コネクタ 13"/>
          <p:cNvCxnSpPr/>
          <p:nvPr/>
        </p:nvCxnSpPr>
        <p:spPr>
          <a:xfrm flipV="1">
            <a:off x="4215902" y="2347347"/>
            <a:ext cx="1157596" cy="1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headEnd type="arrow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線吹き出し 2 (枠付き) 6"/>
          <p:cNvSpPr/>
          <p:nvPr/>
        </p:nvSpPr>
        <p:spPr>
          <a:xfrm>
            <a:off x="6739831" y="734305"/>
            <a:ext cx="2186807" cy="1769704"/>
          </a:xfrm>
          <a:prstGeom prst="borderCallout2">
            <a:avLst>
              <a:gd name="adj1" fmla="val 88156"/>
              <a:gd name="adj2" fmla="val -2184"/>
              <a:gd name="adj3" fmla="val 105354"/>
              <a:gd name="adj4" fmla="val -13387"/>
              <a:gd name="adj5" fmla="val 104734"/>
              <a:gd name="adj6" fmla="val -40272"/>
            </a:avLst>
          </a:prstGeom>
          <a:solidFill>
            <a:schemeClr val="bg1"/>
          </a:solidFill>
          <a:ln w="254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ja-JP" sz="1400" b="1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6</a:t>
            </a:r>
          </a:p>
          <a:p>
            <a:r>
              <a:rPr lang="en-US" altLang="ja-JP" sz="1400" b="1" dirty="0" smtClean="0">
                <a:solidFill>
                  <a:schemeClr val="tx1"/>
                </a:solidFill>
              </a:rPr>
              <a:t>Catch </a:t>
            </a:r>
            <a:r>
              <a:rPr lang="en-US" altLang="ja-JP" sz="1400" b="1" dirty="0">
                <a:solidFill>
                  <a:schemeClr val="tx1"/>
                </a:solidFill>
              </a:rPr>
              <a:t>Exception.</a:t>
            </a:r>
          </a:p>
          <a:p>
            <a:endParaRPr lang="en-US" altLang="ja-JP" sz="1200" b="1" dirty="0">
              <a:solidFill>
                <a:schemeClr val="tx1"/>
              </a:solidFill>
            </a:endParaRPr>
          </a:p>
          <a:p>
            <a:r>
              <a:rPr lang="en-US" altLang="ja-JP" sz="1200" b="1" dirty="0">
                <a:solidFill>
                  <a:schemeClr val="tx1"/>
                </a:solidFill>
              </a:rPr>
              <a:t>try {</a:t>
            </a:r>
          </a:p>
          <a:p>
            <a:r>
              <a:rPr lang="en-US" altLang="ja-JP" sz="1200" dirty="0">
                <a:solidFill>
                  <a:schemeClr val="tx1"/>
                </a:solidFill>
              </a:rPr>
              <a:t>    </a:t>
            </a:r>
            <a:r>
              <a:rPr lang="en-US" altLang="ja-JP" sz="1200" dirty="0" smtClean="0">
                <a:solidFill>
                  <a:schemeClr val="tx1"/>
                </a:solidFill>
              </a:rPr>
              <a:t>service.xxxx</a:t>
            </a:r>
            <a:r>
              <a:rPr lang="en-US" altLang="ja-JP" sz="1200" dirty="0">
                <a:solidFill>
                  <a:schemeClr val="tx1"/>
                </a:solidFill>
              </a:rPr>
              <a:t>(…);</a:t>
            </a:r>
          </a:p>
          <a:p>
            <a:r>
              <a:rPr lang="en-US" altLang="ja-JP" sz="1200" b="1" dirty="0">
                <a:solidFill>
                  <a:schemeClr val="tx1"/>
                </a:solidFill>
              </a:rPr>
              <a:t>} catch(BusinessException e) {</a:t>
            </a:r>
          </a:p>
          <a:p>
            <a:r>
              <a:rPr lang="en-US" altLang="ja-JP" sz="1200" dirty="0">
                <a:solidFill>
                  <a:schemeClr val="tx1"/>
                </a:solidFill>
              </a:rPr>
              <a:t>    // do exception handling.</a:t>
            </a:r>
          </a:p>
          <a:p>
            <a:r>
              <a:rPr lang="en-US" altLang="ja-JP" sz="1200" b="1" dirty="0">
                <a:solidFill>
                  <a:schemeClr val="tx1"/>
                </a:solidFill>
              </a:rPr>
              <a:t>}</a:t>
            </a:r>
            <a:endParaRPr lang="ja-JP" altLang="en-US" sz="1200" b="1" dirty="0">
              <a:solidFill>
                <a:schemeClr val="tx1"/>
              </a:solidFill>
            </a:endParaRPr>
          </a:p>
          <a:p>
            <a:pPr algn="ctr"/>
            <a:endParaRPr kumimoji="1" lang="ja-JP" altLang="en-US" sz="1200" dirty="0"/>
          </a:p>
        </p:txBody>
      </p:sp>
      <p:sp>
        <p:nvSpPr>
          <p:cNvPr id="52" name="正方形/長方形 51"/>
          <p:cNvSpPr/>
          <p:nvPr/>
        </p:nvSpPr>
        <p:spPr>
          <a:xfrm>
            <a:off x="2207521" y="3397720"/>
            <a:ext cx="5430410" cy="2285879"/>
          </a:xfrm>
          <a:prstGeom prst="rect">
            <a:avLst/>
          </a:prstGeom>
          <a:noFill/>
          <a:ln w="317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kumimoji="1" lang="en-US" altLang="ja-JP" sz="16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&lt;springframework</a:t>
            </a:r>
            <a:r>
              <a:rPr lang="en-US" altLang="ja-JP" sz="16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&gt;</a:t>
            </a:r>
            <a:endParaRPr kumimoji="1" lang="ja-JP" altLang="en-US" sz="16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53" name="テキスト ボックス 52"/>
          <p:cNvSpPr txBox="1"/>
          <p:nvPr/>
        </p:nvSpPr>
        <p:spPr>
          <a:xfrm>
            <a:off x="5424389" y="2806063"/>
            <a:ext cx="4762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400" dirty="0" smtClean="0"/>
              <a:t>4’</a:t>
            </a:r>
          </a:p>
        </p:txBody>
      </p:sp>
      <p:grpSp>
        <p:nvGrpSpPr>
          <p:cNvPr id="34" name="グループ化 33"/>
          <p:cNvGrpSpPr/>
          <p:nvPr/>
        </p:nvGrpSpPr>
        <p:grpSpPr>
          <a:xfrm>
            <a:off x="4562055" y="3694220"/>
            <a:ext cx="1112438" cy="541410"/>
            <a:chOff x="5775544" y="3053452"/>
            <a:chExt cx="1112438" cy="555462"/>
          </a:xfrm>
        </p:grpSpPr>
        <p:sp>
          <p:nvSpPr>
            <p:cNvPr id="35" name="星 24 34"/>
            <p:cNvSpPr/>
            <p:nvPr/>
          </p:nvSpPr>
          <p:spPr>
            <a:xfrm>
              <a:off x="5775544" y="3053452"/>
              <a:ext cx="1112438" cy="555462"/>
            </a:xfrm>
            <a:prstGeom prst="star24">
              <a:avLst/>
            </a:prstGeom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100" dirty="0"/>
            </a:p>
          </p:txBody>
        </p:sp>
        <p:sp>
          <p:nvSpPr>
            <p:cNvPr id="36" name="正方形/長方形 35"/>
            <p:cNvSpPr/>
            <p:nvPr/>
          </p:nvSpPr>
          <p:spPr>
            <a:xfrm>
              <a:off x="5866696" y="3207073"/>
              <a:ext cx="927601" cy="254304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ja-JP" sz="1200" dirty="0" smtClean="0">
                  <a:solidFill>
                    <a:schemeClr val="bg1"/>
                  </a:solidFill>
                </a:rPr>
                <a:t>Business</a:t>
              </a:r>
            </a:p>
            <a:p>
              <a:pPr algn="ctr"/>
              <a:r>
                <a:rPr lang="en-US" altLang="ja-JP" sz="1200" dirty="0" smtClean="0">
                  <a:solidFill>
                    <a:schemeClr val="bg1"/>
                  </a:solidFill>
                </a:rPr>
                <a:t>Exception</a:t>
              </a:r>
              <a:endParaRPr kumimoji="1" lang="ja-JP" altLang="en-US" sz="1200" dirty="0">
                <a:solidFill>
                  <a:schemeClr val="bg1"/>
                </a:solidFill>
              </a:endParaRPr>
            </a:p>
          </p:txBody>
        </p:sp>
      </p:grpSp>
      <p:sp>
        <p:nvSpPr>
          <p:cNvPr id="92" name="四角形吹き出し 91"/>
          <p:cNvSpPr/>
          <p:nvPr/>
        </p:nvSpPr>
        <p:spPr>
          <a:xfrm>
            <a:off x="3118120" y="3576916"/>
            <a:ext cx="1407321" cy="793374"/>
          </a:xfrm>
          <a:prstGeom prst="wedgeRectCallout">
            <a:avLst>
              <a:gd name="adj1" fmla="val 63946"/>
              <a:gd name="adj2" fmla="val -355"/>
            </a:avLst>
          </a:prstGeom>
          <a:ln w="190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US" altLang="ja-JP" sz="1400" dirty="0" smtClean="0"/>
              <a:t>5</a:t>
            </a:r>
          </a:p>
          <a:p>
            <a:r>
              <a:rPr lang="en-US" altLang="ja-JP" sz="1400" dirty="0" smtClean="0"/>
              <a:t>Occur violation </a:t>
            </a:r>
            <a:r>
              <a:rPr lang="en-US" altLang="ja-JP" sz="1400" dirty="0"/>
              <a:t>of business </a:t>
            </a:r>
            <a:r>
              <a:rPr lang="en-US" altLang="ja-JP" sz="1400" dirty="0" smtClean="0"/>
              <a:t>rules.</a:t>
            </a:r>
            <a:endParaRPr kumimoji="1" lang="ja-JP" altLang="en-US" sz="12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288928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正方形/長方形 43"/>
          <p:cNvSpPr/>
          <p:nvPr/>
        </p:nvSpPr>
        <p:spPr>
          <a:xfrm>
            <a:off x="2028264" y="284324"/>
            <a:ext cx="5477426" cy="712451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="horz" rtlCol="0" anchor="t" anchorCtr="0"/>
          <a:lstStyle/>
          <a:p>
            <a:pPr algn="ctr"/>
            <a:r>
              <a:rPr lang="en-US" altLang="ja-JP" sz="1200" b="1" dirty="0"/>
              <a:t>&lt;Application Server&gt;</a:t>
            </a:r>
          </a:p>
          <a:p>
            <a:pPr algn="ctr"/>
            <a:r>
              <a:rPr kumimoji="1" lang="en-US" altLang="ja-JP" sz="1600" dirty="0" smtClean="0"/>
              <a:t>Servlet</a:t>
            </a:r>
          </a:p>
          <a:p>
            <a:pPr algn="ctr"/>
            <a:r>
              <a:rPr lang="en-US" altLang="ja-JP" sz="1600" dirty="0"/>
              <a:t>Container</a:t>
            </a:r>
            <a:endParaRPr kumimoji="1" lang="ja-JP" altLang="en-US" sz="1600" dirty="0"/>
          </a:p>
        </p:txBody>
      </p:sp>
      <p:cxnSp>
        <p:nvCxnSpPr>
          <p:cNvPr id="42" name="直線矢印コネクタ 13"/>
          <p:cNvCxnSpPr/>
          <p:nvPr/>
        </p:nvCxnSpPr>
        <p:spPr>
          <a:xfrm flipV="1">
            <a:off x="1243191" y="486619"/>
            <a:ext cx="612330" cy="1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headEnd type="none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3" name="Picture 4" descr="PC関連機器のイラストカット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00032" y="228600"/>
            <a:ext cx="1044425" cy="828577"/>
          </a:xfrm>
          <a:prstGeom prst="rect">
            <a:avLst/>
          </a:prstGeom>
          <a:noFill/>
        </p:spPr>
      </p:pic>
      <p:sp>
        <p:nvSpPr>
          <p:cNvPr id="46" name="テキスト ボックス 45"/>
          <p:cNvSpPr txBox="1"/>
          <p:nvPr/>
        </p:nvSpPr>
        <p:spPr>
          <a:xfrm>
            <a:off x="1214208" y="60199"/>
            <a:ext cx="69643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1100" dirty="0" smtClean="0"/>
              <a:t>request</a:t>
            </a:r>
          </a:p>
        </p:txBody>
      </p:sp>
      <p:sp>
        <p:nvSpPr>
          <p:cNvPr id="47" name="テキスト ボックス 46"/>
          <p:cNvSpPr txBox="1"/>
          <p:nvPr/>
        </p:nvSpPr>
        <p:spPr>
          <a:xfrm>
            <a:off x="1211875" y="1028082"/>
            <a:ext cx="76226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1100" dirty="0" smtClean="0"/>
              <a:t>response</a:t>
            </a:r>
          </a:p>
        </p:txBody>
      </p:sp>
      <p:sp>
        <p:nvSpPr>
          <p:cNvPr id="51" name="正方形/長方形 50"/>
          <p:cNvSpPr/>
          <p:nvPr/>
        </p:nvSpPr>
        <p:spPr>
          <a:xfrm>
            <a:off x="2059639" y="1158887"/>
            <a:ext cx="5446051" cy="2028640"/>
          </a:xfrm>
          <a:prstGeom prst="rect">
            <a:avLst/>
          </a:prstGeom>
          <a:noFill/>
          <a:ln w="317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kumimoji="1" lang="en-US" altLang="ja-JP" sz="16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&lt;spring </a:t>
            </a:r>
            <a:r>
              <a:rPr lang="en-US" altLang="ja-JP" sz="16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MVC</a:t>
            </a:r>
            <a:r>
              <a:rPr lang="en-US" altLang="ja-JP" sz="16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&gt;</a:t>
            </a:r>
            <a:endParaRPr kumimoji="1" lang="ja-JP" altLang="en-US" sz="16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" name="角丸四角形 2"/>
          <p:cNvSpPr/>
          <p:nvPr/>
        </p:nvSpPr>
        <p:spPr>
          <a:xfrm>
            <a:off x="2483812" y="1619972"/>
            <a:ext cx="1594426" cy="958744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dirty="0" smtClean="0"/>
              <a:t>&lt;framework&gt;</a:t>
            </a:r>
          </a:p>
          <a:p>
            <a:pPr algn="ctr"/>
            <a:r>
              <a:rPr lang="en-US" altLang="ja-JP" dirty="0" smtClean="0"/>
              <a:t>Dispatcher</a:t>
            </a:r>
          </a:p>
          <a:p>
            <a:pPr algn="ctr"/>
            <a:r>
              <a:rPr lang="en-US" altLang="ja-JP" dirty="0" smtClean="0"/>
              <a:t>Servlet</a:t>
            </a:r>
            <a:endParaRPr kumimoji="1" lang="ja-JP" altLang="en-US" dirty="0"/>
          </a:p>
        </p:txBody>
      </p:sp>
      <p:sp>
        <p:nvSpPr>
          <p:cNvPr id="37" name="角丸四角形 36"/>
          <p:cNvSpPr/>
          <p:nvPr/>
        </p:nvSpPr>
        <p:spPr>
          <a:xfrm>
            <a:off x="4994999" y="3506204"/>
            <a:ext cx="1945975" cy="1747088"/>
          </a:xfrm>
          <a:prstGeom prst="round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b" anchorCtr="1"/>
          <a:lstStyle/>
          <a:p>
            <a:pPr algn="ctr"/>
            <a:r>
              <a:rPr lang="en-US" altLang="ja-JP" sz="1600" b="1" dirty="0" smtClean="0">
                <a:solidFill>
                  <a:schemeClr val="accent3">
                    <a:lumMod val="75000"/>
                  </a:schemeClr>
                </a:solidFill>
              </a:rPr>
              <a:t>Domain</a:t>
            </a:r>
            <a:r>
              <a:rPr kumimoji="1" lang="en-US" altLang="ja-JP" sz="1600" b="1" dirty="0" smtClean="0">
                <a:solidFill>
                  <a:schemeClr val="accent3">
                    <a:lumMod val="75000"/>
                  </a:schemeClr>
                </a:solidFill>
              </a:rPr>
              <a:t> Layer</a:t>
            </a:r>
            <a:endParaRPr kumimoji="1" lang="ja-JP" altLang="en-US" sz="1600" b="1" dirty="0">
              <a:solidFill>
                <a:schemeClr val="accent3">
                  <a:lumMod val="75000"/>
                </a:schemeClr>
              </a:solidFill>
            </a:endParaRPr>
          </a:p>
        </p:txBody>
      </p:sp>
      <p:sp>
        <p:nvSpPr>
          <p:cNvPr id="38" name="角丸四角形 37"/>
          <p:cNvSpPr/>
          <p:nvPr/>
        </p:nvSpPr>
        <p:spPr>
          <a:xfrm>
            <a:off x="2592658" y="3541786"/>
            <a:ext cx="2103312" cy="1736383"/>
          </a:xfrm>
          <a:prstGeom prst="round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b" anchorCtr="1"/>
          <a:lstStyle/>
          <a:p>
            <a:pPr algn="ctr"/>
            <a:r>
              <a:rPr kumimoji="1" lang="en-US" altLang="ja-JP" sz="1600" b="1" dirty="0" smtClean="0">
                <a:solidFill>
                  <a:srgbClr val="7030A0"/>
                </a:solidFill>
              </a:rPr>
              <a:t>Infrastructure Layer</a:t>
            </a:r>
            <a:endParaRPr kumimoji="1" lang="ja-JP" altLang="en-US" sz="1600" b="1" dirty="0">
              <a:solidFill>
                <a:srgbClr val="7030A0"/>
              </a:solidFill>
            </a:endParaRPr>
          </a:p>
        </p:txBody>
      </p:sp>
      <p:sp>
        <p:nvSpPr>
          <p:cNvPr id="39" name="角丸四角形 38"/>
          <p:cNvSpPr/>
          <p:nvPr/>
        </p:nvSpPr>
        <p:spPr>
          <a:xfrm>
            <a:off x="5235834" y="1619972"/>
            <a:ext cx="1440000" cy="1034897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600" dirty="0" smtClean="0"/>
              <a:t>Controller</a:t>
            </a:r>
            <a:endParaRPr kumimoji="1" lang="ja-JP" altLang="en-US" sz="1600" dirty="0"/>
          </a:p>
        </p:txBody>
      </p:sp>
      <p:sp>
        <p:nvSpPr>
          <p:cNvPr id="45" name="角丸四角形 44"/>
          <p:cNvSpPr/>
          <p:nvPr/>
        </p:nvSpPr>
        <p:spPr>
          <a:xfrm>
            <a:off x="5247986" y="3681786"/>
            <a:ext cx="1440000" cy="360000"/>
          </a:xfrm>
          <a:prstGeom prst="round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600" dirty="0" smtClean="0">
                <a:solidFill>
                  <a:schemeClr val="bg1"/>
                </a:solidFill>
              </a:rPr>
              <a:t>Service</a:t>
            </a:r>
            <a:endParaRPr kumimoji="1" lang="ja-JP" altLang="en-US" sz="1600" dirty="0">
              <a:solidFill>
                <a:schemeClr val="bg1"/>
              </a:solidFill>
            </a:endParaRPr>
          </a:p>
        </p:txBody>
      </p:sp>
      <p:sp>
        <p:nvSpPr>
          <p:cNvPr id="48" name="角丸四角形 47"/>
          <p:cNvSpPr/>
          <p:nvPr/>
        </p:nvSpPr>
        <p:spPr>
          <a:xfrm>
            <a:off x="5247986" y="4459820"/>
            <a:ext cx="1440000" cy="360000"/>
          </a:xfrm>
          <a:prstGeom prst="round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600" dirty="0" smtClean="0">
                <a:solidFill>
                  <a:schemeClr val="bg1"/>
                </a:solidFill>
              </a:rPr>
              <a:t>Repository</a:t>
            </a:r>
            <a:endParaRPr kumimoji="1" lang="ja-JP" altLang="en-US" sz="1600" dirty="0">
              <a:solidFill>
                <a:schemeClr val="bg1"/>
              </a:solidFill>
            </a:endParaRPr>
          </a:p>
        </p:txBody>
      </p:sp>
      <p:sp>
        <p:nvSpPr>
          <p:cNvPr id="49" name="角丸四角形 48"/>
          <p:cNvSpPr/>
          <p:nvPr/>
        </p:nvSpPr>
        <p:spPr>
          <a:xfrm>
            <a:off x="2875569" y="4407025"/>
            <a:ext cx="1574548" cy="360000"/>
          </a:xfrm>
          <a:prstGeom prst="round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600" dirty="0" smtClean="0"/>
              <a:t>RepositoryImpl</a:t>
            </a:r>
            <a:endParaRPr kumimoji="1" lang="ja-JP" altLang="en-US" sz="1600" dirty="0"/>
          </a:p>
        </p:txBody>
      </p:sp>
      <p:cxnSp>
        <p:nvCxnSpPr>
          <p:cNvPr id="56" name="直線矢印コネクタ 13"/>
          <p:cNvCxnSpPr/>
          <p:nvPr/>
        </p:nvCxnSpPr>
        <p:spPr>
          <a:xfrm>
            <a:off x="3524285" y="1014989"/>
            <a:ext cx="2413" cy="604983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headEnd type="none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直線矢印コネクタ 13"/>
          <p:cNvCxnSpPr/>
          <p:nvPr/>
        </p:nvCxnSpPr>
        <p:spPr>
          <a:xfrm flipV="1">
            <a:off x="4087203" y="1841791"/>
            <a:ext cx="1157596" cy="1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headEnd type="none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直線矢印コネクタ 13"/>
          <p:cNvCxnSpPr/>
          <p:nvPr/>
        </p:nvCxnSpPr>
        <p:spPr>
          <a:xfrm flipH="1">
            <a:off x="6272563" y="2690503"/>
            <a:ext cx="1" cy="991283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headEnd type="none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直線矢印コネクタ 13"/>
          <p:cNvCxnSpPr/>
          <p:nvPr/>
        </p:nvCxnSpPr>
        <p:spPr>
          <a:xfrm flipV="1">
            <a:off x="5728432" y="2654869"/>
            <a:ext cx="0" cy="1030204"/>
          </a:xfrm>
          <a:prstGeom prst="straightConnector1">
            <a:avLst/>
          </a:prstGeom>
          <a:ln>
            <a:solidFill>
              <a:schemeClr val="tx2">
                <a:lumMod val="60000"/>
                <a:lumOff val="40000"/>
              </a:schemeClr>
            </a:solidFill>
            <a:prstDash val="dash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テキスト ボックス 66"/>
          <p:cNvSpPr txBox="1"/>
          <p:nvPr/>
        </p:nvSpPr>
        <p:spPr>
          <a:xfrm>
            <a:off x="1421691" y="191004"/>
            <a:ext cx="4762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1400" dirty="0"/>
              <a:t>1</a:t>
            </a:r>
            <a:endParaRPr kumimoji="1" lang="en-US" altLang="ja-JP" sz="1400" dirty="0" smtClean="0"/>
          </a:p>
        </p:txBody>
      </p:sp>
      <p:sp>
        <p:nvSpPr>
          <p:cNvPr id="69" name="テキスト ボックス 68"/>
          <p:cNvSpPr txBox="1"/>
          <p:nvPr/>
        </p:nvSpPr>
        <p:spPr>
          <a:xfrm>
            <a:off x="3610953" y="1243464"/>
            <a:ext cx="4762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400" dirty="0" smtClean="0"/>
              <a:t>2</a:t>
            </a:r>
          </a:p>
        </p:txBody>
      </p:sp>
      <p:sp>
        <p:nvSpPr>
          <p:cNvPr id="70" name="テキスト ボックス 69"/>
          <p:cNvSpPr txBox="1"/>
          <p:nvPr/>
        </p:nvSpPr>
        <p:spPr>
          <a:xfrm>
            <a:off x="4399841" y="1534014"/>
            <a:ext cx="4762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400" dirty="0" smtClean="0"/>
              <a:t>3</a:t>
            </a:r>
          </a:p>
        </p:txBody>
      </p:sp>
      <p:sp>
        <p:nvSpPr>
          <p:cNvPr id="71" name="テキスト ボックス 70"/>
          <p:cNvSpPr txBox="1"/>
          <p:nvPr/>
        </p:nvSpPr>
        <p:spPr>
          <a:xfrm>
            <a:off x="6369467" y="2691819"/>
            <a:ext cx="4762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400" dirty="0" smtClean="0"/>
              <a:t>4</a:t>
            </a:r>
          </a:p>
        </p:txBody>
      </p:sp>
      <p:cxnSp>
        <p:nvCxnSpPr>
          <p:cNvPr id="86" name="直線矢印コネクタ 13"/>
          <p:cNvCxnSpPr/>
          <p:nvPr/>
        </p:nvCxnSpPr>
        <p:spPr>
          <a:xfrm flipV="1">
            <a:off x="3070482" y="1013087"/>
            <a:ext cx="0" cy="609621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headEnd type="none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直線矢印コネクタ 13"/>
          <p:cNvCxnSpPr/>
          <p:nvPr/>
        </p:nvCxnSpPr>
        <p:spPr>
          <a:xfrm flipH="1">
            <a:off x="1243191" y="840549"/>
            <a:ext cx="546259" cy="1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headEnd type="none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3" name="テキスト ボックス 92"/>
          <p:cNvSpPr txBox="1"/>
          <p:nvPr/>
        </p:nvSpPr>
        <p:spPr>
          <a:xfrm>
            <a:off x="4416821" y="2130923"/>
            <a:ext cx="4762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400" dirty="0" smtClean="0"/>
              <a:t>7</a:t>
            </a:r>
          </a:p>
        </p:txBody>
      </p:sp>
      <p:sp>
        <p:nvSpPr>
          <p:cNvPr id="94" name="テキスト ボックス 93"/>
          <p:cNvSpPr txBox="1"/>
          <p:nvPr/>
        </p:nvSpPr>
        <p:spPr>
          <a:xfrm>
            <a:off x="2683879" y="1311620"/>
            <a:ext cx="4762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400" dirty="0" smtClean="0"/>
              <a:t>10</a:t>
            </a:r>
          </a:p>
        </p:txBody>
      </p:sp>
      <p:sp>
        <p:nvSpPr>
          <p:cNvPr id="95" name="テキスト ボックス 94"/>
          <p:cNvSpPr txBox="1"/>
          <p:nvPr/>
        </p:nvSpPr>
        <p:spPr>
          <a:xfrm>
            <a:off x="1407207" y="851109"/>
            <a:ext cx="4762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1400" dirty="0" smtClean="0"/>
              <a:t>11</a:t>
            </a:r>
          </a:p>
        </p:txBody>
      </p:sp>
      <p:cxnSp>
        <p:nvCxnSpPr>
          <p:cNvPr id="50" name="直線矢印コネクタ 13"/>
          <p:cNvCxnSpPr>
            <a:stCxn id="64" idx="2"/>
          </p:cNvCxnSpPr>
          <p:nvPr/>
        </p:nvCxnSpPr>
        <p:spPr>
          <a:xfrm flipH="1">
            <a:off x="4060046" y="2402070"/>
            <a:ext cx="1048612" cy="0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headEnd type="arrow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正方形/長方形 51"/>
          <p:cNvSpPr/>
          <p:nvPr/>
        </p:nvSpPr>
        <p:spPr>
          <a:xfrm>
            <a:off x="2075281" y="3361860"/>
            <a:ext cx="5430410" cy="2285879"/>
          </a:xfrm>
          <a:prstGeom prst="rect">
            <a:avLst/>
          </a:prstGeom>
          <a:noFill/>
          <a:ln w="317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kumimoji="1" lang="en-US" altLang="ja-JP" sz="16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&lt;springframework</a:t>
            </a:r>
            <a:r>
              <a:rPr lang="en-US" altLang="ja-JP" sz="16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&gt;</a:t>
            </a:r>
            <a:endParaRPr kumimoji="1" lang="ja-JP" altLang="en-US" sz="16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83" name="テキスト ボックス 82"/>
          <p:cNvSpPr txBox="1"/>
          <p:nvPr/>
        </p:nvSpPr>
        <p:spPr>
          <a:xfrm>
            <a:off x="6369467" y="4116539"/>
            <a:ext cx="4762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400" dirty="0" smtClean="0"/>
              <a:t>5</a:t>
            </a:r>
          </a:p>
        </p:txBody>
      </p:sp>
      <p:cxnSp>
        <p:nvCxnSpPr>
          <p:cNvPr id="41" name="直線矢印コネクタ 13"/>
          <p:cNvCxnSpPr/>
          <p:nvPr/>
        </p:nvCxnSpPr>
        <p:spPr>
          <a:xfrm>
            <a:off x="6272562" y="4061411"/>
            <a:ext cx="0" cy="418034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headEnd type="none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四角形吹き出し 56"/>
          <p:cNvSpPr/>
          <p:nvPr/>
        </p:nvSpPr>
        <p:spPr>
          <a:xfrm>
            <a:off x="2934223" y="3481101"/>
            <a:ext cx="1856263" cy="545066"/>
          </a:xfrm>
          <a:prstGeom prst="wedgeRectCallout">
            <a:avLst>
              <a:gd name="adj1" fmla="val 35527"/>
              <a:gd name="adj2" fmla="val 74014"/>
            </a:avLst>
          </a:prstGeom>
          <a:ln w="190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US" altLang="ja-JP" sz="1400" dirty="0" smtClean="0"/>
              <a:t>6</a:t>
            </a:r>
          </a:p>
          <a:p>
            <a:r>
              <a:rPr lang="en-US" altLang="ja-JP" sz="1400" dirty="0" smtClean="0"/>
              <a:t>Occur race condition.</a:t>
            </a:r>
            <a:endParaRPr kumimoji="1" lang="ja-JP" altLang="en-US" sz="1200" b="1" dirty="0">
              <a:solidFill>
                <a:schemeClr val="tx1"/>
              </a:solidFill>
            </a:endParaRPr>
          </a:p>
        </p:txBody>
      </p:sp>
      <p:cxnSp>
        <p:nvCxnSpPr>
          <p:cNvPr id="59" name="直線矢印コネクタ 13"/>
          <p:cNvCxnSpPr/>
          <p:nvPr/>
        </p:nvCxnSpPr>
        <p:spPr>
          <a:xfrm flipV="1">
            <a:off x="5728432" y="4041786"/>
            <a:ext cx="0" cy="418034"/>
          </a:xfrm>
          <a:prstGeom prst="straightConnector1">
            <a:avLst/>
          </a:prstGeom>
          <a:ln>
            <a:solidFill>
              <a:schemeClr val="tx2">
                <a:lumMod val="60000"/>
                <a:lumOff val="40000"/>
              </a:schemeClr>
            </a:solidFill>
            <a:prstDash val="dash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直線矢印コネクタ 13"/>
          <p:cNvCxnSpPr/>
          <p:nvPr/>
        </p:nvCxnSpPr>
        <p:spPr>
          <a:xfrm flipH="1">
            <a:off x="4060044" y="2090426"/>
            <a:ext cx="1200336" cy="0"/>
          </a:xfrm>
          <a:prstGeom prst="straightConnector1">
            <a:avLst/>
          </a:prstGeom>
          <a:ln>
            <a:solidFill>
              <a:schemeClr val="tx2">
                <a:lumMod val="60000"/>
                <a:lumOff val="40000"/>
              </a:schemeClr>
            </a:solidFill>
            <a:prstDash val="dash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フローチャート : 他ページ結合子 63"/>
          <p:cNvSpPr/>
          <p:nvPr/>
        </p:nvSpPr>
        <p:spPr>
          <a:xfrm rot="5400000">
            <a:off x="5067640" y="2247943"/>
            <a:ext cx="390290" cy="308254"/>
          </a:xfrm>
          <a:prstGeom prst="flowChartOffpageConnector">
            <a:avLst/>
          </a:prstGeom>
          <a:gradFill>
            <a:gsLst>
              <a:gs pos="54000">
                <a:srgbClr val="FFC000"/>
              </a:gs>
              <a:gs pos="0">
                <a:srgbClr val="FFFF00"/>
              </a:gs>
              <a:gs pos="100000">
                <a:srgbClr val="FFC000"/>
              </a:gs>
            </a:gsLst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cxnSp>
        <p:nvCxnSpPr>
          <p:cNvPr id="65" name="直線矢印コネクタ 13"/>
          <p:cNvCxnSpPr>
            <a:stCxn id="3" idx="2"/>
            <a:endCxn id="64" idx="3"/>
          </p:cNvCxnSpPr>
          <p:nvPr/>
        </p:nvCxnSpPr>
        <p:spPr>
          <a:xfrm rot="16200000" flipH="1">
            <a:off x="4262656" y="1597085"/>
            <a:ext cx="18499" cy="1981760"/>
          </a:xfrm>
          <a:prstGeom prst="curvedConnector3">
            <a:avLst>
              <a:gd name="adj1" fmla="val 1671885"/>
            </a:avLst>
          </a:prstGeom>
          <a:ln>
            <a:solidFill>
              <a:schemeClr val="tx1">
                <a:lumMod val="50000"/>
                <a:lumOff val="50000"/>
              </a:schemeClr>
            </a:solidFill>
            <a:headEnd type="arrow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" name="テキスト ボックス 74"/>
          <p:cNvSpPr txBox="1"/>
          <p:nvPr/>
        </p:nvSpPr>
        <p:spPr>
          <a:xfrm>
            <a:off x="4116699" y="2598370"/>
            <a:ext cx="4762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400" dirty="0" smtClean="0"/>
              <a:t>9</a:t>
            </a:r>
          </a:p>
        </p:txBody>
      </p:sp>
      <p:sp>
        <p:nvSpPr>
          <p:cNvPr id="76" name="線吹き出し 2 (枠付き) 75"/>
          <p:cNvSpPr/>
          <p:nvPr/>
        </p:nvSpPr>
        <p:spPr>
          <a:xfrm>
            <a:off x="6556098" y="486620"/>
            <a:ext cx="2518425" cy="1842544"/>
          </a:xfrm>
          <a:prstGeom prst="borderCallout2">
            <a:avLst>
              <a:gd name="adj1" fmla="val 88156"/>
              <a:gd name="adj2" fmla="val -2184"/>
              <a:gd name="adj3" fmla="val 105354"/>
              <a:gd name="adj4" fmla="val -13387"/>
              <a:gd name="adj5" fmla="val 105962"/>
              <a:gd name="adj6" fmla="val -47749"/>
            </a:avLst>
          </a:prstGeom>
          <a:solidFill>
            <a:schemeClr val="bg1"/>
          </a:solidFill>
          <a:ln w="254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ja-JP" sz="1400" b="1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8</a:t>
            </a:r>
          </a:p>
          <a:p>
            <a:r>
              <a:rPr lang="en-US" altLang="ja-JP" sz="1400" b="1" dirty="0" smtClean="0">
                <a:solidFill>
                  <a:schemeClr val="tx1"/>
                </a:solidFill>
              </a:rPr>
              <a:t>Define </a:t>
            </a:r>
            <a:r>
              <a:rPr lang="en-US" altLang="ja-JP" sz="1400" b="1" dirty="0">
                <a:solidFill>
                  <a:schemeClr val="tx1"/>
                </a:solidFill>
              </a:rPr>
              <a:t>@ExceptionHandler.</a:t>
            </a:r>
            <a:endParaRPr lang="en-US" altLang="ja-JP" sz="1400" dirty="0">
              <a:solidFill>
                <a:schemeClr val="tx1"/>
              </a:solidFill>
            </a:endParaRPr>
          </a:p>
          <a:p>
            <a:endParaRPr lang="en-US" altLang="ja-JP" sz="1400" dirty="0">
              <a:solidFill>
                <a:schemeClr val="tx1"/>
              </a:solidFill>
            </a:endParaRPr>
          </a:p>
          <a:p>
            <a:r>
              <a:rPr lang="en-US" altLang="ja-JP" sz="1400" b="1" dirty="0">
                <a:solidFill>
                  <a:schemeClr val="tx1"/>
                </a:solidFill>
              </a:rPr>
              <a:t>@ExceptionHandler</a:t>
            </a:r>
            <a:r>
              <a:rPr lang="en-US" altLang="ja-JP" sz="1000" dirty="0">
                <a:solidFill>
                  <a:schemeClr val="tx1"/>
                </a:solidFill>
              </a:rPr>
              <a:t>(OptimisitcLockingFailureException.class)</a:t>
            </a:r>
          </a:p>
          <a:p>
            <a:r>
              <a:rPr lang="en-US" altLang="ja-JP" sz="1000" dirty="0">
                <a:solidFill>
                  <a:schemeClr val="tx1"/>
                </a:solidFill>
              </a:rPr>
              <a:t>public String  handleOptimisitcLockingFailureException(…) {</a:t>
            </a:r>
          </a:p>
          <a:p>
            <a:r>
              <a:rPr lang="en-US" altLang="ja-JP" sz="1000" dirty="0">
                <a:solidFill>
                  <a:schemeClr val="tx1"/>
                </a:solidFill>
              </a:rPr>
              <a:t>    // do exception handling. </a:t>
            </a:r>
          </a:p>
          <a:p>
            <a:r>
              <a:rPr lang="en-US" altLang="ja-JP" sz="1000" dirty="0">
                <a:solidFill>
                  <a:schemeClr val="tx1"/>
                </a:solidFill>
              </a:rPr>
              <a:t>}</a:t>
            </a:r>
          </a:p>
        </p:txBody>
      </p:sp>
      <p:sp>
        <p:nvSpPr>
          <p:cNvPr id="66" name="テキスト ボックス 65"/>
          <p:cNvSpPr txBox="1"/>
          <p:nvPr/>
        </p:nvSpPr>
        <p:spPr>
          <a:xfrm>
            <a:off x="5363380" y="3989011"/>
            <a:ext cx="4762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400" dirty="0" smtClean="0"/>
              <a:t>6’</a:t>
            </a:r>
          </a:p>
        </p:txBody>
      </p:sp>
      <p:sp>
        <p:nvSpPr>
          <p:cNvPr id="68" name="テキスト ボックス 67"/>
          <p:cNvSpPr txBox="1"/>
          <p:nvPr/>
        </p:nvSpPr>
        <p:spPr>
          <a:xfrm>
            <a:off x="5371393" y="2862194"/>
            <a:ext cx="4762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1400" dirty="0"/>
              <a:t>6’</a:t>
            </a:r>
            <a:endParaRPr kumimoji="1" lang="en-US" altLang="ja-JP" sz="1400" dirty="0" smtClean="0"/>
          </a:p>
        </p:txBody>
      </p:sp>
      <p:sp>
        <p:nvSpPr>
          <p:cNvPr id="72" name="テキスト ボックス 71"/>
          <p:cNvSpPr txBox="1"/>
          <p:nvPr/>
        </p:nvSpPr>
        <p:spPr>
          <a:xfrm>
            <a:off x="4426544" y="1838535"/>
            <a:ext cx="4762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1400" dirty="0"/>
              <a:t>6’</a:t>
            </a:r>
            <a:endParaRPr kumimoji="1" lang="en-US" altLang="ja-JP" sz="1400" dirty="0" smtClean="0"/>
          </a:p>
        </p:txBody>
      </p:sp>
      <p:grpSp>
        <p:nvGrpSpPr>
          <p:cNvPr id="53" name="グループ化 52"/>
          <p:cNvGrpSpPr/>
          <p:nvPr/>
        </p:nvGrpSpPr>
        <p:grpSpPr>
          <a:xfrm>
            <a:off x="4209549" y="4041786"/>
            <a:ext cx="1333083" cy="1173431"/>
            <a:chOff x="5775544" y="3053452"/>
            <a:chExt cx="1112438" cy="555462"/>
          </a:xfrm>
        </p:grpSpPr>
        <p:sp>
          <p:nvSpPr>
            <p:cNvPr id="60" name="星 24 59"/>
            <p:cNvSpPr/>
            <p:nvPr/>
          </p:nvSpPr>
          <p:spPr>
            <a:xfrm>
              <a:off x="5775544" y="3053452"/>
              <a:ext cx="1112438" cy="555462"/>
            </a:xfrm>
            <a:prstGeom prst="star24">
              <a:avLst/>
            </a:prstGeom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100" dirty="0"/>
            </a:p>
          </p:txBody>
        </p:sp>
        <p:sp>
          <p:nvSpPr>
            <p:cNvPr id="73" name="正方形/長方形 72"/>
            <p:cNvSpPr/>
            <p:nvPr/>
          </p:nvSpPr>
          <p:spPr>
            <a:xfrm>
              <a:off x="5880202" y="3193295"/>
              <a:ext cx="927601" cy="29110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ja-JP" sz="1200" dirty="0" smtClean="0">
                  <a:solidFill>
                    <a:schemeClr val="bg1"/>
                  </a:solidFill>
                </a:rPr>
                <a:t>Optimistic</a:t>
              </a:r>
            </a:p>
            <a:p>
              <a:pPr algn="ctr"/>
              <a:r>
                <a:rPr lang="en-US" altLang="ja-JP" sz="1200" dirty="0" smtClean="0">
                  <a:solidFill>
                    <a:schemeClr val="bg1"/>
                  </a:solidFill>
                </a:rPr>
                <a:t>LockingFailure</a:t>
              </a:r>
            </a:p>
            <a:p>
              <a:pPr algn="ctr"/>
              <a:r>
                <a:rPr lang="en-US" altLang="ja-JP" sz="1200" dirty="0" smtClean="0">
                  <a:solidFill>
                    <a:schemeClr val="bg1"/>
                  </a:solidFill>
                </a:rPr>
                <a:t>Exception</a:t>
              </a:r>
              <a:endParaRPr kumimoji="1" lang="ja-JP" altLang="en-US" sz="1200" dirty="0">
                <a:solidFill>
                  <a:schemeClr val="bg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2942012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正方形/長方形 43"/>
          <p:cNvSpPr/>
          <p:nvPr/>
        </p:nvSpPr>
        <p:spPr>
          <a:xfrm>
            <a:off x="3254234" y="296457"/>
            <a:ext cx="5477426" cy="712451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="horz" rtlCol="0" anchor="t" anchorCtr="0"/>
          <a:lstStyle/>
          <a:p>
            <a:pPr algn="ctr"/>
            <a:r>
              <a:rPr lang="en-US" altLang="ja-JP" sz="1200" b="1" dirty="0"/>
              <a:t>&lt;Application Server&gt;</a:t>
            </a:r>
          </a:p>
          <a:p>
            <a:pPr algn="ctr"/>
            <a:r>
              <a:rPr kumimoji="1" lang="en-US" altLang="ja-JP" sz="1600" dirty="0" smtClean="0"/>
              <a:t>Servlet</a:t>
            </a:r>
          </a:p>
          <a:p>
            <a:pPr algn="ctr"/>
            <a:r>
              <a:rPr lang="en-US" altLang="ja-JP" sz="1600" dirty="0"/>
              <a:t>Container</a:t>
            </a:r>
            <a:endParaRPr kumimoji="1" lang="ja-JP" altLang="en-US" sz="1600" dirty="0"/>
          </a:p>
        </p:txBody>
      </p:sp>
      <p:cxnSp>
        <p:nvCxnSpPr>
          <p:cNvPr id="42" name="直線矢印コネクタ 13"/>
          <p:cNvCxnSpPr/>
          <p:nvPr/>
        </p:nvCxnSpPr>
        <p:spPr>
          <a:xfrm flipV="1">
            <a:off x="2469161" y="462892"/>
            <a:ext cx="612330" cy="1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headEnd type="none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3" name="Picture 4" descr="PC関連機器のイラストカット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064262" y="132692"/>
            <a:ext cx="1306166" cy="1036225"/>
          </a:xfrm>
          <a:prstGeom prst="rect">
            <a:avLst/>
          </a:prstGeom>
          <a:noFill/>
        </p:spPr>
      </p:pic>
      <p:sp>
        <p:nvSpPr>
          <p:cNvPr id="46" name="テキスト ボックス 45"/>
          <p:cNvSpPr txBox="1"/>
          <p:nvPr/>
        </p:nvSpPr>
        <p:spPr>
          <a:xfrm>
            <a:off x="2440178" y="34847"/>
            <a:ext cx="69643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1100" dirty="0" smtClean="0"/>
              <a:t>request</a:t>
            </a:r>
          </a:p>
        </p:txBody>
      </p:sp>
      <p:sp>
        <p:nvSpPr>
          <p:cNvPr id="47" name="テキスト ボックス 46"/>
          <p:cNvSpPr txBox="1"/>
          <p:nvPr/>
        </p:nvSpPr>
        <p:spPr>
          <a:xfrm>
            <a:off x="2450545" y="996208"/>
            <a:ext cx="76226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1100" dirty="0" smtClean="0"/>
              <a:t>response</a:t>
            </a:r>
          </a:p>
        </p:txBody>
      </p:sp>
      <p:sp>
        <p:nvSpPr>
          <p:cNvPr id="51" name="正方形/長方形 50"/>
          <p:cNvSpPr/>
          <p:nvPr/>
        </p:nvSpPr>
        <p:spPr>
          <a:xfrm>
            <a:off x="3285609" y="1330905"/>
            <a:ext cx="5446051" cy="2846648"/>
          </a:xfrm>
          <a:prstGeom prst="rect">
            <a:avLst/>
          </a:prstGeom>
          <a:noFill/>
          <a:ln w="317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kumimoji="1" lang="en-US" altLang="ja-JP" sz="16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&lt;spring </a:t>
            </a:r>
            <a:r>
              <a:rPr lang="en-US" altLang="ja-JP" sz="16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MVC</a:t>
            </a:r>
            <a:r>
              <a:rPr lang="en-US" altLang="ja-JP" sz="16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&gt;</a:t>
            </a:r>
            <a:endParaRPr kumimoji="1" lang="ja-JP" altLang="en-US" sz="16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" name="角丸四角形 2"/>
          <p:cNvSpPr/>
          <p:nvPr/>
        </p:nvSpPr>
        <p:spPr>
          <a:xfrm>
            <a:off x="3709782" y="1990601"/>
            <a:ext cx="1594426" cy="774556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dirty="0" smtClean="0"/>
              <a:t>&lt;framework&gt;</a:t>
            </a:r>
          </a:p>
          <a:p>
            <a:pPr algn="ctr"/>
            <a:r>
              <a:rPr lang="en-US" altLang="ja-JP" dirty="0" smtClean="0"/>
              <a:t>Dispatcher</a:t>
            </a:r>
          </a:p>
          <a:p>
            <a:pPr algn="ctr"/>
            <a:r>
              <a:rPr lang="en-US" altLang="ja-JP" dirty="0" smtClean="0"/>
              <a:t>Servlet</a:t>
            </a:r>
            <a:endParaRPr kumimoji="1" lang="ja-JP" altLang="en-US" dirty="0"/>
          </a:p>
        </p:txBody>
      </p:sp>
      <p:sp>
        <p:nvSpPr>
          <p:cNvPr id="37" name="角丸四角形 36"/>
          <p:cNvSpPr/>
          <p:nvPr/>
        </p:nvSpPr>
        <p:spPr>
          <a:xfrm>
            <a:off x="6212004" y="4519249"/>
            <a:ext cx="1945975" cy="1666405"/>
          </a:xfrm>
          <a:prstGeom prst="round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b" anchorCtr="1"/>
          <a:lstStyle/>
          <a:p>
            <a:pPr algn="ctr"/>
            <a:r>
              <a:rPr lang="en-US" altLang="ja-JP" sz="1600" b="1" dirty="0" smtClean="0">
                <a:solidFill>
                  <a:schemeClr val="accent3">
                    <a:lumMod val="75000"/>
                  </a:schemeClr>
                </a:solidFill>
              </a:rPr>
              <a:t>Domain</a:t>
            </a:r>
            <a:r>
              <a:rPr kumimoji="1" lang="en-US" altLang="ja-JP" sz="1600" b="1" dirty="0" smtClean="0">
                <a:solidFill>
                  <a:schemeClr val="accent3">
                    <a:lumMod val="75000"/>
                  </a:schemeClr>
                </a:solidFill>
              </a:rPr>
              <a:t> Layer</a:t>
            </a:r>
            <a:endParaRPr kumimoji="1" lang="ja-JP" altLang="en-US" sz="1600" b="1" dirty="0">
              <a:solidFill>
                <a:schemeClr val="accent3">
                  <a:lumMod val="75000"/>
                </a:schemeClr>
              </a:solidFill>
            </a:endParaRPr>
          </a:p>
        </p:txBody>
      </p:sp>
      <p:sp>
        <p:nvSpPr>
          <p:cNvPr id="39" name="角丸四角形 38"/>
          <p:cNvSpPr/>
          <p:nvPr/>
        </p:nvSpPr>
        <p:spPr>
          <a:xfrm>
            <a:off x="6461804" y="2115665"/>
            <a:ext cx="1440000" cy="561923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600" dirty="0" smtClean="0"/>
              <a:t>Controller</a:t>
            </a:r>
            <a:endParaRPr kumimoji="1" lang="ja-JP" altLang="en-US" sz="1600" dirty="0"/>
          </a:p>
        </p:txBody>
      </p:sp>
      <p:sp>
        <p:nvSpPr>
          <p:cNvPr id="45" name="角丸四角形 44"/>
          <p:cNvSpPr/>
          <p:nvPr/>
        </p:nvSpPr>
        <p:spPr>
          <a:xfrm>
            <a:off x="6464991" y="4721726"/>
            <a:ext cx="1440000" cy="360000"/>
          </a:xfrm>
          <a:prstGeom prst="round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600" dirty="0" smtClean="0">
                <a:solidFill>
                  <a:schemeClr val="bg1"/>
                </a:solidFill>
              </a:rPr>
              <a:t>Service</a:t>
            </a:r>
            <a:endParaRPr kumimoji="1" lang="ja-JP" altLang="en-US" sz="1600" dirty="0">
              <a:solidFill>
                <a:schemeClr val="bg1"/>
              </a:solidFill>
            </a:endParaRPr>
          </a:p>
        </p:txBody>
      </p:sp>
      <p:sp>
        <p:nvSpPr>
          <p:cNvPr id="48" name="角丸四角形 47"/>
          <p:cNvSpPr/>
          <p:nvPr/>
        </p:nvSpPr>
        <p:spPr>
          <a:xfrm>
            <a:off x="6464991" y="5383215"/>
            <a:ext cx="1440000" cy="360000"/>
          </a:xfrm>
          <a:prstGeom prst="round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600" dirty="0" smtClean="0">
                <a:solidFill>
                  <a:schemeClr val="bg1"/>
                </a:solidFill>
              </a:rPr>
              <a:t>Repository</a:t>
            </a:r>
            <a:endParaRPr kumimoji="1" lang="ja-JP" altLang="en-US" sz="1600" dirty="0">
              <a:solidFill>
                <a:schemeClr val="bg1"/>
              </a:solidFill>
            </a:endParaRPr>
          </a:p>
        </p:txBody>
      </p:sp>
      <p:cxnSp>
        <p:nvCxnSpPr>
          <p:cNvPr id="56" name="直線矢印コネクタ 13"/>
          <p:cNvCxnSpPr/>
          <p:nvPr/>
        </p:nvCxnSpPr>
        <p:spPr>
          <a:xfrm>
            <a:off x="4752668" y="1008908"/>
            <a:ext cx="0" cy="955078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headEnd type="none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直線矢印コネクタ 13"/>
          <p:cNvCxnSpPr/>
          <p:nvPr/>
        </p:nvCxnSpPr>
        <p:spPr>
          <a:xfrm flipV="1">
            <a:off x="5313173" y="2283290"/>
            <a:ext cx="1157596" cy="1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headEnd type="none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テキスト ボックス 66"/>
          <p:cNvSpPr txBox="1"/>
          <p:nvPr/>
        </p:nvSpPr>
        <p:spPr>
          <a:xfrm>
            <a:off x="2647661" y="167277"/>
            <a:ext cx="4762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1400" dirty="0"/>
              <a:t>1</a:t>
            </a:r>
            <a:endParaRPr kumimoji="1" lang="en-US" altLang="ja-JP" sz="1400" dirty="0" smtClean="0"/>
          </a:p>
        </p:txBody>
      </p:sp>
      <p:sp>
        <p:nvSpPr>
          <p:cNvPr id="69" name="テキスト ボックス 68"/>
          <p:cNvSpPr txBox="1"/>
          <p:nvPr/>
        </p:nvSpPr>
        <p:spPr>
          <a:xfrm>
            <a:off x="4797915" y="1491876"/>
            <a:ext cx="4762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400" dirty="0" smtClean="0"/>
              <a:t>2</a:t>
            </a:r>
          </a:p>
        </p:txBody>
      </p:sp>
      <p:sp>
        <p:nvSpPr>
          <p:cNvPr id="70" name="テキスト ボックス 69"/>
          <p:cNvSpPr txBox="1"/>
          <p:nvPr/>
        </p:nvSpPr>
        <p:spPr>
          <a:xfrm>
            <a:off x="5650305" y="1941995"/>
            <a:ext cx="4762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400" dirty="0" smtClean="0"/>
              <a:t>3</a:t>
            </a:r>
          </a:p>
        </p:txBody>
      </p:sp>
      <p:cxnSp>
        <p:nvCxnSpPr>
          <p:cNvPr id="86" name="直線矢印コネクタ 13"/>
          <p:cNvCxnSpPr/>
          <p:nvPr/>
        </p:nvCxnSpPr>
        <p:spPr>
          <a:xfrm flipV="1">
            <a:off x="4296452" y="1008908"/>
            <a:ext cx="0" cy="957815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headEnd type="none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直線矢印コネクタ 13"/>
          <p:cNvCxnSpPr/>
          <p:nvPr/>
        </p:nvCxnSpPr>
        <p:spPr>
          <a:xfrm flipH="1">
            <a:off x="2469161" y="816822"/>
            <a:ext cx="546259" cy="1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headEnd type="none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3" name="テキスト ボックス 92"/>
          <p:cNvSpPr txBox="1"/>
          <p:nvPr/>
        </p:nvSpPr>
        <p:spPr>
          <a:xfrm>
            <a:off x="4863818" y="2771414"/>
            <a:ext cx="4762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400" dirty="0" smtClean="0"/>
              <a:t>6</a:t>
            </a:r>
          </a:p>
        </p:txBody>
      </p:sp>
      <p:sp>
        <p:nvSpPr>
          <p:cNvPr id="94" name="テキスト ボックス 93"/>
          <p:cNvSpPr txBox="1"/>
          <p:nvPr/>
        </p:nvSpPr>
        <p:spPr>
          <a:xfrm>
            <a:off x="3880272" y="1513777"/>
            <a:ext cx="4762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400" dirty="0" smtClean="0"/>
              <a:t>9</a:t>
            </a:r>
          </a:p>
        </p:txBody>
      </p:sp>
      <p:sp>
        <p:nvSpPr>
          <p:cNvPr id="95" name="テキスト ボックス 94"/>
          <p:cNvSpPr txBox="1"/>
          <p:nvPr/>
        </p:nvSpPr>
        <p:spPr>
          <a:xfrm>
            <a:off x="2633177" y="827382"/>
            <a:ext cx="4762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1400" dirty="0" smtClean="0"/>
              <a:t>10</a:t>
            </a:r>
            <a:endParaRPr kumimoji="1" lang="en-US" altLang="ja-JP" sz="1400" dirty="0" smtClean="0"/>
          </a:p>
        </p:txBody>
      </p:sp>
      <p:cxnSp>
        <p:nvCxnSpPr>
          <p:cNvPr id="97" name="直線矢印コネクタ 13"/>
          <p:cNvCxnSpPr/>
          <p:nvPr/>
        </p:nvCxnSpPr>
        <p:spPr>
          <a:xfrm flipV="1">
            <a:off x="6868763" y="2677589"/>
            <a:ext cx="0" cy="2010288"/>
          </a:xfrm>
          <a:prstGeom prst="straightConnector1">
            <a:avLst/>
          </a:prstGeom>
          <a:ln>
            <a:solidFill>
              <a:schemeClr val="tx2">
                <a:lumMod val="60000"/>
                <a:lumOff val="40000"/>
              </a:schemeClr>
            </a:solidFill>
            <a:prstDash val="dash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直線矢印コネクタ 13"/>
          <p:cNvCxnSpPr>
            <a:stCxn id="59" idx="2"/>
          </p:cNvCxnSpPr>
          <p:nvPr/>
        </p:nvCxnSpPr>
        <p:spPr>
          <a:xfrm rot="5400000" flipH="1" flipV="1">
            <a:off x="4638488" y="2892774"/>
            <a:ext cx="283014" cy="1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headEnd type="arrow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正方形/長方形 51"/>
          <p:cNvSpPr/>
          <p:nvPr/>
        </p:nvSpPr>
        <p:spPr>
          <a:xfrm>
            <a:off x="3301251" y="4339045"/>
            <a:ext cx="5430410" cy="2178303"/>
          </a:xfrm>
          <a:prstGeom prst="rect">
            <a:avLst/>
          </a:prstGeom>
          <a:noFill/>
          <a:ln w="317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kumimoji="1" lang="en-US" altLang="ja-JP" sz="16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&lt;springframework</a:t>
            </a:r>
            <a:r>
              <a:rPr lang="en-US" altLang="ja-JP" sz="16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&gt;</a:t>
            </a:r>
            <a:endParaRPr kumimoji="1" lang="ja-JP" altLang="en-US" sz="16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82" name="直線矢印コネクタ 13"/>
          <p:cNvCxnSpPr/>
          <p:nvPr/>
        </p:nvCxnSpPr>
        <p:spPr>
          <a:xfrm>
            <a:off x="7470631" y="2703823"/>
            <a:ext cx="0" cy="1984054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headEnd type="none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3" name="テキスト ボックス 82"/>
          <p:cNvSpPr txBox="1"/>
          <p:nvPr/>
        </p:nvSpPr>
        <p:spPr>
          <a:xfrm>
            <a:off x="7470631" y="3528844"/>
            <a:ext cx="4762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400" dirty="0" smtClean="0"/>
              <a:t>4</a:t>
            </a:r>
          </a:p>
        </p:txBody>
      </p:sp>
      <p:sp>
        <p:nvSpPr>
          <p:cNvPr id="57" name="角丸四角形 56"/>
          <p:cNvSpPr/>
          <p:nvPr/>
        </p:nvSpPr>
        <p:spPr>
          <a:xfrm>
            <a:off x="3745642" y="3230175"/>
            <a:ext cx="1594426" cy="803578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400" b="1" dirty="0" smtClean="0"/>
              <a:t>&lt;framework&gt;</a:t>
            </a:r>
          </a:p>
          <a:p>
            <a:pPr algn="ctr"/>
            <a:r>
              <a:rPr lang="en-US" altLang="ja-JP" sz="1400" b="1" dirty="0" smtClean="0"/>
              <a:t>SystemException</a:t>
            </a:r>
          </a:p>
          <a:p>
            <a:pPr algn="ctr"/>
            <a:r>
              <a:rPr lang="en-US" altLang="ja-JP" sz="1400" b="1" dirty="0" smtClean="0"/>
              <a:t>Resolver</a:t>
            </a:r>
            <a:endParaRPr kumimoji="1" lang="ja-JP" altLang="en-US" sz="1400" b="1" dirty="0"/>
          </a:p>
        </p:txBody>
      </p:sp>
      <p:sp>
        <p:nvSpPr>
          <p:cNvPr id="59" name="フローチャート : 他ページ結合子 58"/>
          <p:cNvSpPr/>
          <p:nvPr/>
        </p:nvSpPr>
        <p:spPr>
          <a:xfrm rot="10800000">
            <a:off x="4410424" y="3034281"/>
            <a:ext cx="739143" cy="304979"/>
          </a:xfrm>
          <a:prstGeom prst="flowChartOffpageConnector">
            <a:avLst/>
          </a:prstGeom>
          <a:gradFill>
            <a:gsLst>
              <a:gs pos="54000">
                <a:srgbClr val="FFC000"/>
              </a:gs>
              <a:gs pos="0">
                <a:srgbClr val="FFFF00"/>
              </a:gs>
              <a:gs pos="100000">
                <a:srgbClr val="FFC000"/>
              </a:gs>
            </a:gsLst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cxnSp>
        <p:nvCxnSpPr>
          <p:cNvPr id="64" name="直線矢印コネクタ 13"/>
          <p:cNvCxnSpPr/>
          <p:nvPr/>
        </p:nvCxnSpPr>
        <p:spPr>
          <a:xfrm flipH="1">
            <a:off x="5313173" y="2475909"/>
            <a:ext cx="1152071" cy="0"/>
          </a:xfrm>
          <a:prstGeom prst="straightConnector1">
            <a:avLst/>
          </a:prstGeom>
          <a:ln>
            <a:solidFill>
              <a:schemeClr val="tx2">
                <a:lumMod val="60000"/>
                <a:lumOff val="40000"/>
              </a:schemeClr>
            </a:solidFill>
            <a:prstDash val="dash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3" name="線吹き出し 2 (枠付き) 72"/>
          <p:cNvSpPr/>
          <p:nvPr/>
        </p:nvSpPr>
        <p:spPr>
          <a:xfrm>
            <a:off x="493059" y="2220674"/>
            <a:ext cx="2922494" cy="2083415"/>
          </a:xfrm>
          <a:prstGeom prst="borderCallout2">
            <a:avLst>
              <a:gd name="adj1" fmla="val 71625"/>
              <a:gd name="adj2" fmla="val 102350"/>
              <a:gd name="adj3" fmla="val 49985"/>
              <a:gd name="adj4" fmla="val 107718"/>
              <a:gd name="adj5" fmla="val 48456"/>
              <a:gd name="adj6" fmla="val 145619"/>
            </a:avLst>
          </a:prstGeom>
          <a:solidFill>
            <a:schemeClr val="bg1"/>
          </a:solidFill>
          <a:ln w="254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ja-JP" sz="1400" b="1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7</a:t>
            </a:r>
          </a:p>
          <a:p>
            <a:r>
              <a:rPr lang="en-US" altLang="ja-JP" sz="1400" b="1" dirty="0" smtClean="0">
                <a:solidFill>
                  <a:schemeClr val="tx1"/>
                </a:solidFill>
              </a:rPr>
              <a:t>Define </a:t>
            </a:r>
            <a:r>
              <a:rPr lang="en-US" altLang="ja-JP" sz="1400" b="1" dirty="0">
                <a:solidFill>
                  <a:schemeClr val="tx1"/>
                </a:solidFill>
              </a:rPr>
              <a:t>handling rule.</a:t>
            </a:r>
          </a:p>
          <a:p>
            <a:endParaRPr lang="en-US" altLang="ja-JP" sz="1000" b="1" dirty="0">
              <a:solidFill>
                <a:schemeClr val="tx1"/>
              </a:solidFill>
            </a:endParaRPr>
          </a:p>
          <a:p>
            <a:r>
              <a:rPr lang="en-US" altLang="ja-JP" sz="1000" dirty="0">
                <a:solidFill>
                  <a:schemeClr val="tx1"/>
                </a:solidFill>
              </a:rPr>
              <a:t>&lt;property name="exceptionMappings"&gt;</a:t>
            </a:r>
          </a:p>
          <a:p>
            <a:r>
              <a:rPr lang="en-US" altLang="ja-JP" sz="1000" dirty="0">
                <a:solidFill>
                  <a:schemeClr val="tx1"/>
                </a:solidFill>
              </a:rPr>
              <a:t>    &lt;map&gt;</a:t>
            </a:r>
          </a:p>
          <a:p>
            <a:r>
              <a:rPr lang="en-US" altLang="ja-JP" sz="1000" b="1" dirty="0">
                <a:solidFill>
                  <a:schemeClr val="tx1"/>
                </a:solidFill>
              </a:rPr>
              <a:t>        </a:t>
            </a:r>
            <a:r>
              <a:rPr lang="en-US" altLang="ja-JP" sz="1100" b="1" dirty="0">
                <a:solidFill>
                  <a:schemeClr val="tx1"/>
                </a:solidFill>
              </a:rPr>
              <a:t>&lt;entry key="SystemException“</a:t>
            </a:r>
          </a:p>
          <a:p>
            <a:r>
              <a:rPr lang="en-US" altLang="ja-JP" sz="1100" b="1" dirty="0">
                <a:solidFill>
                  <a:schemeClr val="tx1"/>
                </a:solidFill>
              </a:rPr>
              <a:t>                    value="common/systemError" /&gt;</a:t>
            </a:r>
          </a:p>
          <a:p>
            <a:r>
              <a:rPr lang="en-US" altLang="ja-JP" sz="1000" dirty="0">
                <a:solidFill>
                  <a:schemeClr val="tx1"/>
                </a:solidFill>
              </a:rPr>
              <a:t>    &lt;/map&gt;</a:t>
            </a:r>
          </a:p>
          <a:p>
            <a:r>
              <a:rPr lang="en-US" altLang="ja-JP" sz="1000" dirty="0">
                <a:solidFill>
                  <a:schemeClr val="tx1"/>
                </a:solidFill>
              </a:rPr>
              <a:t>&lt;/property&gt;</a:t>
            </a:r>
          </a:p>
          <a:p>
            <a:r>
              <a:rPr lang="en-US" altLang="ja-JP" sz="1000" dirty="0">
                <a:solidFill>
                  <a:schemeClr val="tx1"/>
                </a:solidFill>
              </a:rPr>
              <a:t>&lt;property name="defaultErrorView" </a:t>
            </a:r>
          </a:p>
          <a:p>
            <a:r>
              <a:rPr lang="en-US" altLang="ja-JP" sz="1000" dirty="0">
                <a:solidFill>
                  <a:schemeClr val="tx1"/>
                </a:solidFill>
              </a:rPr>
              <a:t>                    value="common/error" /&gt;</a:t>
            </a:r>
          </a:p>
          <a:p>
            <a:endParaRPr lang="en-US" altLang="ja-JP" sz="1000" b="1" dirty="0">
              <a:solidFill>
                <a:schemeClr val="tx1"/>
              </a:solidFill>
            </a:endParaRPr>
          </a:p>
        </p:txBody>
      </p:sp>
      <p:sp>
        <p:nvSpPr>
          <p:cNvPr id="75" name="フローチャート : 書類 74"/>
          <p:cNvSpPr/>
          <p:nvPr/>
        </p:nvSpPr>
        <p:spPr>
          <a:xfrm>
            <a:off x="2775326" y="3659668"/>
            <a:ext cx="819975" cy="665248"/>
          </a:xfrm>
          <a:prstGeom prst="flowChartDocumen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t" anchorCtr="0"/>
          <a:lstStyle/>
          <a:p>
            <a:pPr algn="ctr"/>
            <a:r>
              <a:rPr lang="en-US" altLang="ja-JP" sz="1200" dirty="0"/>
              <a:t>spring-mvc.xml</a:t>
            </a:r>
          </a:p>
        </p:txBody>
      </p:sp>
      <p:cxnSp>
        <p:nvCxnSpPr>
          <p:cNvPr id="77" name="直線矢印コネクタ 13"/>
          <p:cNvCxnSpPr/>
          <p:nvPr/>
        </p:nvCxnSpPr>
        <p:spPr>
          <a:xfrm flipV="1">
            <a:off x="4280880" y="2751267"/>
            <a:ext cx="0" cy="478909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headEnd type="none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9" name="テキスト ボックス 78"/>
          <p:cNvSpPr txBox="1"/>
          <p:nvPr/>
        </p:nvSpPr>
        <p:spPr>
          <a:xfrm>
            <a:off x="3954674" y="2883834"/>
            <a:ext cx="4762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400" dirty="0" smtClean="0"/>
              <a:t>8</a:t>
            </a:r>
          </a:p>
        </p:txBody>
      </p:sp>
      <p:sp>
        <p:nvSpPr>
          <p:cNvPr id="49" name="テキスト ボックス 48"/>
          <p:cNvSpPr txBox="1"/>
          <p:nvPr/>
        </p:nvSpPr>
        <p:spPr>
          <a:xfrm>
            <a:off x="6524559" y="3528843"/>
            <a:ext cx="4762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1400" dirty="0" smtClean="0"/>
              <a:t>5’</a:t>
            </a:r>
            <a:endParaRPr kumimoji="1" lang="en-US" altLang="ja-JP" sz="1400" dirty="0" smtClean="0"/>
          </a:p>
        </p:txBody>
      </p:sp>
      <p:sp>
        <p:nvSpPr>
          <p:cNvPr id="55" name="テキスト ボックス 54"/>
          <p:cNvSpPr txBox="1"/>
          <p:nvPr/>
        </p:nvSpPr>
        <p:spPr>
          <a:xfrm>
            <a:off x="5650305" y="2523700"/>
            <a:ext cx="4762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1400" dirty="0" smtClean="0"/>
              <a:t>5’</a:t>
            </a:r>
            <a:endParaRPr kumimoji="1" lang="en-US" altLang="ja-JP" sz="1400" dirty="0" smtClean="0"/>
          </a:p>
        </p:txBody>
      </p:sp>
      <p:grpSp>
        <p:nvGrpSpPr>
          <p:cNvPr id="40" name="グループ化 39"/>
          <p:cNvGrpSpPr/>
          <p:nvPr/>
        </p:nvGrpSpPr>
        <p:grpSpPr>
          <a:xfrm>
            <a:off x="5614438" y="4519249"/>
            <a:ext cx="1112438" cy="783486"/>
            <a:chOff x="5775544" y="3053452"/>
            <a:chExt cx="1112438" cy="555462"/>
          </a:xfrm>
        </p:grpSpPr>
        <p:sp>
          <p:nvSpPr>
            <p:cNvPr id="41" name="星 24 40"/>
            <p:cNvSpPr/>
            <p:nvPr/>
          </p:nvSpPr>
          <p:spPr>
            <a:xfrm>
              <a:off x="5775544" y="3053452"/>
              <a:ext cx="1112438" cy="555462"/>
            </a:xfrm>
            <a:prstGeom prst="star24">
              <a:avLst/>
            </a:prstGeom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100" dirty="0"/>
            </a:p>
          </p:txBody>
        </p:sp>
        <p:sp>
          <p:nvSpPr>
            <p:cNvPr id="53" name="正方形/長方形 52"/>
            <p:cNvSpPr/>
            <p:nvPr/>
          </p:nvSpPr>
          <p:spPr>
            <a:xfrm>
              <a:off x="5848408" y="3193295"/>
              <a:ext cx="927601" cy="29110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ja-JP" sz="1200" dirty="0" smtClean="0">
                  <a:solidFill>
                    <a:schemeClr val="bg1"/>
                  </a:solidFill>
                </a:rPr>
                <a:t>System</a:t>
              </a:r>
            </a:p>
            <a:p>
              <a:pPr algn="ctr"/>
              <a:r>
                <a:rPr lang="en-US" altLang="ja-JP" sz="1200" dirty="0" smtClean="0">
                  <a:solidFill>
                    <a:schemeClr val="bg1"/>
                  </a:solidFill>
                </a:rPr>
                <a:t>Exception</a:t>
              </a:r>
              <a:endParaRPr kumimoji="1" lang="ja-JP" altLang="en-US" sz="1200" dirty="0">
                <a:solidFill>
                  <a:schemeClr val="bg1"/>
                </a:solidFill>
              </a:endParaRPr>
            </a:p>
          </p:txBody>
        </p:sp>
      </p:grpSp>
      <p:sp>
        <p:nvSpPr>
          <p:cNvPr id="92" name="四角形吹き出し 91"/>
          <p:cNvSpPr/>
          <p:nvPr/>
        </p:nvSpPr>
        <p:spPr>
          <a:xfrm>
            <a:off x="3471271" y="4794107"/>
            <a:ext cx="2143167" cy="793374"/>
          </a:xfrm>
          <a:prstGeom prst="wedgeRectCallout">
            <a:avLst>
              <a:gd name="adj1" fmla="val 59978"/>
              <a:gd name="adj2" fmla="val -40043"/>
            </a:avLst>
          </a:prstGeom>
          <a:ln w="190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US" altLang="ja-JP" sz="1400" dirty="0" smtClean="0"/>
              <a:t>5</a:t>
            </a:r>
          </a:p>
          <a:p>
            <a:r>
              <a:rPr lang="en-US" altLang="ja-JP" sz="1400" dirty="0" smtClean="0"/>
              <a:t>Occur abnormal </a:t>
            </a:r>
            <a:r>
              <a:rPr lang="en-US" altLang="ja-JP" sz="1400" dirty="0"/>
              <a:t>condition in system.</a:t>
            </a:r>
          </a:p>
        </p:txBody>
      </p:sp>
    </p:spTree>
    <p:extLst>
      <p:ext uri="{BB962C8B-B14F-4D97-AF65-F5344CB8AC3E}">
        <p14:creationId xmlns:p14="http://schemas.microsoft.com/office/powerpoint/2010/main" val="23959192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正方形/長方形 43"/>
          <p:cNvSpPr/>
          <p:nvPr/>
        </p:nvSpPr>
        <p:spPr>
          <a:xfrm>
            <a:off x="3254234" y="296457"/>
            <a:ext cx="5477426" cy="712451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="horz" rtlCol="0" anchor="t" anchorCtr="0"/>
          <a:lstStyle/>
          <a:p>
            <a:pPr algn="ctr"/>
            <a:r>
              <a:rPr lang="en-US" altLang="ja-JP" sz="1200" b="1" dirty="0"/>
              <a:t>&lt;Application Server&gt;</a:t>
            </a:r>
          </a:p>
          <a:p>
            <a:pPr algn="ctr"/>
            <a:r>
              <a:rPr kumimoji="1" lang="en-US" altLang="ja-JP" sz="1600" dirty="0" smtClean="0"/>
              <a:t>Servlet</a:t>
            </a:r>
          </a:p>
          <a:p>
            <a:pPr algn="ctr"/>
            <a:r>
              <a:rPr lang="en-US" altLang="ja-JP" sz="1600" dirty="0"/>
              <a:t>Container</a:t>
            </a:r>
            <a:endParaRPr kumimoji="1" lang="ja-JP" altLang="en-US" sz="1600" dirty="0"/>
          </a:p>
        </p:txBody>
      </p:sp>
      <p:cxnSp>
        <p:nvCxnSpPr>
          <p:cNvPr id="42" name="直線矢印コネクタ 13"/>
          <p:cNvCxnSpPr/>
          <p:nvPr/>
        </p:nvCxnSpPr>
        <p:spPr>
          <a:xfrm flipV="1">
            <a:off x="2469161" y="462892"/>
            <a:ext cx="612330" cy="1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headEnd type="none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3" name="Picture 4" descr="PC関連機器のイラストカット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144492" y="114301"/>
            <a:ext cx="1238635" cy="982650"/>
          </a:xfrm>
          <a:prstGeom prst="rect">
            <a:avLst/>
          </a:prstGeom>
          <a:noFill/>
        </p:spPr>
      </p:pic>
      <p:sp>
        <p:nvSpPr>
          <p:cNvPr id="46" name="テキスト ボックス 45"/>
          <p:cNvSpPr txBox="1"/>
          <p:nvPr/>
        </p:nvSpPr>
        <p:spPr>
          <a:xfrm>
            <a:off x="2456461" y="36472"/>
            <a:ext cx="69643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1100" dirty="0" smtClean="0"/>
              <a:t>request</a:t>
            </a:r>
          </a:p>
        </p:txBody>
      </p:sp>
      <p:sp>
        <p:nvSpPr>
          <p:cNvPr id="47" name="テキスト ボックス 46"/>
          <p:cNvSpPr txBox="1"/>
          <p:nvPr/>
        </p:nvSpPr>
        <p:spPr>
          <a:xfrm>
            <a:off x="2390628" y="958127"/>
            <a:ext cx="76226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1100" dirty="0" smtClean="0"/>
              <a:t>response</a:t>
            </a:r>
          </a:p>
        </p:txBody>
      </p:sp>
      <p:sp>
        <p:nvSpPr>
          <p:cNvPr id="51" name="正方形/長方形 50"/>
          <p:cNvSpPr/>
          <p:nvPr/>
        </p:nvSpPr>
        <p:spPr>
          <a:xfrm>
            <a:off x="3285609" y="1330904"/>
            <a:ext cx="5446051" cy="3025943"/>
          </a:xfrm>
          <a:prstGeom prst="rect">
            <a:avLst/>
          </a:prstGeom>
          <a:noFill/>
          <a:ln w="317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kumimoji="1" lang="en-US" altLang="ja-JP" sz="16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&lt;spring </a:t>
            </a:r>
            <a:r>
              <a:rPr lang="en-US" altLang="ja-JP" sz="16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MVC</a:t>
            </a:r>
            <a:r>
              <a:rPr lang="en-US" altLang="ja-JP" sz="16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&gt;</a:t>
            </a:r>
            <a:endParaRPr kumimoji="1" lang="ja-JP" altLang="en-US" sz="16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" name="角丸四角形 2"/>
          <p:cNvSpPr/>
          <p:nvPr/>
        </p:nvSpPr>
        <p:spPr>
          <a:xfrm>
            <a:off x="3709782" y="1990601"/>
            <a:ext cx="1594426" cy="774556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dirty="0" smtClean="0"/>
              <a:t>&lt;framework&gt;</a:t>
            </a:r>
          </a:p>
          <a:p>
            <a:pPr algn="ctr"/>
            <a:r>
              <a:rPr lang="en-US" altLang="ja-JP" dirty="0" smtClean="0"/>
              <a:t>Dispatcher</a:t>
            </a:r>
          </a:p>
          <a:p>
            <a:pPr algn="ctr"/>
            <a:r>
              <a:rPr lang="en-US" altLang="ja-JP" dirty="0" smtClean="0"/>
              <a:t>Servlet</a:t>
            </a:r>
            <a:endParaRPr kumimoji="1" lang="ja-JP" altLang="en-US" dirty="0"/>
          </a:p>
        </p:txBody>
      </p:sp>
      <p:cxnSp>
        <p:nvCxnSpPr>
          <p:cNvPr id="56" name="直線矢印コネクタ 13"/>
          <p:cNvCxnSpPr/>
          <p:nvPr/>
        </p:nvCxnSpPr>
        <p:spPr>
          <a:xfrm>
            <a:off x="4752668" y="1008908"/>
            <a:ext cx="0" cy="955078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headEnd type="none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テキスト ボックス 66"/>
          <p:cNvSpPr txBox="1"/>
          <p:nvPr/>
        </p:nvSpPr>
        <p:spPr>
          <a:xfrm>
            <a:off x="2647661" y="167277"/>
            <a:ext cx="4762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1400" dirty="0"/>
              <a:t>1</a:t>
            </a:r>
            <a:endParaRPr kumimoji="1" lang="en-US" altLang="ja-JP" sz="1400" dirty="0" smtClean="0"/>
          </a:p>
        </p:txBody>
      </p:sp>
      <p:cxnSp>
        <p:nvCxnSpPr>
          <p:cNvPr id="86" name="直線矢印コネクタ 13"/>
          <p:cNvCxnSpPr>
            <a:endCxn id="49" idx="2"/>
          </p:cNvCxnSpPr>
          <p:nvPr/>
        </p:nvCxnSpPr>
        <p:spPr>
          <a:xfrm rot="16200000" flipV="1">
            <a:off x="3863757" y="1521463"/>
            <a:ext cx="875054" cy="9992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headEnd type="none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直線矢印コネクタ 13"/>
          <p:cNvCxnSpPr/>
          <p:nvPr/>
        </p:nvCxnSpPr>
        <p:spPr>
          <a:xfrm flipH="1">
            <a:off x="2469161" y="816822"/>
            <a:ext cx="546259" cy="1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headEnd type="none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3" name="テキスト ボックス 92"/>
          <p:cNvSpPr txBox="1"/>
          <p:nvPr/>
        </p:nvSpPr>
        <p:spPr>
          <a:xfrm>
            <a:off x="4863818" y="2771414"/>
            <a:ext cx="4762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400" dirty="0" smtClean="0"/>
              <a:t>3</a:t>
            </a:r>
          </a:p>
        </p:txBody>
      </p:sp>
      <p:sp>
        <p:nvSpPr>
          <p:cNvPr id="95" name="テキスト ボックス 94"/>
          <p:cNvSpPr txBox="1"/>
          <p:nvPr/>
        </p:nvSpPr>
        <p:spPr>
          <a:xfrm>
            <a:off x="2633177" y="827382"/>
            <a:ext cx="4762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1400" dirty="0" smtClean="0"/>
              <a:t>8</a:t>
            </a:r>
            <a:endParaRPr kumimoji="1" lang="en-US" altLang="ja-JP" sz="1400" dirty="0" smtClean="0"/>
          </a:p>
        </p:txBody>
      </p:sp>
      <p:cxnSp>
        <p:nvCxnSpPr>
          <p:cNvPr id="50" name="直線矢印コネクタ 13"/>
          <p:cNvCxnSpPr>
            <a:stCxn id="59" idx="2"/>
          </p:cNvCxnSpPr>
          <p:nvPr/>
        </p:nvCxnSpPr>
        <p:spPr>
          <a:xfrm rot="5400000" flipH="1" flipV="1">
            <a:off x="4621925" y="2902848"/>
            <a:ext cx="262867" cy="1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headEnd type="arrow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角丸四角形 56"/>
          <p:cNvSpPr/>
          <p:nvPr/>
        </p:nvSpPr>
        <p:spPr>
          <a:xfrm>
            <a:off x="3709782" y="3230175"/>
            <a:ext cx="1695934" cy="803578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400" b="1" dirty="0" smtClean="0"/>
              <a:t>&lt;framework&gt;</a:t>
            </a:r>
          </a:p>
          <a:p>
            <a:pPr algn="ctr"/>
            <a:r>
              <a:rPr lang="en-US" altLang="ja-JP" sz="1400" b="1" dirty="0" smtClean="0"/>
              <a:t>DefaultHandler</a:t>
            </a:r>
          </a:p>
          <a:p>
            <a:pPr algn="ctr"/>
            <a:r>
              <a:rPr lang="en-US" altLang="ja-JP" sz="1400" b="1" dirty="0" smtClean="0"/>
              <a:t>ExceptionResolver</a:t>
            </a:r>
            <a:endParaRPr kumimoji="1" lang="ja-JP" altLang="en-US" sz="1400" b="1" dirty="0"/>
          </a:p>
        </p:txBody>
      </p:sp>
      <p:sp>
        <p:nvSpPr>
          <p:cNvPr id="59" name="フローチャート : 他ページ結合子 58"/>
          <p:cNvSpPr/>
          <p:nvPr/>
        </p:nvSpPr>
        <p:spPr>
          <a:xfrm rot="10800000">
            <a:off x="4410425" y="3034281"/>
            <a:ext cx="685866" cy="304979"/>
          </a:xfrm>
          <a:prstGeom prst="flowChartOffpageConnector">
            <a:avLst/>
          </a:prstGeom>
          <a:gradFill>
            <a:gsLst>
              <a:gs pos="54000">
                <a:srgbClr val="FFC000"/>
              </a:gs>
              <a:gs pos="0">
                <a:srgbClr val="FFFF00"/>
              </a:gs>
              <a:gs pos="100000">
                <a:srgbClr val="FFC000"/>
              </a:gs>
            </a:gsLst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cxnSp>
        <p:nvCxnSpPr>
          <p:cNvPr id="77" name="直線矢印コネクタ 13"/>
          <p:cNvCxnSpPr/>
          <p:nvPr/>
        </p:nvCxnSpPr>
        <p:spPr>
          <a:xfrm flipV="1">
            <a:off x="4280880" y="2751267"/>
            <a:ext cx="0" cy="478909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headEnd type="none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9" name="テキスト ボックス 78"/>
          <p:cNvSpPr txBox="1"/>
          <p:nvPr/>
        </p:nvSpPr>
        <p:spPr>
          <a:xfrm>
            <a:off x="3954674" y="2883834"/>
            <a:ext cx="4762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400" dirty="0" smtClean="0"/>
              <a:t>5</a:t>
            </a:r>
          </a:p>
        </p:txBody>
      </p:sp>
      <p:sp>
        <p:nvSpPr>
          <p:cNvPr id="49" name="フローチャート : 他ページ結合子 48"/>
          <p:cNvSpPr/>
          <p:nvPr/>
        </p:nvSpPr>
        <p:spPr>
          <a:xfrm>
            <a:off x="3948906" y="783955"/>
            <a:ext cx="694763" cy="304977"/>
          </a:xfrm>
          <a:prstGeom prst="flowChartOffpageConnector">
            <a:avLst/>
          </a:prstGeom>
          <a:gradFill>
            <a:gsLst>
              <a:gs pos="54000">
                <a:srgbClr val="FFC000"/>
              </a:gs>
              <a:gs pos="0">
                <a:srgbClr val="FFFF00"/>
              </a:gs>
              <a:gs pos="100000">
                <a:srgbClr val="FFC000"/>
              </a:gs>
            </a:gsLst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61" name="テキスト ボックス 60"/>
          <p:cNvSpPr txBox="1"/>
          <p:nvPr/>
        </p:nvSpPr>
        <p:spPr>
          <a:xfrm>
            <a:off x="4827958" y="1460126"/>
            <a:ext cx="4762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400" dirty="0" smtClean="0"/>
              <a:t>2</a:t>
            </a:r>
          </a:p>
        </p:txBody>
      </p:sp>
      <p:sp>
        <p:nvSpPr>
          <p:cNvPr id="62" name="線吹き出し 2 (枠付き) 61"/>
          <p:cNvSpPr/>
          <p:nvPr/>
        </p:nvSpPr>
        <p:spPr>
          <a:xfrm>
            <a:off x="618960" y="1499240"/>
            <a:ext cx="2922494" cy="1579951"/>
          </a:xfrm>
          <a:prstGeom prst="borderCallout2">
            <a:avLst>
              <a:gd name="adj1" fmla="val -4966"/>
              <a:gd name="adj2" fmla="val 88546"/>
              <a:gd name="adj3" fmla="val -34649"/>
              <a:gd name="adj4" fmla="val 105571"/>
              <a:gd name="adj5" fmla="val -33999"/>
              <a:gd name="adj6" fmla="val 125349"/>
            </a:avLst>
          </a:prstGeom>
          <a:solidFill>
            <a:schemeClr val="bg1"/>
          </a:solidFill>
          <a:ln w="254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ja-JP" sz="1400" b="1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7</a:t>
            </a:r>
          </a:p>
          <a:p>
            <a:r>
              <a:rPr lang="en-US" altLang="ja-JP" sz="1400" b="1" dirty="0" smtClean="0">
                <a:solidFill>
                  <a:schemeClr val="tx1"/>
                </a:solidFill>
              </a:rPr>
              <a:t>Define </a:t>
            </a:r>
            <a:r>
              <a:rPr lang="en-US" altLang="ja-JP" sz="1400" b="1" dirty="0">
                <a:solidFill>
                  <a:schemeClr val="tx1"/>
                </a:solidFill>
              </a:rPr>
              <a:t>handling rule.</a:t>
            </a:r>
          </a:p>
          <a:p>
            <a:endParaRPr lang="en-US" altLang="ja-JP" sz="1200" b="1" dirty="0">
              <a:solidFill>
                <a:schemeClr val="tx1"/>
              </a:solidFill>
            </a:endParaRPr>
          </a:p>
          <a:p>
            <a:r>
              <a:rPr lang="en-US" altLang="ja-JP" sz="1000" dirty="0">
                <a:solidFill>
                  <a:schemeClr val="tx1"/>
                </a:solidFill>
              </a:rPr>
              <a:t>&lt;error-page&gt;</a:t>
            </a:r>
          </a:p>
          <a:p>
            <a:r>
              <a:rPr lang="en-US" altLang="ja-JP" sz="1200" b="1" dirty="0">
                <a:solidFill>
                  <a:schemeClr val="tx1"/>
                </a:solidFill>
              </a:rPr>
              <a:t>    </a:t>
            </a:r>
            <a:r>
              <a:rPr lang="en-US" altLang="ja-JP" sz="1200" b="1" dirty="0" smtClean="0">
                <a:solidFill>
                  <a:schemeClr val="tx1"/>
                </a:solidFill>
              </a:rPr>
              <a:t>&lt;error-code&gt;400&lt;/error-code&gt;</a:t>
            </a:r>
            <a:endParaRPr lang="en-US" altLang="ja-JP" sz="1200" b="1" dirty="0">
              <a:solidFill>
                <a:schemeClr val="tx1"/>
              </a:solidFill>
            </a:endParaRPr>
          </a:p>
          <a:p>
            <a:r>
              <a:rPr lang="en-US" altLang="ja-JP" sz="1200" b="1" dirty="0">
                <a:solidFill>
                  <a:schemeClr val="tx1"/>
                </a:solidFill>
              </a:rPr>
              <a:t>    &lt;location</a:t>
            </a:r>
            <a:r>
              <a:rPr lang="en-US" altLang="ja-JP" sz="1200" b="1" dirty="0" smtClean="0">
                <a:solidFill>
                  <a:schemeClr val="tx1"/>
                </a:solidFill>
              </a:rPr>
              <a:t>&gt;/</a:t>
            </a:r>
            <a:r>
              <a:rPr lang="en-US" altLang="ja-JP" sz="1200" b="1" dirty="0" err="1" smtClean="0">
                <a:solidFill>
                  <a:schemeClr val="tx1"/>
                </a:solidFill>
              </a:rPr>
              <a:t>requestError</a:t>
            </a:r>
            <a:r>
              <a:rPr lang="en-US" altLang="ja-JP" sz="1200" b="1" dirty="0" smtClean="0">
                <a:solidFill>
                  <a:schemeClr val="tx1"/>
                </a:solidFill>
              </a:rPr>
              <a:t>&lt;/</a:t>
            </a:r>
            <a:r>
              <a:rPr lang="en-US" altLang="ja-JP" sz="1200" b="1" dirty="0">
                <a:solidFill>
                  <a:schemeClr val="tx1"/>
                </a:solidFill>
              </a:rPr>
              <a:t>location&gt;</a:t>
            </a:r>
          </a:p>
          <a:p>
            <a:r>
              <a:rPr lang="en-US" altLang="ja-JP" sz="1000" dirty="0">
                <a:solidFill>
                  <a:schemeClr val="tx1"/>
                </a:solidFill>
              </a:rPr>
              <a:t>&lt;/error-page&gt;</a:t>
            </a:r>
          </a:p>
          <a:p>
            <a:endParaRPr lang="en-US" altLang="ja-JP" sz="1200" b="1" dirty="0">
              <a:solidFill>
                <a:schemeClr val="tx1"/>
              </a:solidFill>
            </a:endParaRPr>
          </a:p>
        </p:txBody>
      </p:sp>
      <p:sp>
        <p:nvSpPr>
          <p:cNvPr id="63" name="フローチャート : 書類 62"/>
          <p:cNvSpPr/>
          <p:nvPr/>
        </p:nvSpPr>
        <p:spPr>
          <a:xfrm>
            <a:off x="2699439" y="1386677"/>
            <a:ext cx="819975" cy="665248"/>
          </a:xfrm>
          <a:prstGeom prst="flowChartDocumen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 anchorCtr="0"/>
          <a:lstStyle/>
          <a:p>
            <a:pPr algn="ctr"/>
            <a:r>
              <a:rPr lang="en-US" altLang="ja-JP" sz="1200" dirty="0" smtClean="0"/>
              <a:t>web.xml</a:t>
            </a:r>
            <a:endParaRPr lang="en-US" altLang="ja-JP" sz="1200" dirty="0"/>
          </a:p>
        </p:txBody>
      </p:sp>
      <p:sp>
        <p:nvSpPr>
          <p:cNvPr id="66" name="線吹き出し 2 (枠付き) 65"/>
          <p:cNvSpPr/>
          <p:nvPr/>
        </p:nvSpPr>
        <p:spPr>
          <a:xfrm>
            <a:off x="5665695" y="3136573"/>
            <a:ext cx="3133438" cy="990782"/>
          </a:xfrm>
          <a:prstGeom prst="borderCallout2">
            <a:avLst>
              <a:gd name="adj1" fmla="val 30090"/>
              <a:gd name="adj2" fmla="val -2745"/>
              <a:gd name="adj3" fmla="val 4680"/>
              <a:gd name="adj4" fmla="val -14027"/>
              <a:gd name="adj5" fmla="val 4828"/>
              <a:gd name="adj6" fmla="val -26067"/>
            </a:avLst>
          </a:prstGeom>
          <a:solidFill>
            <a:schemeClr val="bg1"/>
          </a:solidFill>
          <a:ln w="254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ja-JP" sz="1400" b="1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4</a:t>
            </a:r>
          </a:p>
          <a:p>
            <a:r>
              <a:rPr lang="en-US" altLang="ja-JP" sz="1400" b="1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Set http response code. (ex. 400)</a:t>
            </a:r>
          </a:p>
          <a:p>
            <a:r>
              <a:rPr lang="en-US" altLang="ja-JP" sz="1400" b="1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HttpServletRespons#sendError(int </a:t>
            </a:r>
            <a:r>
              <a:rPr lang="en-US" altLang="ja-JP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sc</a:t>
            </a:r>
            <a:r>
              <a:rPr lang="en-US" altLang="ja-JP" sz="1400" b="1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)</a:t>
            </a:r>
          </a:p>
        </p:txBody>
      </p:sp>
      <p:sp>
        <p:nvSpPr>
          <p:cNvPr id="68" name="テキスト ボックス 67"/>
          <p:cNvSpPr txBox="1"/>
          <p:nvPr/>
        </p:nvSpPr>
        <p:spPr>
          <a:xfrm>
            <a:off x="3931704" y="1467204"/>
            <a:ext cx="4762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400" dirty="0" smtClean="0"/>
              <a:t>6</a:t>
            </a:r>
          </a:p>
        </p:txBody>
      </p:sp>
      <p:grpSp>
        <p:nvGrpSpPr>
          <p:cNvPr id="28" name="グループ化 27"/>
          <p:cNvGrpSpPr/>
          <p:nvPr/>
        </p:nvGrpSpPr>
        <p:grpSpPr>
          <a:xfrm>
            <a:off x="5096291" y="1990601"/>
            <a:ext cx="1586462" cy="783486"/>
            <a:chOff x="5775544" y="3053452"/>
            <a:chExt cx="1112438" cy="555462"/>
          </a:xfrm>
        </p:grpSpPr>
        <p:sp>
          <p:nvSpPr>
            <p:cNvPr id="29" name="星 24 28"/>
            <p:cNvSpPr/>
            <p:nvPr/>
          </p:nvSpPr>
          <p:spPr>
            <a:xfrm>
              <a:off x="5775544" y="3053452"/>
              <a:ext cx="1112438" cy="555462"/>
            </a:xfrm>
            <a:prstGeom prst="star24">
              <a:avLst/>
            </a:prstGeom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100" dirty="0"/>
            </a:p>
          </p:txBody>
        </p:sp>
        <p:sp>
          <p:nvSpPr>
            <p:cNvPr id="30" name="正方形/長方形 29"/>
            <p:cNvSpPr/>
            <p:nvPr/>
          </p:nvSpPr>
          <p:spPr>
            <a:xfrm>
              <a:off x="5848408" y="3193295"/>
              <a:ext cx="927601" cy="29110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ja-JP" sz="1200" dirty="0" smtClean="0">
                  <a:solidFill>
                    <a:schemeClr val="bg1"/>
                  </a:solidFill>
                </a:rPr>
                <a:t>TypeMismatch</a:t>
              </a:r>
            </a:p>
            <a:p>
              <a:pPr algn="ctr"/>
              <a:r>
                <a:rPr lang="en-US" altLang="ja-JP" sz="1200" dirty="0" smtClean="0">
                  <a:solidFill>
                    <a:schemeClr val="bg1"/>
                  </a:solidFill>
                </a:rPr>
                <a:t>Exception</a:t>
              </a:r>
              <a:endParaRPr kumimoji="1" lang="ja-JP" altLang="en-US" sz="1200" dirty="0">
                <a:solidFill>
                  <a:schemeClr val="bg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9974201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正方形/長方形 43"/>
          <p:cNvSpPr/>
          <p:nvPr/>
        </p:nvSpPr>
        <p:spPr>
          <a:xfrm>
            <a:off x="3254234" y="296457"/>
            <a:ext cx="5477426" cy="712451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="horz" rtlCol="0" anchor="t" anchorCtr="0"/>
          <a:lstStyle/>
          <a:p>
            <a:pPr algn="ctr"/>
            <a:r>
              <a:rPr lang="en-US" altLang="ja-JP" sz="1200" b="1" dirty="0"/>
              <a:t>&lt;Application Server&gt;</a:t>
            </a:r>
          </a:p>
          <a:p>
            <a:pPr algn="ctr"/>
            <a:r>
              <a:rPr kumimoji="1" lang="en-US" altLang="ja-JP" sz="1600" dirty="0" smtClean="0"/>
              <a:t>Servlet</a:t>
            </a:r>
          </a:p>
          <a:p>
            <a:pPr algn="ctr"/>
            <a:r>
              <a:rPr lang="en-US" altLang="ja-JP" sz="1600" dirty="0"/>
              <a:t>Container</a:t>
            </a:r>
            <a:endParaRPr kumimoji="1" lang="ja-JP" altLang="en-US" sz="1600" dirty="0"/>
          </a:p>
        </p:txBody>
      </p:sp>
      <p:cxnSp>
        <p:nvCxnSpPr>
          <p:cNvPr id="42" name="直線矢印コネクタ 13"/>
          <p:cNvCxnSpPr/>
          <p:nvPr/>
        </p:nvCxnSpPr>
        <p:spPr>
          <a:xfrm flipV="1">
            <a:off x="2469161" y="462892"/>
            <a:ext cx="612330" cy="1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headEnd type="none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3" name="Picture 4" descr="PC関連機器のイラストカット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054100" y="136315"/>
            <a:ext cx="1290927" cy="1024135"/>
          </a:xfrm>
          <a:prstGeom prst="rect">
            <a:avLst/>
          </a:prstGeom>
          <a:noFill/>
        </p:spPr>
      </p:pic>
      <p:sp>
        <p:nvSpPr>
          <p:cNvPr id="46" name="テキスト ボックス 45"/>
          <p:cNvSpPr txBox="1"/>
          <p:nvPr/>
        </p:nvSpPr>
        <p:spPr>
          <a:xfrm>
            <a:off x="2443761" y="0"/>
            <a:ext cx="69643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1100" dirty="0" smtClean="0"/>
              <a:t>request</a:t>
            </a:r>
          </a:p>
        </p:txBody>
      </p:sp>
      <p:sp>
        <p:nvSpPr>
          <p:cNvPr id="47" name="テキスト ボックス 46"/>
          <p:cNvSpPr txBox="1"/>
          <p:nvPr/>
        </p:nvSpPr>
        <p:spPr>
          <a:xfrm>
            <a:off x="2399257" y="1008908"/>
            <a:ext cx="76226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1100" dirty="0" smtClean="0"/>
              <a:t>response</a:t>
            </a:r>
          </a:p>
        </p:txBody>
      </p:sp>
      <p:sp>
        <p:nvSpPr>
          <p:cNvPr id="51" name="正方形/長方形 50"/>
          <p:cNvSpPr/>
          <p:nvPr/>
        </p:nvSpPr>
        <p:spPr>
          <a:xfrm>
            <a:off x="3285609" y="1330905"/>
            <a:ext cx="5446051" cy="1923283"/>
          </a:xfrm>
          <a:prstGeom prst="rect">
            <a:avLst/>
          </a:prstGeom>
          <a:noFill/>
          <a:ln w="317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kumimoji="1" lang="en-US" altLang="ja-JP" sz="16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&lt;spring </a:t>
            </a:r>
            <a:r>
              <a:rPr lang="en-US" altLang="ja-JP" sz="16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MVC</a:t>
            </a:r>
            <a:r>
              <a:rPr lang="en-US" altLang="ja-JP" sz="16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&gt;</a:t>
            </a:r>
            <a:endParaRPr kumimoji="1" lang="ja-JP" altLang="en-US" sz="16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" name="角丸四角形 2"/>
          <p:cNvSpPr/>
          <p:nvPr/>
        </p:nvSpPr>
        <p:spPr>
          <a:xfrm>
            <a:off x="3709782" y="1990600"/>
            <a:ext cx="1594426" cy="876673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dirty="0"/>
              <a:t>&lt;framework&gt;</a:t>
            </a:r>
          </a:p>
          <a:p>
            <a:pPr algn="ctr"/>
            <a:r>
              <a:rPr lang="en-US" altLang="ja-JP" dirty="0" smtClean="0"/>
              <a:t>Dispatcher</a:t>
            </a:r>
          </a:p>
          <a:p>
            <a:pPr algn="ctr"/>
            <a:r>
              <a:rPr lang="en-US" altLang="ja-JP" dirty="0" smtClean="0"/>
              <a:t>Servlet</a:t>
            </a:r>
            <a:endParaRPr kumimoji="1" lang="ja-JP" altLang="en-US" dirty="0"/>
          </a:p>
        </p:txBody>
      </p:sp>
      <p:sp>
        <p:nvSpPr>
          <p:cNvPr id="37" name="角丸四角形 36"/>
          <p:cNvSpPr/>
          <p:nvPr/>
        </p:nvSpPr>
        <p:spPr>
          <a:xfrm>
            <a:off x="6212004" y="3622749"/>
            <a:ext cx="1945975" cy="1666405"/>
          </a:xfrm>
          <a:prstGeom prst="round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b" anchorCtr="1"/>
          <a:lstStyle/>
          <a:p>
            <a:pPr algn="ctr"/>
            <a:r>
              <a:rPr lang="en-US" altLang="ja-JP" sz="1600" b="1" dirty="0" smtClean="0">
                <a:solidFill>
                  <a:schemeClr val="accent3">
                    <a:lumMod val="75000"/>
                  </a:schemeClr>
                </a:solidFill>
              </a:rPr>
              <a:t>Domain</a:t>
            </a:r>
            <a:r>
              <a:rPr kumimoji="1" lang="en-US" altLang="ja-JP" sz="1600" b="1" dirty="0" smtClean="0">
                <a:solidFill>
                  <a:schemeClr val="accent3">
                    <a:lumMod val="75000"/>
                  </a:schemeClr>
                </a:solidFill>
              </a:rPr>
              <a:t> Layer</a:t>
            </a:r>
            <a:endParaRPr kumimoji="1" lang="ja-JP" altLang="en-US" sz="1600" b="1" dirty="0">
              <a:solidFill>
                <a:schemeClr val="accent3">
                  <a:lumMod val="75000"/>
                </a:schemeClr>
              </a:solidFill>
            </a:endParaRPr>
          </a:p>
        </p:txBody>
      </p:sp>
      <p:sp>
        <p:nvSpPr>
          <p:cNvPr id="39" name="角丸四角形 38"/>
          <p:cNvSpPr/>
          <p:nvPr/>
        </p:nvSpPr>
        <p:spPr>
          <a:xfrm>
            <a:off x="6461804" y="2095052"/>
            <a:ext cx="1440000" cy="772284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600" dirty="0" smtClean="0"/>
              <a:t>Controller</a:t>
            </a:r>
            <a:endParaRPr kumimoji="1" lang="ja-JP" altLang="en-US" sz="1600" dirty="0"/>
          </a:p>
        </p:txBody>
      </p:sp>
      <p:sp>
        <p:nvSpPr>
          <p:cNvPr id="45" name="角丸四角形 44"/>
          <p:cNvSpPr/>
          <p:nvPr/>
        </p:nvSpPr>
        <p:spPr>
          <a:xfrm>
            <a:off x="6464991" y="3825226"/>
            <a:ext cx="1440000" cy="360000"/>
          </a:xfrm>
          <a:prstGeom prst="round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600" dirty="0" smtClean="0">
                <a:solidFill>
                  <a:schemeClr val="bg1"/>
                </a:solidFill>
              </a:rPr>
              <a:t>Service</a:t>
            </a:r>
            <a:endParaRPr kumimoji="1" lang="ja-JP" altLang="en-US" sz="1600" dirty="0">
              <a:solidFill>
                <a:schemeClr val="bg1"/>
              </a:solidFill>
            </a:endParaRPr>
          </a:p>
        </p:txBody>
      </p:sp>
      <p:sp>
        <p:nvSpPr>
          <p:cNvPr id="48" name="角丸四角形 47"/>
          <p:cNvSpPr/>
          <p:nvPr/>
        </p:nvSpPr>
        <p:spPr>
          <a:xfrm>
            <a:off x="6464991" y="4486715"/>
            <a:ext cx="1440000" cy="360000"/>
          </a:xfrm>
          <a:prstGeom prst="round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600" dirty="0" smtClean="0">
                <a:solidFill>
                  <a:schemeClr val="bg1"/>
                </a:solidFill>
              </a:rPr>
              <a:t>Repository</a:t>
            </a:r>
            <a:endParaRPr kumimoji="1" lang="ja-JP" altLang="en-US" sz="1600" dirty="0">
              <a:solidFill>
                <a:schemeClr val="bg1"/>
              </a:solidFill>
            </a:endParaRPr>
          </a:p>
        </p:txBody>
      </p:sp>
      <p:cxnSp>
        <p:nvCxnSpPr>
          <p:cNvPr id="56" name="直線矢印コネクタ 13"/>
          <p:cNvCxnSpPr/>
          <p:nvPr/>
        </p:nvCxnSpPr>
        <p:spPr>
          <a:xfrm>
            <a:off x="4752668" y="1008908"/>
            <a:ext cx="0" cy="955078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headEnd type="none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直線矢印コネクタ 13"/>
          <p:cNvCxnSpPr/>
          <p:nvPr/>
        </p:nvCxnSpPr>
        <p:spPr>
          <a:xfrm flipV="1">
            <a:off x="5313173" y="2283290"/>
            <a:ext cx="1157596" cy="1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headEnd type="none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テキスト ボックス 66"/>
          <p:cNvSpPr txBox="1"/>
          <p:nvPr/>
        </p:nvSpPr>
        <p:spPr>
          <a:xfrm>
            <a:off x="2647661" y="167277"/>
            <a:ext cx="4762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1400" dirty="0"/>
              <a:t>1</a:t>
            </a:r>
            <a:endParaRPr kumimoji="1" lang="en-US" altLang="ja-JP" sz="1400" dirty="0" smtClean="0"/>
          </a:p>
        </p:txBody>
      </p:sp>
      <p:sp>
        <p:nvSpPr>
          <p:cNvPr id="69" name="テキスト ボックス 68"/>
          <p:cNvSpPr txBox="1"/>
          <p:nvPr/>
        </p:nvSpPr>
        <p:spPr>
          <a:xfrm>
            <a:off x="4797915" y="1491876"/>
            <a:ext cx="4762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400" dirty="0" smtClean="0"/>
              <a:t>2</a:t>
            </a:r>
          </a:p>
        </p:txBody>
      </p:sp>
      <p:sp>
        <p:nvSpPr>
          <p:cNvPr id="70" name="テキスト ボックス 69"/>
          <p:cNvSpPr txBox="1"/>
          <p:nvPr/>
        </p:nvSpPr>
        <p:spPr>
          <a:xfrm>
            <a:off x="5650305" y="1941995"/>
            <a:ext cx="4762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400" dirty="0" smtClean="0"/>
              <a:t>3</a:t>
            </a:r>
          </a:p>
        </p:txBody>
      </p:sp>
      <p:sp>
        <p:nvSpPr>
          <p:cNvPr id="71" name="テキスト ボックス 70"/>
          <p:cNvSpPr txBox="1"/>
          <p:nvPr/>
        </p:nvSpPr>
        <p:spPr>
          <a:xfrm>
            <a:off x="7509486" y="2867336"/>
            <a:ext cx="56254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400" dirty="0" smtClean="0"/>
              <a:t>4</a:t>
            </a:r>
          </a:p>
        </p:txBody>
      </p:sp>
      <p:cxnSp>
        <p:nvCxnSpPr>
          <p:cNvPr id="88" name="直線矢印コネクタ 13"/>
          <p:cNvCxnSpPr/>
          <p:nvPr/>
        </p:nvCxnSpPr>
        <p:spPr>
          <a:xfrm flipH="1">
            <a:off x="2469161" y="816822"/>
            <a:ext cx="546259" cy="1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headEnd type="none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5" name="テキスト ボックス 94"/>
          <p:cNvSpPr txBox="1"/>
          <p:nvPr/>
        </p:nvSpPr>
        <p:spPr>
          <a:xfrm>
            <a:off x="2633177" y="827382"/>
            <a:ext cx="4762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1400" dirty="0" smtClean="0"/>
              <a:t>8</a:t>
            </a:r>
            <a:endParaRPr kumimoji="1" lang="en-US" altLang="ja-JP" sz="1400" dirty="0" smtClean="0"/>
          </a:p>
        </p:txBody>
      </p:sp>
      <p:cxnSp>
        <p:nvCxnSpPr>
          <p:cNvPr id="97" name="直線矢印コネクタ 13"/>
          <p:cNvCxnSpPr/>
          <p:nvPr/>
        </p:nvCxnSpPr>
        <p:spPr>
          <a:xfrm flipV="1">
            <a:off x="6868763" y="2867336"/>
            <a:ext cx="0" cy="957891"/>
          </a:xfrm>
          <a:prstGeom prst="straightConnector1">
            <a:avLst/>
          </a:prstGeom>
          <a:ln>
            <a:solidFill>
              <a:schemeClr val="tx2">
                <a:lumMod val="60000"/>
                <a:lumOff val="40000"/>
              </a:schemeClr>
            </a:solidFill>
            <a:prstDash val="dash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正方形/長方形 51"/>
          <p:cNvSpPr/>
          <p:nvPr/>
        </p:nvSpPr>
        <p:spPr>
          <a:xfrm>
            <a:off x="3301251" y="3442545"/>
            <a:ext cx="5430410" cy="2178303"/>
          </a:xfrm>
          <a:prstGeom prst="rect">
            <a:avLst/>
          </a:prstGeom>
          <a:noFill/>
          <a:ln w="317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kumimoji="1" lang="en-US" altLang="ja-JP" sz="16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&lt;springframework</a:t>
            </a:r>
            <a:r>
              <a:rPr lang="en-US" altLang="ja-JP" sz="16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&gt;</a:t>
            </a:r>
            <a:endParaRPr kumimoji="1" lang="ja-JP" altLang="en-US" sz="16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82" name="直線矢印コネクタ 13"/>
          <p:cNvCxnSpPr/>
          <p:nvPr/>
        </p:nvCxnSpPr>
        <p:spPr>
          <a:xfrm>
            <a:off x="7470631" y="2867336"/>
            <a:ext cx="0" cy="957890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headEnd type="none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直線矢印コネクタ 13"/>
          <p:cNvCxnSpPr/>
          <p:nvPr/>
        </p:nvCxnSpPr>
        <p:spPr>
          <a:xfrm flipH="1">
            <a:off x="5288560" y="2652835"/>
            <a:ext cx="1152071" cy="0"/>
          </a:xfrm>
          <a:prstGeom prst="straightConnector1">
            <a:avLst/>
          </a:prstGeom>
          <a:ln>
            <a:solidFill>
              <a:schemeClr val="tx2">
                <a:lumMod val="60000"/>
                <a:lumOff val="40000"/>
              </a:schemeClr>
            </a:solidFill>
            <a:prstDash val="dash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直線矢印コネクタ 13"/>
          <p:cNvCxnSpPr>
            <a:endCxn id="55" idx="2"/>
          </p:cNvCxnSpPr>
          <p:nvPr/>
        </p:nvCxnSpPr>
        <p:spPr>
          <a:xfrm flipV="1">
            <a:off x="4268999" y="1126660"/>
            <a:ext cx="0" cy="837326"/>
          </a:xfrm>
          <a:prstGeom prst="straightConnector1">
            <a:avLst/>
          </a:prstGeom>
          <a:ln>
            <a:solidFill>
              <a:schemeClr val="tx2">
                <a:lumMod val="60000"/>
                <a:lumOff val="40000"/>
              </a:schemeClr>
            </a:solidFill>
            <a:prstDash val="dash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フローチャート : 他ページ結合子 54"/>
          <p:cNvSpPr/>
          <p:nvPr/>
        </p:nvSpPr>
        <p:spPr>
          <a:xfrm>
            <a:off x="4073854" y="821683"/>
            <a:ext cx="390290" cy="304977"/>
          </a:xfrm>
          <a:prstGeom prst="flowChartOffpageConnector">
            <a:avLst/>
          </a:prstGeom>
          <a:gradFill>
            <a:gsLst>
              <a:gs pos="54000">
                <a:srgbClr val="FFC000"/>
              </a:gs>
              <a:gs pos="0">
                <a:srgbClr val="FFFF00"/>
              </a:gs>
              <a:gs pos="100000">
                <a:srgbClr val="FFC000"/>
              </a:gs>
            </a:gsLst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61" name="線吹き出し 2 (枠付き) 60"/>
          <p:cNvSpPr/>
          <p:nvPr/>
        </p:nvSpPr>
        <p:spPr>
          <a:xfrm>
            <a:off x="618960" y="1434201"/>
            <a:ext cx="2922494" cy="2299550"/>
          </a:xfrm>
          <a:prstGeom prst="borderCallout2">
            <a:avLst>
              <a:gd name="adj1" fmla="val -4966"/>
              <a:gd name="adj2" fmla="val 88546"/>
              <a:gd name="adj3" fmla="val -22734"/>
              <a:gd name="adj4" fmla="val 107718"/>
              <a:gd name="adj5" fmla="val -22864"/>
              <a:gd name="adj6" fmla="val 122281"/>
            </a:avLst>
          </a:prstGeom>
          <a:solidFill>
            <a:schemeClr val="bg1"/>
          </a:solidFill>
          <a:ln w="254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ja-JP" sz="1400" b="1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7</a:t>
            </a:r>
          </a:p>
          <a:p>
            <a:r>
              <a:rPr lang="en-US" altLang="ja-JP" sz="1400" b="1" dirty="0" smtClean="0">
                <a:solidFill>
                  <a:schemeClr val="tx1"/>
                </a:solidFill>
              </a:rPr>
              <a:t>Define </a:t>
            </a:r>
            <a:r>
              <a:rPr lang="en-US" altLang="ja-JP" sz="1400" b="1" dirty="0">
                <a:solidFill>
                  <a:schemeClr val="tx1"/>
                </a:solidFill>
              </a:rPr>
              <a:t>handling rule.</a:t>
            </a:r>
          </a:p>
          <a:p>
            <a:endParaRPr lang="en-US" altLang="ja-JP" sz="1200" b="1" dirty="0">
              <a:solidFill>
                <a:schemeClr val="tx1"/>
              </a:solidFill>
            </a:endParaRPr>
          </a:p>
          <a:p>
            <a:r>
              <a:rPr lang="en-US" altLang="ja-JP" sz="1000" dirty="0">
                <a:solidFill>
                  <a:schemeClr val="tx1"/>
                </a:solidFill>
              </a:rPr>
              <a:t>&lt;error-page&gt;</a:t>
            </a:r>
          </a:p>
          <a:p>
            <a:r>
              <a:rPr lang="en-US" altLang="ja-JP" sz="1200" b="1" dirty="0">
                <a:solidFill>
                  <a:schemeClr val="tx1"/>
                </a:solidFill>
              </a:rPr>
              <a:t>    &lt;exception-type&gt;</a:t>
            </a:r>
          </a:p>
          <a:p>
            <a:r>
              <a:rPr lang="ja-JP" altLang="en-US" sz="1200" b="1" dirty="0">
                <a:solidFill>
                  <a:schemeClr val="tx1"/>
                </a:solidFill>
              </a:rPr>
              <a:t>        </a:t>
            </a:r>
            <a:r>
              <a:rPr lang="en-US" altLang="ja-JP" sz="1200" b="1" dirty="0">
                <a:solidFill>
                  <a:schemeClr val="tx1"/>
                </a:solidFill>
              </a:rPr>
              <a:t>java.lang.Exception</a:t>
            </a:r>
          </a:p>
          <a:p>
            <a:r>
              <a:rPr lang="en-US" altLang="ja-JP" sz="1200" b="1" dirty="0">
                <a:solidFill>
                  <a:schemeClr val="tx1"/>
                </a:solidFill>
              </a:rPr>
              <a:t>    &lt;/exception-type&gt;</a:t>
            </a:r>
          </a:p>
          <a:p>
            <a:r>
              <a:rPr lang="en-US" altLang="ja-JP" sz="1200" b="1" dirty="0">
                <a:solidFill>
                  <a:schemeClr val="tx1"/>
                </a:solidFill>
              </a:rPr>
              <a:t>    &lt;location&gt;</a:t>
            </a:r>
          </a:p>
          <a:p>
            <a:r>
              <a:rPr lang="en-US" altLang="ja-JP" sz="1200" b="1" dirty="0">
                <a:solidFill>
                  <a:schemeClr val="tx1"/>
                </a:solidFill>
              </a:rPr>
              <a:t>        </a:t>
            </a:r>
            <a:r>
              <a:rPr lang="en-US" altLang="ja-JP" sz="1200" b="1" dirty="0" smtClean="0">
                <a:solidFill>
                  <a:schemeClr val="tx1"/>
                </a:solidFill>
              </a:rPr>
              <a:t>/error.html</a:t>
            </a:r>
            <a:endParaRPr lang="en-US" altLang="ja-JP" sz="1200" b="1" dirty="0">
              <a:solidFill>
                <a:schemeClr val="tx1"/>
              </a:solidFill>
            </a:endParaRPr>
          </a:p>
          <a:p>
            <a:r>
              <a:rPr lang="en-US" altLang="ja-JP" sz="1200" b="1" dirty="0">
                <a:solidFill>
                  <a:schemeClr val="tx1"/>
                </a:solidFill>
              </a:rPr>
              <a:t>    &lt;/location&gt;</a:t>
            </a:r>
          </a:p>
          <a:p>
            <a:r>
              <a:rPr lang="en-US" altLang="ja-JP" sz="1000" dirty="0">
                <a:solidFill>
                  <a:schemeClr val="tx1"/>
                </a:solidFill>
              </a:rPr>
              <a:t>&lt;/error-page&gt;</a:t>
            </a:r>
          </a:p>
          <a:p>
            <a:endParaRPr lang="en-US" altLang="ja-JP" sz="1200" b="1" dirty="0">
              <a:solidFill>
                <a:schemeClr val="tx1"/>
              </a:solidFill>
            </a:endParaRPr>
          </a:p>
        </p:txBody>
      </p:sp>
      <p:sp>
        <p:nvSpPr>
          <p:cNvPr id="62" name="フローチャート : 書類 61"/>
          <p:cNvSpPr/>
          <p:nvPr/>
        </p:nvSpPr>
        <p:spPr>
          <a:xfrm>
            <a:off x="2742290" y="1331189"/>
            <a:ext cx="819975" cy="665248"/>
          </a:xfrm>
          <a:prstGeom prst="flowChartDocumen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 anchorCtr="0"/>
          <a:lstStyle/>
          <a:p>
            <a:pPr algn="ctr"/>
            <a:r>
              <a:rPr lang="en-US" altLang="ja-JP" sz="1200" dirty="0" smtClean="0"/>
              <a:t>web.xml</a:t>
            </a:r>
            <a:endParaRPr lang="en-US" altLang="ja-JP" sz="1200" dirty="0"/>
          </a:p>
        </p:txBody>
      </p:sp>
      <p:sp>
        <p:nvSpPr>
          <p:cNvPr id="41" name="フローチャート : 他ページ結合子 40"/>
          <p:cNvSpPr/>
          <p:nvPr/>
        </p:nvSpPr>
        <p:spPr>
          <a:xfrm>
            <a:off x="4899459" y="2542446"/>
            <a:ext cx="374706" cy="270285"/>
          </a:xfrm>
          <a:prstGeom prst="flowChartOffpageConnector">
            <a:avLst/>
          </a:prstGeom>
          <a:gradFill>
            <a:gsLst>
              <a:gs pos="54000">
                <a:srgbClr val="FFC000"/>
              </a:gs>
              <a:gs pos="0">
                <a:srgbClr val="FFFF00"/>
              </a:gs>
              <a:gs pos="100000">
                <a:srgbClr val="FFC000"/>
              </a:gs>
            </a:gsLst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50" name="四角形吹き出し 49"/>
          <p:cNvSpPr/>
          <p:nvPr/>
        </p:nvSpPr>
        <p:spPr>
          <a:xfrm>
            <a:off x="4320663" y="2939277"/>
            <a:ext cx="2065971" cy="683472"/>
          </a:xfrm>
          <a:prstGeom prst="wedgeRectCallout">
            <a:avLst>
              <a:gd name="adj1" fmla="val -11969"/>
              <a:gd name="adj2" fmla="val -75230"/>
            </a:avLst>
          </a:prstGeom>
          <a:ln w="190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US" altLang="ja-JP" sz="1400" dirty="0" smtClean="0"/>
              <a:t>6</a:t>
            </a:r>
          </a:p>
          <a:p>
            <a:r>
              <a:rPr lang="en-US" altLang="ja-JP" sz="1400" dirty="0" smtClean="0"/>
              <a:t>Wrap </a:t>
            </a:r>
            <a:r>
              <a:rPr lang="en-US" altLang="ja-JP" sz="1400" dirty="0"/>
              <a:t>to </a:t>
            </a:r>
            <a:r>
              <a:rPr lang="en-US" altLang="ja-JP" sz="1400" dirty="0" err="1" smtClean="0"/>
              <a:t>NestedServletException</a:t>
            </a:r>
            <a:endParaRPr lang="en-US" altLang="ja-JP" sz="1400" dirty="0"/>
          </a:p>
        </p:txBody>
      </p:sp>
      <p:sp>
        <p:nvSpPr>
          <p:cNvPr id="57" name="テキスト ボックス 56"/>
          <p:cNvSpPr txBox="1"/>
          <p:nvPr/>
        </p:nvSpPr>
        <p:spPr>
          <a:xfrm>
            <a:off x="6522446" y="2961495"/>
            <a:ext cx="4762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1400" dirty="0" smtClean="0"/>
              <a:t>5’</a:t>
            </a:r>
            <a:endParaRPr kumimoji="1" lang="en-US" altLang="ja-JP" sz="1400" dirty="0" smtClean="0"/>
          </a:p>
        </p:txBody>
      </p:sp>
      <p:sp>
        <p:nvSpPr>
          <p:cNvPr id="59" name="テキスト ボックス 58"/>
          <p:cNvSpPr txBox="1"/>
          <p:nvPr/>
        </p:nvSpPr>
        <p:spPr>
          <a:xfrm>
            <a:off x="5643657" y="2352697"/>
            <a:ext cx="4762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1400" dirty="0" smtClean="0"/>
              <a:t>5’</a:t>
            </a:r>
            <a:endParaRPr kumimoji="1" lang="en-US" altLang="ja-JP" sz="1400" dirty="0" smtClean="0"/>
          </a:p>
        </p:txBody>
      </p:sp>
      <p:sp>
        <p:nvSpPr>
          <p:cNvPr id="60" name="テキスト ボックス 59"/>
          <p:cNvSpPr txBox="1"/>
          <p:nvPr/>
        </p:nvSpPr>
        <p:spPr>
          <a:xfrm>
            <a:off x="3930463" y="1434201"/>
            <a:ext cx="4762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1400" dirty="0" smtClean="0"/>
              <a:t>6’</a:t>
            </a:r>
            <a:endParaRPr kumimoji="1" lang="en-US" altLang="ja-JP" sz="1400" dirty="0" smtClean="0"/>
          </a:p>
        </p:txBody>
      </p:sp>
      <p:grpSp>
        <p:nvGrpSpPr>
          <p:cNvPr id="54" name="グループ化 53"/>
          <p:cNvGrpSpPr/>
          <p:nvPr/>
        </p:nvGrpSpPr>
        <p:grpSpPr>
          <a:xfrm>
            <a:off x="5675261" y="3733751"/>
            <a:ext cx="1112438" cy="555462"/>
            <a:chOff x="5675261" y="3733751"/>
            <a:chExt cx="1112438" cy="555462"/>
          </a:xfrm>
        </p:grpSpPr>
        <p:sp>
          <p:nvSpPr>
            <p:cNvPr id="40" name="星 24 39"/>
            <p:cNvSpPr/>
            <p:nvPr/>
          </p:nvSpPr>
          <p:spPr>
            <a:xfrm>
              <a:off x="5675261" y="3733751"/>
              <a:ext cx="1112438" cy="555462"/>
            </a:xfrm>
            <a:prstGeom prst="star24">
              <a:avLst/>
            </a:prstGeom>
          </p:spPr>
          <p:style>
            <a:lnRef idx="1">
              <a:schemeClr val="accent6"/>
            </a:lnRef>
            <a:fillRef idx="3">
              <a:schemeClr val="accent6"/>
            </a:fillRef>
            <a:effectRef idx="2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100" dirty="0"/>
            </a:p>
          </p:txBody>
        </p:sp>
        <p:sp>
          <p:nvSpPr>
            <p:cNvPr id="53" name="正方形/長方形 52"/>
            <p:cNvSpPr/>
            <p:nvPr/>
          </p:nvSpPr>
          <p:spPr>
            <a:xfrm>
              <a:off x="5751461" y="3860751"/>
              <a:ext cx="927601" cy="29110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1200" dirty="0" smtClean="0">
                  <a:solidFill>
                    <a:schemeClr val="bg1"/>
                  </a:solidFill>
                </a:rPr>
                <a:t>XxxError</a:t>
              </a:r>
              <a:endParaRPr kumimoji="1" lang="ja-JP" altLang="en-US" sz="1200" dirty="0">
                <a:solidFill>
                  <a:schemeClr val="bg1"/>
                </a:solidFill>
              </a:endParaRPr>
            </a:p>
          </p:txBody>
        </p:sp>
      </p:grpSp>
      <p:sp>
        <p:nvSpPr>
          <p:cNvPr id="92" name="四角形吹き出し 91"/>
          <p:cNvSpPr/>
          <p:nvPr/>
        </p:nvSpPr>
        <p:spPr>
          <a:xfrm>
            <a:off x="4105088" y="3948407"/>
            <a:ext cx="1475069" cy="589108"/>
          </a:xfrm>
          <a:prstGeom prst="wedgeRectCallout">
            <a:avLst>
              <a:gd name="adj1" fmla="val 67838"/>
              <a:gd name="adj2" fmla="val -33021"/>
            </a:avLst>
          </a:prstGeom>
          <a:ln w="190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US" altLang="ja-JP" sz="1400" dirty="0"/>
              <a:t>5</a:t>
            </a:r>
            <a:endParaRPr lang="en-US" altLang="ja-JP" sz="1400" dirty="0" smtClean="0"/>
          </a:p>
          <a:p>
            <a:r>
              <a:rPr lang="en-US" altLang="ja-JP" sz="1400" dirty="0"/>
              <a:t>Occur fatal </a:t>
            </a:r>
            <a:r>
              <a:rPr lang="en-US" altLang="ja-JP" sz="1400" dirty="0" smtClean="0"/>
              <a:t>error </a:t>
            </a:r>
            <a:endParaRPr lang="en-US" altLang="ja-JP" sz="1400" dirty="0"/>
          </a:p>
        </p:txBody>
      </p:sp>
    </p:spTree>
    <p:extLst>
      <p:ext uri="{BB962C8B-B14F-4D97-AF65-F5344CB8AC3E}">
        <p14:creationId xmlns:p14="http://schemas.microsoft.com/office/powerpoint/2010/main" val="21327634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正方形/長方形 43"/>
          <p:cNvSpPr/>
          <p:nvPr/>
        </p:nvSpPr>
        <p:spPr>
          <a:xfrm>
            <a:off x="3110104" y="321165"/>
            <a:ext cx="5943599" cy="712451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="horz" rtlCol="0" anchor="t" anchorCtr="0"/>
          <a:lstStyle/>
          <a:p>
            <a:pPr algn="ctr"/>
            <a:r>
              <a:rPr lang="en-US" altLang="ja-JP" sz="1200" b="1" dirty="0"/>
              <a:t>&lt;Application Server&gt;</a:t>
            </a:r>
          </a:p>
          <a:p>
            <a:pPr algn="ctr"/>
            <a:r>
              <a:rPr kumimoji="1" lang="en-US" altLang="ja-JP" sz="1600" dirty="0" smtClean="0"/>
              <a:t>Servlet</a:t>
            </a:r>
          </a:p>
          <a:p>
            <a:pPr algn="ctr"/>
            <a:r>
              <a:rPr lang="en-US" altLang="ja-JP" sz="1600" dirty="0"/>
              <a:t>Container</a:t>
            </a:r>
            <a:endParaRPr kumimoji="1" lang="ja-JP" altLang="en-US" sz="1600" dirty="0"/>
          </a:p>
        </p:txBody>
      </p:sp>
      <p:cxnSp>
        <p:nvCxnSpPr>
          <p:cNvPr id="42" name="直線矢印コネクタ 13"/>
          <p:cNvCxnSpPr/>
          <p:nvPr/>
        </p:nvCxnSpPr>
        <p:spPr>
          <a:xfrm flipV="1">
            <a:off x="2339561" y="543622"/>
            <a:ext cx="612330" cy="1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headEnd type="none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3" name="Picture 4" descr="PC関連機器のイラストカット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976052" y="203200"/>
            <a:ext cx="1302876" cy="1033615"/>
          </a:xfrm>
          <a:prstGeom prst="rect">
            <a:avLst/>
          </a:prstGeom>
          <a:noFill/>
        </p:spPr>
      </p:pic>
      <p:sp>
        <p:nvSpPr>
          <p:cNvPr id="46" name="テキスト ボックス 45"/>
          <p:cNvSpPr txBox="1"/>
          <p:nvPr/>
        </p:nvSpPr>
        <p:spPr>
          <a:xfrm>
            <a:off x="2339561" y="135067"/>
            <a:ext cx="69643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1100" dirty="0" smtClean="0"/>
              <a:t>request</a:t>
            </a:r>
          </a:p>
        </p:txBody>
      </p:sp>
      <p:sp>
        <p:nvSpPr>
          <p:cNvPr id="47" name="テキスト ボックス 46"/>
          <p:cNvSpPr txBox="1"/>
          <p:nvPr/>
        </p:nvSpPr>
        <p:spPr>
          <a:xfrm>
            <a:off x="2309377" y="1051557"/>
            <a:ext cx="76226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1100" dirty="0" smtClean="0"/>
              <a:t>response</a:t>
            </a:r>
          </a:p>
        </p:txBody>
      </p:sp>
      <p:sp>
        <p:nvSpPr>
          <p:cNvPr id="51" name="正方形/長方形 50"/>
          <p:cNvSpPr/>
          <p:nvPr/>
        </p:nvSpPr>
        <p:spPr>
          <a:xfrm>
            <a:off x="3110104" y="1355613"/>
            <a:ext cx="5943600" cy="2661387"/>
          </a:xfrm>
          <a:prstGeom prst="rect">
            <a:avLst/>
          </a:prstGeom>
          <a:noFill/>
          <a:ln w="317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kumimoji="1" lang="en-US" altLang="ja-JP" sz="16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&lt;spring </a:t>
            </a:r>
            <a:r>
              <a:rPr lang="en-US" altLang="ja-JP" sz="16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MVC</a:t>
            </a:r>
            <a:r>
              <a:rPr lang="en-US" altLang="ja-JP" sz="16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&gt;</a:t>
            </a:r>
            <a:endParaRPr kumimoji="1" lang="ja-JP" altLang="en-US" sz="16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" name="角丸四角形 2"/>
          <p:cNvSpPr/>
          <p:nvPr/>
        </p:nvSpPr>
        <p:spPr>
          <a:xfrm>
            <a:off x="3372763" y="2015309"/>
            <a:ext cx="1594426" cy="849176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dirty="0"/>
              <a:t>&lt;framework&gt;</a:t>
            </a:r>
          </a:p>
          <a:p>
            <a:pPr algn="ctr"/>
            <a:r>
              <a:rPr lang="en-US" altLang="ja-JP" dirty="0" smtClean="0"/>
              <a:t>Dispatcher</a:t>
            </a:r>
          </a:p>
          <a:p>
            <a:pPr algn="ctr"/>
            <a:r>
              <a:rPr lang="en-US" altLang="ja-JP" dirty="0" smtClean="0"/>
              <a:t>Servlet</a:t>
            </a:r>
            <a:endParaRPr kumimoji="1" lang="ja-JP" altLang="en-US" dirty="0"/>
          </a:p>
        </p:txBody>
      </p:sp>
      <p:sp>
        <p:nvSpPr>
          <p:cNvPr id="36" name="角丸四角形 35"/>
          <p:cNvSpPr/>
          <p:nvPr/>
        </p:nvSpPr>
        <p:spPr>
          <a:xfrm>
            <a:off x="5229270" y="1688521"/>
            <a:ext cx="3546528" cy="2202688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 anchorCtr="1"/>
          <a:lstStyle/>
          <a:p>
            <a:pPr algn="ctr"/>
            <a:r>
              <a:rPr lang="en-US" altLang="ja-JP" sz="1600" dirty="0" smtClean="0"/>
              <a:t>Application</a:t>
            </a:r>
            <a:r>
              <a:rPr kumimoji="1" lang="en-US" altLang="ja-JP" sz="1600" dirty="0" smtClean="0"/>
              <a:t> Layer</a:t>
            </a:r>
            <a:endParaRPr kumimoji="1" lang="ja-JP" altLang="en-US" sz="1600" dirty="0"/>
          </a:p>
        </p:txBody>
      </p:sp>
      <p:sp>
        <p:nvSpPr>
          <p:cNvPr id="37" name="角丸四角形 36"/>
          <p:cNvSpPr/>
          <p:nvPr/>
        </p:nvSpPr>
        <p:spPr>
          <a:xfrm>
            <a:off x="6753445" y="4346727"/>
            <a:ext cx="1945975" cy="1666405"/>
          </a:xfrm>
          <a:prstGeom prst="round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b" anchorCtr="1"/>
          <a:lstStyle/>
          <a:p>
            <a:pPr algn="ctr"/>
            <a:r>
              <a:rPr lang="en-US" altLang="ja-JP" sz="1600" dirty="0" smtClean="0"/>
              <a:t>Domain</a:t>
            </a:r>
            <a:r>
              <a:rPr kumimoji="1" lang="en-US" altLang="ja-JP" sz="1600" dirty="0" smtClean="0"/>
              <a:t> Layer</a:t>
            </a:r>
            <a:endParaRPr kumimoji="1" lang="ja-JP" altLang="en-US" sz="1600" dirty="0"/>
          </a:p>
        </p:txBody>
      </p:sp>
      <p:sp>
        <p:nvSpPr>
          <p:cNvPr id="39" name="角丸四角形 38"/>
          <p:cNvSpPr/>
          <p:nvPr/>
        </p:nvSpPr>
        <p:spPr>
          <a:xfrm>
            <a:off x="6258483" y="2166604"/>
            <a:ext cx="1440000" cy="561923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600" dirty="0" smtClean="0"/>
              <a:t>Controller</a:t>
            </a:r>
            <a:endParaRPr kumimoji="1" lang="ja-JP" altLang="en-US" sz="1600" dirty="0"/>
          </a:p>
        </p:txBody>
      </p:sp>
      <p:sp>
        <p:nvSpPr>
          <p:cNvPr id="45" name="角丸四角形 44"/>
          <p:cNvSpPr/>
          <p:nvPr/>
        </p:nvSpPr>
        <p:spPr>
          <a:xfrm>
            <a:off x="7006432" y="4638854"/>
            <a:ext cx="1440000" cy="360000"/>
          </a:xfrm>
          <a:prstGeom prst="round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600" dirty="0" smtClean="0">
                <a:solidFill>
                  <a:schemeClr val="bg1"/>
                </a:solidFill>
              </a:rPr>
              <a:t>Service</a:t>
            </a:r>
            <a:endParaRPr kumimoji="1" lang="ja-JP" altLang="en-US" sz="1600" dirty="0">
              <a:solidFill>
                <a:schemeClr val="bg1"/>
              </a:solidFill>
            </a:endParaRPr>
          </a:p>
        </p:txBody>
      </p:sp>
      <p:sp>
        <p:nvSpPr>
          <p:cNvPr id="48" name="角丸四角形 47"/>
          <p:cNvSpPr/>
          <p:nvPr/>
        </p:nvSpPr>
        <p:spPr>
          <a:xfrm>
            <a:off x="7006432" y="5210693"/>
            <a:ext cx="1440000" cy="360000"/>
          </a:xfrm>
          <a:prstGeom prst="round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600" dirty="0" smtClean="0">
                <a:solidFill>
                  <a:schemeClr val="bg1"/>
                </a:solidFill>
              </a:rPr>
              <a:t>Repository</a:t>
            </a:r>
            <a:endParaRPr kumimoji="1" lang="ja-JP" altLang="en-US" sz="1600" dirty="0">
              <a:solidFill>
                <a:schemeClr val="bg1"/>
              </a:solidFill>
            </a:endParaRPr>
          </a:p>
        </p:txBody>
      </p:sp>
      <p:cxnSp>
        <p:nvCxnSpPr>
          <p:cNvPr id="56" name="直線矢印コネクタ 13"/>
          <p:cNvCxnSpPr/>
          <p:nvPr/>
        </p:nvCxnSpPr>
        <p:spPr>
          <a:xfrm>
            <a:off x="4498980" y="1092492"/>
            <a:ext cx="0" cy="922817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headEnd type="none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直線矢印コネクタ 13"/>
          <p:cNvCxnSpPr/>
          <p:nvPr/>
        </p:nvCxnSpPr>
        <p:spPr>
          <a:xfrm>
            <a:off x="5013401" y="2330500"/>
            <a:ext cx="1236117" cy="1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headEnd type="none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テキスト ボックス 66"/>
          <p:cNvSpPr txBox="1"/>
          <p:nvPr/>
        </p:nvSpPr>
        <p:spPr>
          <a:xfrm>
            <a:off x="2518061" y="248007"/>
            <a:ext cx="4762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1400" dirty="0"/>
              <a:t>1</a:t>
            </a:r>
            <a:endParaRPr kumimoji="1" lang="en-US" altLang="ja-JP" sz="1400" dirty="0" smtClean="0"/>
          </a:p>
        </p:txBody>
      </p:sp>
      <p:sp>
        <p:nvSpPr>
          <p:cNvPr id="69" name="テキスト ボックス 68"/>
          <p:cNvSpPr txBox="1"/>
          <p:nvPr/>
        </p:nvSpPr>
        <p:spPr>
          <a:xfrm>
            <a:off x="4564046" y="1442757"/>
            <a:ext cx="4762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400" dirty="0" smtClean="0"/>
              <a:t>2</a:t>
            </a:r>
          </a:p>
        </p:txBody>
      </p:sp>
      <p:sp>
        <p:nvSpPr>
          <p:cNvPr id="70" name="テキスト ボックス 69"/>
          <p:cNvSpPr txBox="1"/>
          <p:nvPr/>
        </p:nvSpPr>
        <p:spPr>
          <a:xfrm>
            <a:off x="5498499" y="1966703"/>
            <a:ext cx="4762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400" dirty="0" smtClean="0"/>
              <a:t>3</a:t>
            </a:r>
          </a:p>
        </p:txBody>
      </p:sp>
      <p:sp>
        <p:nvSpPr>
          <p:cNvPr id="71" name="テキスト ボックス 70"/>
          <p:cNvSpPr txBox="1"/>
          <p:nvPr/>
        </p:nvSpPr>
        <p:spPr>
          <a:xfrm>
            <a:off x="8012072" y="2482088"/>
            <a:ext cx="56254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400" dirty="0" smtClean="0"/>
              <a:t>4</a:t>
            </a:r>
          </a:p>
        </p:txBody>
      </p:sp>
      <p:cxnSp>
        <p:nvCxnSpPr>
          <p:cNvPr id="88" name="直線矢印コネクタ 13"/>
          <p:cNvCxnSpPr/>
          <p:nvPr/>
        </p:nvCxnSpPr>
        <p:spPr>
          <a:xfrm flipH="1">
            <a:off x="2339561" y="897552"/>
            <a:ext cx="546259" cy="1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headEnd type="none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5" name="テキスト ボックス 94"/>
          <p:cNvSpPr txBox="1"/>
          <p:nvPr/>
        </p:nvSpPr>
        <p:spPr>
          <a:xfrm>
            <a:off x="2503577" y="908112"/>
            <a:ext cx="4762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400" dirty="0" smtClean="0"/>
              <a:t>10</a:t>
            </a:r>
          </a:p>
        </p:txBody>
      </p:sp>
      <p:sp>
        <p:nvSpPr>
          <p:cNvPr id="52" name="正方形/長方形 51"/>
          <p:cNvSpPr/>
          <p:nvPr/>
        </p:nvSpPr>
        <p:spPr>
          <a:xfrm>
            <a:off x="3110104" y="4166523"/>
            <a:ext cx="5943599" cy="2178303"/>
          </a:xfrm>
          <a:prstGeom prst="rect">
            <a:avLst/>
          </a:prstGeom>
          <a:noFill/>
          <a:ln w="317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kumimoji="1" lang="en-US" altLang="ja-JP" sz="16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&lt;springframework</a:t>
            </a:r>
            <a:r>
              <a:rPr lang="en-US" altLang="ja-JP" sz="16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&gt;</a:t>
            </a:r>
            <a:endParaRPr kumimoji="1" lang="ja-JP" altLang="en-US" sz="16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82" name="直線矢印コネクタ 13"/>
          <p:cNvCxnSpPr>
            <a:stCxn id="39" idx="3"/>
          </p:cNvCxnSpPr>
          <p:nvPr/>
        </p:nvCxnSpPr>
        <p:spPr>
          <a:xfrm>
            <a:off x="7698483" y="2447566"/>
            <a:ext cx="293934" cy="2191288"/>
          </a:xfrm>
          <a:prstGeom prst="bentConnector2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headEnd type="none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直線矢印コネクタ 13"/>
          <p:cNvCxnSpPr>
            <a:endCxn id="55" idx="2"/>
          </p:cNvCxnSpPr>
          <p:nvPr/>
        </p:nvCxnSpPr>
        <p:spPr>
          <a:xfrm rot="5400000" flipH="1" flipV="1">
            <a:off x="3495186" y="1596646"/>
            <a:ext cx="838120" cy="794"/>
          </a:xfrm>
          <a:prstGeom prst="straightConnector1">
            <a:avLst/>
          </a:prstGeom>
          <a:ln>
            <a:solidFill>
              <a:schemeClr val="tx2">
                <a:lumMod val="60000"/>
                <a:lumOff val="40000"/>
              </a:schemeClr>
            </a:solidFill>
            <a:prstDash val="dash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フローチャート : 他ページ結合子 54"/>
          <p:cNvSpPr/>
          <p:nvPr/>
        </p:nvSpPr>
        <p:spPr>
          <a:xfrm>
            <a:off x="3533506" y="873006"/>
            <a:ext cx="762274" cy="304977"/>
          </a:xfrm>
          <a:prstGeom prst="flowChartOffpageConnector">
            <a:avLst/>
          </a:prstGeom>
          <a:gradFill>
            <a:gsLst>
              <a:gs pos="54000">
                <a:srgbClr val="FFC000"/>
              </a:gs>
              <a:gs pos="0">
                <a:srgbClr val="FFFF00"/>
              </a:gs>
              <a:gs pos="100000">
                <a:srgbClr val="FFC000"/>
              </a:gs>
            </a:gsLst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cxnSp>
        <p:nvCxnSpPr>
          <p:cNvPr id="38" name="直線矢印コネクタ 13"/>
          <p:cNvCxnSpPr/>
          <p:nvPr/>
        </p:nvCxnSpPr>
        <p:spPr>
          <a:xfrm flipV="1">
            <a:off x="7412515" y="2728527"/>
            <a:ext cx="0" cy="1910327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headEnd type="none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テキスト ボックス 40"/>
          <p:cNvSpPr txBox="1"/>
          <p:nvPr/>
        </p:nvSpPr>
        <p:spPr>
          <a:xfrm>
            <a:off x="7119672" y="4350001"/>
            <a:ext cx="4762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400" dirty="0" smtClean="0"/>
              <a:t>5</a:t>
            </a:r>
          </a:p>
        </p:txBody>
      </p:sp>
      <p:cxnSp>
        <p:nvCxnSpPr>
          <p:cNvPr id="57" name="直線矢印コネクタ 13"/>
          <p:cNvCxnSpPr/>
          <p:nvPr/>
        </p:nvCxnSpPr>
        <p:spPr>
          <a:xfrm>
            <a:off x="4947868" y="2536691"/>
            <a:ext cx="1303753" cy="1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headEnd type="arrow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テキスト ボックス 59"/>
          <p:cNvSpPr txBox="1"/>
          <p:nvPr/>
        </p:nvSpPr>
        <p:spPr>
          <a:xfrm>
            <a:off x="5595025" y="2556708"/>
            <a:ext cx="4762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400" dirty="0" smtClean="0"/>
              <a:t>6</a:t>
            </a:r>
          </a:p>
        </p:txBody>
      </p:sp>
      <p:sp>
        <p:nvSpPr>
          <p:cNvPr id="63" name="フローチャート : 書類 62"/>
          <p:cNvSpPr/>
          <p:nvPr/>
        </p:nvSpPr>
        <p:spPr>
          <a:xfrm>
            <a:off x="5595025" y="3048514"/>
            <a:ext cx="972374" cy="775611"/>
          </a:xfrm>
          <a:prstGeom prst="flowChartDocumen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pPr algn="ctr"/>
            <a:r>
              <a:rPr lang="en-US" altLang="ja-JP" sz="1400" b="1" dirty="0" smtClean="0"/>
              <a:t>&lt;view&gt;</a:t>
            </a:r>
          </a:p>
          <a:p>
            <a:pPr algn="ctr"/>
            <a:r>
              <a:rPr lang="en-US" altLang="ja-JP" sz="1400" b="1" dirty="0" smtClean="0"/>
              <a:t>xxx.html</a:t>
            </a:r>
            <a:endParaRPr lang="en-US" altLang="ja-JP" sz="1400" b="1" dirty="0"/>
          </a:p>
        </p:txBody>
      </p:sp>
      <p:cxnSp>
        <p:nvCxnSpPr>
          <p:cNvPr id="72" name="直線矢印コネクタ 13"/>
          <p:cNvCxnSpPr/>
          <p:nvPr/>
        </p:nvCxnSpPr>
        <p:spPr>
          <a:xfrm>
            <a:off x="4562386" y="2858877"/>
            <a:ext cx="1042686" cy="428986"/>
          </a:xfrm>
          <a:prstGeom prst="bentConnector3">
            <a:avLst>
              <a:gd name="adj1" fmla="val 133"/>
            </a:avLst>
          </a:prstGeom>
          <a:ln>
            <a:solidFill>
              <a:schemeClr val="tx1">
                <a:lumMod val="50000"/>
                <a:lumOff val="50000"/>
              </a:schemeClr>
            </a:solidFill>
            <a:headEnd type="none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直線矢印コネクタ 13"/>
          <p:cNvCxnSpPr/>
          <p:nvPr/>
        </p:nvCxnSpPr>
        <p:spPr>
          <a:xfrm rot="10800000">
            <a:off x="3931851" y="2852621"/>
            <a:ext cx="1663174" cy="718991"/>
          </a:xfrm>
          <a:prstGeom prst="bentConnector3">
            <a:avLst>
              <a:gd name="adj1" fmla="val 100128"/>
            </a:avLst>
          </a:prstGeom>
          <a:ln>
            <a:solidFill>
              <a:schemeClr val="tx2">
                <a:lumMod val="60000"/>
                <a:lumOff val="40000"/>
              </a:schemeClr>
            </a:solidFill>
            <a:prstDash val="dash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4" name="テキスト ボックス 73"/>
          <p:cNvSpPr txBox="1"/>
          <p:nvPr/>
        </p:nvSpPr>
        <p:spPr>
          <a:xfrm>
            <a:off x="4659382" y="2904340"/>
            <a:ext cx="4762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400" dirty="0" smtClean="0"/>
              <a:t>7</a:t>
            </a:r>
          </a:p>
        </p:txBody>
      </p:sp>
      <p:sp>
        <p:nvSpPr>
          <p:cNvPr id="81" name="線吹き出し 2 (枠付き) 80"/>
          <p:cNvSpPr/>
          <p:nvPr/>
        </p:nvSpPr>
        <p:spPr>
          <a:xfrm>
            <a:off x="379068" y="1489689"/>
            <a:ext cx="2922494" cy="2299550"/>
          </a:xfrm>
          <a:prstGeom prst="borderCallout2">
            <a:avLst>
              <a:gd name="adj1" fmla="val -4966"/>
              <a:gd name="adj2" fmla="val 88546"/>
              <a:gd name="adj3" fmla="val -19973"/>
              <a:gd name="adj4" fmla="val 107718"/>
              <a:gd name="adj5" fmla="val -19713"/>
              <a:gd name="adj6" fmla="val 120083"/>
            </a:avLst>
          </a:prstGeom>
          <a:solidFill>
            <a:schemeClr val="bg1"/>
          </a:solidFill>
          <a:ln w="254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ja-JP" sz="1400" b="1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9</a:t>
            </a:r>
          </a:p>
          <a:p>
            <a:r>
              <a:rPr lang="en-US" altLang="ja-JP" sz="1400" b="1" dirty="0" smtClean="0">
                <a:solidFill>
                  <a:schemeClr val="tx1"/>
                </a:solidFill>
              </a:rPr>
              <a:t>Define </a:t>
            </a:r>
            <a:r>
              <a:rPr lang="en-US" altLang="ja-JP" sz="1400" b="1" dirty="0">
                <a:solidFill>
                  <a:schemeClr val="tx1"/>
                </a:solidFill>
              </a:rPr>
              <a:t>handling rule.</a:t>
            </a:r>
          </a:p>
          <a:p>
            <a:endParaRPr lang="en-US" altLang="ja-JP" sz="1200" b="1" dirty="0">
              <a:solidFill>
                <a:schemeClr val="tx1"/>
              </a:solidFill>
            </a:endParaRPr>
          </a:p>
          <a:p>
            <a:r>
              <a:rPr lang="en-US" altLang="ja-JP" sz="1000" dirty="0">
                <a:solidFill>
                  <a:schemeClr val="tx1"/>
                </a:solidFill>
              </a:rPr>
              <a:t>&lt;error-page&gt;</a:t>
            </a:r>
          </a:p>
          <a:p>
            <a:r>
              <a:rPr lang="en-US" altLang="ja-JP" sz="1200" b="1" dirty="0">
                <a:solidFill>
                  <a:schemeClr val="tx1"/>
                </a:solidFill>
              </a:rPr>
              <a:t>    &lt;exception-type&gt;</a:t>
            </a:r>
          </a:p>
          <a:p>
            <a:r>
              <a:rPr lang="ja-JP" altLang="en-US" sz="1200" b="1" dirty="0">
                <a:solidFill>
                  <a:schemeClr val="tx1"/>
                </a:solidFill>
              </a:rPr>
              <a:t>        </a:t>
            </a:r>
            <a:r>
              <a:rPr lang="en-US" altLang="ja-JP" sz="1200" b="1" dirty="0">
                <a:solidFill>
                  <a:schemeClr val="tx1"/>
                </a:solidFill>
              </a:rPr>
              <a:t>java.lang.Exception</a:t>
            </a:r>
          </a:p>
          <a:p>
            <a:r>
              <a:rPr lang="en-US" altLang="ja-JP" sz="1200" b="1" dirty="0">
                <a:solidFill>
                  <a:schemeClr val="tx1"/>
                </a:solidFill>
              </a:rPr>
              <a:t>    &lt;/exception-type&gt;</a:t>
            </a:r>
          </a:p>
          <a:p>
            <a:r>
              <a:rPr lang="en-US" altLang="ja-JP" sz="1200" b="1" dirty="0">
                <a:solidFill>
                  <a:schemeClr val="tx1"/>
                </a:solidFill>
              </a:rPr>
              <a:t>    &lt;location&gt;</a:t>
            </a:r>
          </a:p>
          <a:p>
            <a:r>
              <a:rPr lang="en-US" altLang="ja-JP" sz="1200" b="1" dirty="0">
                <a:solidFill>
                  <a:schemeClr val="tx1"/>
                </a:solidFill>
              </a:rPr>
              <a:t>        </a:t>
            </a:r>
            <a:r>
              <a:rPr lang="en-US" altLang="ja-JP" sz="1200" b="1" dirty="0" smtClean="0">
                <a:solidFill>
                  <a:schemeClr val="tx1"/>
                </a:solidFill>
              </a:rPr>
              <a:t>/error.html</a:t>
            </a:r>
            <a:endParaRPr lang="en-US" altLang="ja-JP" sz="1200" b="1" dirty="0">
              <a:solidFill>
                <a:schemeClr val="tx1"/>
              </a:solidFill>
            </a:endParaRPr>
          </a:p>
          <a:p>
            <a:r>
              <a:rPr lang="en-US" altLang="ja-JP" sz="1200" b="1" dirty="0">
                <a:solidFill>
                  <a:schemeClr val="tx1"/>
                </a:solidFill>
              </a:rPr>
              <a:t>    &lt;/location&gt;</a:t>
            </a:r>
          </a:p>
          <a:p>
            <a:r>
              <a:rPr lang="en-US" altLang="ja-JP" sz="1000" dirty="0">
                <a:solidFill>
                  <a:schemeClr val="tx1"/>
                </a:solidFill>
              </a:rPr>
              <a:t>&lt;/error-page&gt;</a:t>
            </a:r>
          </a:p>
          <a:p>
            <a:endParaRPr lang="en-US" altLang="ja-JP" sz="1200" b="1" dirty="0">
              <a:solidFill>
                <a:schemeClr val="tx1"/>
              </a:solidFill>
            </a:endParaRPr>
          </a:p>
        </p:txBody>
      </p:sp>
      <p:sp>
        <p:nvSpPr>
          <p:cNvPr id="84" name="フローチャート : 書類 83"/>
          <p:cNvSpPr/>
          <p:nvPr/>
        </p:nvSpPr>
        <p:spPr>
          <a:xfrm>
            <a:off x="2502398" y="1386677"/>
            <a:ext cx="819975" cy="665248"/>
          </a:xfrm>
          <a:prstGeom prst="flowChartDocumen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 anchorCtr="0"/>
          <a:lstStyle/>
          <a:p>
            <a:pPr algn="ctr"/>
            <a:r>
              <a:rPr lang="en-US" altLang="ja-JP" sz="1200" dirty="0" smtClean="0"/>
              <a:t>web.xml</a:t>
            </a:r>
            <a:endParaRPr lang="en-US" altLang="ja-JP" sz="1200" dirty="0"/>
          </a:p>
        </p:txBody>
      </p:sp>
      <p:sp>
        <p:nvSpPr>
          <p:cNvPr id="54" name="テキスト ボックス 53"/>
          <p:cNvSpPr txBox="1"/>
          <p:nvPr/>
        </p:nvSpPr>
        <p:spPr>
          <a:xfrm>
            <a:off x="4287188" y="3581509"/>
            <a:ext cx="4762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1400" dirty="0" smtClean="0"/>
              <a:t>8’</a:t>
            </a:r>
            <a:endParaRPr kumimoji="1" lang="en-US" altLang="ja-JP" sz="1400" dirty="0" smtClean="0"/>
          </a:p>
        </p:txBody>
      </p:sp>
      <p:sp>
        <p:nvSpPr>
          <p:cNvPr id="61" name="テキスト ボックス 60"/>
          <p:cNvSpPr txBox="1"/>
          <p:nvPr/>
        </p:nvSpPr>
        <p:spPr>
          <a:xfrm>
            <a:off x="3597196" y="1553900"/>
            <a:ext cx="4762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1400" dirty="0" smtClean="0"/>
              <a:t>8’</a:t>
            </a:r>
            <a:endParaRPr kumimoji="1" lang="en-US" altLang="ja-JP" sz="1400" dirty="0" smtClean="0"/>
          </a:p>
        </p:txBody>
      </p:sp>
      <p:grpSp>
        <p:nvGrpSpPr>
          <p:cNvPr id="50" name="グループ化 49"/>
          <p:cNvGrpSpPr/>
          <p:nvPr/>
        </p:nvGrpSpPr>
        <p:grpSpPr>
          <a:xfrm>
            <a:off x="4947868" y="3625257"/>
            <a:ext cx="1310615" cy="878632"/>
            <a:chOff x="5775544" y="3053452"/>
            <a:chExt cx="1112438" cy="555462"/>
          </a:xfrm>
        </p:grpSpPr>
        <p:sp>
          <p:nvSpPr>
            <p:cNvPr id="53" name="星 24 52"/>
            <p:cNvSpPr/>
            <p:nvPr/>
          </p:nvSpPr>
          <p:spPr>
            <a:xfrm>
              <a:off x="5775544" y="3053452"/>
              <a:ext cx="1112438" cy="555462"/>
            </a:xfrm>
            <a:prstGeom prst="star24">
              <a:avLst/>
            </a:prstGeom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100" dirty="0"/>
            </a:p>
          </p:txBody>
        </p:sp>
        <p:sp>
          <p:nvSpPr>
            <p:cNvPr id="59" name="正方形/長方形 58"/>
            <p:cNvSpPr/>
            <p:nvPr/>
          </p:nvSpPr>
          <p:spPr>
            <a:xfrm>
              <a:off x="5848408" y="3193295"/>
              <a:ext cx="927601" cy="29110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ja-JP" sz="1200" dirty="0" smtClean="0">
                  <a:solidFill>
                    <a:schemeClr val="bg1"/>
                  </a:solidFill>
                </a:rPr>
                <a:t>Template</a:t>
              </a:r>
            </a:p>
            <a:p>
              <a:pPr algn="ctr"/>
              <a:r>
                <a:rPr lang="en-US" altLang="ja-JP" sz="1200" dirty="0" smtClean="0">
                  <a:solidFill>
                    <a:schemeClr val="bg1"/>
                  </a:solidFill>
                </a:rPr>
                <a:t>Processing</a:t>
              </a:r>
            </a:p>
            <a:p>
              <a:pPr algn="ctr"/>
              <a:r>
                <a:rPr lang="en-US" altLang="ja-JP" sz="1200" dirty="0" smtClean="0">
                  <a:solidFill>
                    <a:schemeClr val="bg1"/>
                  </a:solidFill>
                </a:rPr>
                <a:t>Exception</a:t>
              </a:r>
              <a:endParaRPr kumimoji="1" lang="ja-JP" altLang="en-US" sz="1200" dirty="0">
                <a:solidFill>
                  <a:schemeClr val="bg1"/>
                </a:solidFill>
              </a:endParaRPr>
            </a:p>
          </p:txBody>
        </p:sp>
      </p:grpSp>
      <p:sp>
        <p:nvSpPr>
          <p:cNvPr id="85" name="四角形吹き出し 84"/>
          <p:cNvSpPr/>
          <p:nvPr/>
        </p:nvSpPr>
        <p:spPr>
          <a:xfrm>
            <a:off x="3931851" y="4363224"/>
            <a:ext cx="1151878" cy="589108"/>
          </a:xfrm>
          <a:prstGeom prst="wedgeRectCallout">
            <a:avLst>
              <a:gd name="adj1" fmla="val 64332"/>
              <a:gd name="adj2" fmla="val -118745"/>
            </a:avLst>
          </a:prstGeom>
          <a:ln w="190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US" altLang="ja-JP" sz="1400" dirty="0" smtClean="0"/>
              <a:t>8</a:t>
            </a:r>
          </a:p>
          <a:p>
            <a:r>
              <a:rPr lang="en-US" altLang="ja-JP" sz="1400" dirty="0"/>
              <a:t>Occur </a:t>
            </a:r>
            <a:r>
              <a:rPr lang="en-US" altLang="ja-JP" sz="1400" dirty="0" smtClean="0"/>
              <a:t>error</a:t>
            </a:r>
            <a:r>
              <a:rPr lang="en-US" altLang="ja-JP" sz="1400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41311607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" name="Picture 6" descr="http://designleaves.y-com.info/images/material/f_icon/prettyxbrowser_p24_bl_nl_l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86786" y="1580617"/>
            <a:ext cx="1429056" cy="1690270"/>
          </a:xfrm>
          <a:prstGeom prst="rect">
            <a:avLst/>
          </a:prstGeom>
          <a:noFill/>
        </p:spPr>
      </p:pic>
      <p:sp>
        <p:nvSpPr>
          <p:cNvPr id="40" name="正方形/長方形 39"/>
          <p:cNvSpPr/>
          <p:nvPr/>
        </p:nvSpPr>
        <p:spPr>
          <a:xfrm>
            <a:off x="293035" y="2254405"/>
            <a:ext cx="1214446" cy="50006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200" dirty="0" smtClean="0">
                <a:solidFill>
                  <a:schemeClr val="tx1"/>
                </a:solidFill>
              </a:rPr>
              <a:t>Xxx </a:t>
            </a:r>
          </a:p>
          <a:p>
            <a:pPr algn="ctr"/>
            <a:r>
              <a:rPr lang="en-US" altLang="ja-JP" sz="1200" dirty="0" smtClean="0">
                <a:solidFill>
                  <a:schemeClr val="tx1"/>
                </a:solidFill>
              </a:rPr>
              <a:t>screen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43" name="正方形/長方形 42"/>
          <p:cNvSpPr/>
          <p:nvPr/>
        </p:nvSpPr>
        <p:spPr>
          <a:xfrm>
            <a:off x="2853197" y="2111034"/>
            <a:ext cx="1110898" cy="853058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900" dirty="0" smtClean="0"/>
              <a:t>&lt;Spring MVC&gt;</a:t>
            </a:r>
          </a:p>
          <a:p>
            <a:pPr algn="ctr"/>
            <a:r>
              <a:rPr kumimoji="1" lang="en-US" altLang="ja-JP" sz="1200" dirty="0" smtClean="0"/>
              <a:t>Dispatcher</a:t>
            </a:r>
          </a:p>
          <a:p>
            <a:pPr algn="ctr"/>
            <a:r>
              <a:rPr lang="en-US" altLang="ja-JP" sz="1200" dirty="0" smtClean="0"/>
              <a:t>Servlet</a:t>
            </a:r>
            <a:endParaRPr kumimoji="1" lang="ja-JP" altLang="en-US" sz="1200" dirty="0"/>
          </a:p>
        </p:txBody>
      </p:sp>
      <p:sp>
        <p:nvSpPr>
          <p:cNvPr id="46" name="正方形/長方形 45"/>
          <p:cNvSpPr/>
          <p:nvPr/>
        </p:nvSpPr>
        <p:spPr>
          <a:xfrm>
            <a:off x="4968589" y="2119998"/>
            <a:ext cx="1146745" cy="844093"/>
          </a:xfrm>
          <a:prstGeom prst="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 anchorCtr="0"/>
          <a:lstStyle/>
          <a:p>
            <a:pPr algn="ctr"/>
            <a:r>
              <a:rPr kumimoji="1" lang="en-US" altLang="ja-JP" sz="1200" dirty="0" smtClean="0"/>
              <a:t>Controller</a:t>
            </a:r>
            <a:endParaRPr kumimoji="1" lang="ja-JP" altLang="en-US" sz="1200" dirty="0"/>
          </a:p>
        </p:txBody>
      </p:sp>
      <p:sp>
        <p:nvSpPr>
          <p:cNvPr id="57" name="正方形/長方形 56"/>
          <p:cNvSpPr/>
          <p:nvPr/>
        </p:nvSpPr>
        <p:spPr>
          <a:xfrm>
            <a:off x="7811770" y="2106553"/>
            <a:ext cx="1252993" cy="857538"/>
          </a:xfrm>
          <a:prstGeom prst="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 anchorCtr="0"/>
          <a:lstStyle/>
          <a:p>
            <a:pPr algn="ctr"/>
            <a:r>
              <a:rPr lang="en-US" altLang="ja-JP" sz="1200" dirty="0" smtClean="0"/>
              <a:t>Service</a:t>
            </a:r>
          </a:p>
        </p:txBody>
      </p:sp>
      <p:cxnSp>
        <p:nvCxnSpPr>
          <p:cNvPr id="65" name="直線矢印コネクタ 13"/>
          <p:cNvCxnSpPr/>
          <p:nvPr/>
        </p:nvCxnSpPr>
        <p:spPr>
          <a:xfrm>
            <a:off x="3996443" y="2423079"/>
            <a:ext cx="972146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直線矢印コネクタ 13"/>
          <p:cNvCxnSpPr/>
          <p:nvPr/>
        </p:nvCxnSpPr>
        <p:spPr>
          <a:xfrm>
            <a:off x="6151716" y="2403851"/>
            <a:ext cx="1660054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直線矢印コネクタ 13"/>
          <p:cNvCxnSpPr>
            <a:stCxn id="43" idx="2"/>
            <a:endCxn id="245" idx="0"/>
          </p:cNvCxnSpPr>
          <p:nvPr/>
        </p:nvCxnSpPr>
        <p:spPr>
          <a:xfrm rot="5400000">
            <a:off x="2571474" y="2899596"/>
            <a:ext cx="772677" cy="901669"/>
          </a:xfrm>
          <a:prstGeom prst="curvedConnector3">
            <a:avLst>
              <a:gd name="adj1" fmla="val 50000"/>
            </a:avLst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直線矢印コネクタ 13"/>
          <p:cNvCxnSpPr/>
          <p:nvPr/>
        </p:nvCxnSpPr>
        <p:spPr>
          <a:xfrm flipH="1">
            <a:off x="3996443" y="2711398"/>
            <a:ext cx="972146" cy="1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直線矢印コネクタ 13"/>
          <p:cNvCxnSpPr/>
          <p:nvPr/>
        </p:nvCxnSpPr>
        <p:spPr>
          <a:xfrm flipH="1">
            <a:off x="6115335" y="2712658"/>
            <a:ext cx="1696435" cy="0"/>
          </a:xfrm>
          <a:prstGeom prst="straightConnector1">
            <a:avLst/>
          </a:prstGeom>
          <a:ln>
            <a:prstDash val="dash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9" name="テキスト ボックス 118"/>
          <p:cNvSpPr txBox="1"/>
          <p:nvPr/>
        </p:nvSpPr>
        <p:spPr>
          <a:xfrm>
            <a:off x="1799985" y="2096074"/>
            <a:ext cx="47625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</a:t>
            </a:r>
            <a:endParaRPr kumimoji="1" lang="en-US" altLang="ja-JP" sz="16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20" name="テキスト ボックス 119"/>
          <p:cNvSpPr txBox="1"/>
          <p:nvPr/>
        </p:nvSpPr>
        <p:spPr>
          <a:xfrm>
            <a:off x="4142704" y="2060208"/>
            <a:ext cx="47625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16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</a:t>
            </a:r>
            <a:endParaRPr kumimoji="1" lang="en-US" altLang="ja-JP" sz="16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21" name="テキスト ボックス 120"/>
          <p:cNvSpPr txBox="1"/>
          <p:nvPr/>
        </p:nvSpPr>
        <p:spPr>
          <a:xfrm>
            <a:off x="6232060" y="2030870"/>
            <a:ext cx="47625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3</a:t>
            </a:r>
            <a:endParaRPr kumimoji="1" lang="en-US" altLang="ja-JP" sz="16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cxnSp>
        <p:nvCxnSpPr>
          <p:cNvPr id="124" name="直線矢印コネクタ 13"/>
          <p:cNvCxnSpPr>
            <a:stCxn id="57" idx="2"/>
            <a:endCxn id="55" idx="3"/>
          </p:cNvCxnSpPr>
          <p:nvPr/>
        </p:nvCxnSpPr>
        <p:spPr>
          <a:xfrm rot="5400000">
            <a:off x="7579361" y="2834441"/>
            <a:ext cx="729256" cy="988556"/>
          </a:xfrm>
          <a:prstGeom prst="curvedConnector2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2" name="テキスト ボックス 131"/>
          <p:cNvSpPr txBox="1"/>
          <p:nvPr/>
        </p:nvSpPr>
        <p:spPr>
          <a:xfrm>
            <a:off x="7891582" y="3492416"/>
            <a:ext cx="47625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16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4</a:t>
            </a:r>
            <a:endParaRPr kumimoji="1" lang="en-US" altLang="ja-JP" sz="16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57" name="テキスト ボックス 156"/>
          <p:cNvSpPr txBox="1"/>
          <p:nvPr/>
        </p:nvSpPr>
        <p:spPr>
          <a:xfrm>
            <a:off x="4166087" y="2788784"/>
            <a:ext cx="47625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7</a:t>
            </a:r>
            <a:endParaRPr kumimoji="1" lang="en-US" altLang="ja-JP" sz="16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18" name="四角形吹き出し 217"/>
          <p:cNvSpPr/>
          <p:nvPr/>
        </p:nvSpPr>
        <p:spPr>
          <a:xfrm>
            <a:off x="4642337" y="1452382"/>
            <a:ext cx="1325913" cy="451270"/>
          </a:xfrm>
          <a:prstGeom prst="wedgeRectCallout">
            <a:avLst>
              <a:gd name="adj1" fmla="val 56822"/>
              <a:gd name="adj2" fmla="val 211698"/>
            </a:avLst>
          </a:prstGeom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c</a:t>
            </a:r>
            <a:r>
              <a:rPr kumimoji="1" lang="en-US" altLang="ja-JP" sz="1200" dirty="0" smtClean="0">
                <a:solidFill>
                  <a:schemeClr val="tx1"/>
                </a:solidFill>
              </a:rPr>
              <a:t>atch BusinessException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39" name="テキスト ボックス 238"/>
          <p:cNvSpPr txBox="1"/>
          <p:nvPr/>
        </p:nvSpPr>
        <p:spPr>
          <a:xfrm>
            <a:off x="5631776" y="4036691"/>
            <a:ext cx="47625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6</a:t>
            </a:r>
            <a:r>
              <a:rPr lang="en-US" altLang="ja-JP" sz="16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’</a:t>
            </a:r>
            <a:endParaRPr kumimoji="1" lang="en-US" altLang="ja-JP" sz="16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40" name="テキスト ボックス 239"/>
          <p:cNvSpPr txBox="1"/>
          <p:nvPr/>
        </p:nvSpPr>
        <p:spPr>
          <a:xfrm>
            <a:off x="2523943" y="3101610"/>
            <a:ext cx="47625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8</a:t>
            </a:r>
            <a:endParaRPr kumimoji="1" lang="en-US" altLang="ja-JP" sz="16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41" name="テキスト ボックス 240"/>
          <p:cNvSpPr txBox="1"/>
          <p:nvPr/>
        </p:nvSpPr>
        <p:spPr>
          <a:xfrm>
            <a:off x="3021552" y="4580269"/>
            <a:ext cx="47625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9</a:t>
            </a:r>
            <a:endParaRPr kumimoji="1" lang="en-US" altLang="ja-JP" sz="16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42" name="正方形/長方形 241"/>
          <p:cNvSpPr/>
          <p:nvPr/>
        </p:nvSpPr>
        <p:spPr>
          <a:xfrm>
            <a:off x="3545805" y="3621949"/>
            <a:ext cx="1502883" cy="1158862"/>
          </a:xfrm>
          <a:prstGeom prst="rect">
            <a:avLst/>
          </a:prstGeom>
          <a:gradFill>
            <a:gsLst>
              <a:gs pos="0">
                <a:schemeClr val="accent1">
                  <a:tint val="100000"/>
                  <a:shade val="100000"/>
                  <a:satMod val="130000"/>
                </a:schemeClr>
              </a:gs>
              <a:gs pos="13000">
                <a:schemeClr val="accent1">
                  <a:tint val="50000"/>
                  <a:shade val="100000"/>
                  <a:satMod val="350000"/>
                </a:schemeClr>
              </a:gs>
            </a:gsLst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kumimoji="1" lang="en-US" altLang="ja-JP" sz="900" dirty="0" smtClean="0"/>
              <a:t>&lt;Spring MVC&gt;</a:t>
            </a:r>
          </a:p>
          <a:p>
            <a:pPr algn="ctr"/>
            <a:r>
              <a:rPr kumimoji="1" lang="en-US" altLang="ja-JP" sz="1200" dirty="0" smtClean="0"/>
              <a:t>Model</a:t>
            </a:r>
            <a:endParaRPr kumimoji="1" lang="ja-JP" altLang="en-US" sz="1200" dirty="0"/>
          </a:p>
        </p:txBody>
      </p:sp>
      <p:pic>
        <p:nvPicPr>
          <p:cNvPr id="243" name="Picture 6" descr="http://designleaves.y-com.info/images/material/f_icon/prettyxbrowser_p24_bl_nl_l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68240" y="3418483"/>
            <a:ext cx="1429056" cy="1777531"/>
          </a:xfrm>
          <a:prstGeom prst="rect">
            <a:avLst/>
          </a:prstGeom>
          <a:noFill/>
        </p:spPr>
      </p:pic>
      <p:sp>
        <p:nvSpPr>
          <p:cNvPr id="244" name="フローチャート : 書類 243"/>
          <p:cNvSpPr/>
          <p:nvPr/>
        </p:nvSpPr>
        <p:spPr>
          <a:xfrm>
            <a:off x="1362682" y="3331795"/>
            <a:ext cx="874606" cy="741101"/>
          </a:xfrm>
          <a:prstGeom prst="flowChartDocument">
            <a:avLst/>
          </a:prstGeom>
          <a:gradFill>
            <a:gsLst>
              <a:gs pos="0">
                <a:srgbClr val="7030A0"/>
              </a:gs>
              <a:gs pos="0">
                <a:srgbClr val="7030A0"/>
              </a:gs>
              <a:gs pos="100000">
                <a:schemeClr val="accent4">
                  <a:lumMod val="40000"/>
                  <a:lumOff val="60000"/>
                </a:schemeClr>
              </a:gs>
            </a:gsLst>
          </a:gradFill>
          <a:ln>
            <a:solidFill>
              <a:srgbClr val="7030A0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 anchorCtr="0"/>
          <a:lstStyle/>
          <a:p>
            <a:pPr algn="ctr"/>
            <a:r>
              <a:rPr lang="en-US" altLang="ja-JP" sz="1400" dirty="0" smtClean="0">
                <a:solidFill>
                  <a:schemeClr val="bg1"/>
                </a:solidFill>
              </a:rPr>
              <a:t>xxx.html</a:t>
            </a:r>
            <a:endParaRPr kumimoji="1" lang="en-US" altLang="ja-JP" sz="1400" dirty="0" smtClean="0">
              <a:solidFill>
                <a:schemeClr val="bg1"/>
              </a:solidFill>
            </a:endParaRPr>
          </a:p>
        </p:txBody>
      </p:sp>
      <p:sp>
        <p:nvSpPr>
          <p:cNvPr id="245" name="正方形/長方形 244"/>
          <p:cNvSpPr/>
          <p:nvPr/>
        </p:nvSpPr>
        <p:spPr>
          <a:xfrm>
            <a:off x="1992401" y="3736769"/>
            <a:ext cx="1029151" cy="573262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900" dirty="0" smtClean="0"/>
              <a:t>&lt;</a:t>
            </a:r>
            <a:r>
              <a:rPr kumimoji="1" lang="en-US" altLang="ja-JP" sz="900" dirty="0" err="1" smtClean="0"/>
              <a:t>Thymeleaf</a:t>
            </a:r>
            <a:r>
              <a:rPr kumimoji="1" lang="en-US" altLang="ja-JP" sz="900" dirty="0" smtClean="0"/>
              <a:t>&gt;</a:t>
            </a:r>
          </a:p>
          <a:p>
            <a:pPr algn="ctr"/>
            <a:r>
              <a:rPr kumimoji="1" lang="en-US" altLang="ja-JP" sz="1200" dirty="0" err="1" smtClean="0"/>
              <a:t>Thymeleaf</a:t>
            </a:r>
            <a:endParaRPr kumimoji="1" lang="en-US" altLang="ja-JP" sz="1200" dirty="0" smtClean="0"/>
          </a:p>
          <a:p>
            <a:pPr algn="ctr"/>
            <a:r>
              <a:rPr kumimoji="1" lang="en-US" altLang="ja-JP" sz="1200" dirty="0" smtClean="0"/>
              <a:t>View</a:t>
            </a:r>
            <a:endParaRPr kumimoji="1" lang="ja-JP" altLang="en-US" sz="1200" dirty="0"/>
          </a:p>
        </p:txBody>
      </p:sp>
      <p:sp>
        <p:nvSpPr>
          <p:cNvPr id="248" name="正方形/長方形 247"/>
          <p:cNvSpPr/>
          <p:nvPr/>
        </p:nvSpPr>
        <p:spPr>
          <a:xfrm>
            <a:off x="247055" y="4343994"/>
            <a:ext cx="1214446" cy="50006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200" dirty="0" smtClean="0">
                <a:solidFill>
                  <a:schemeClr val="tx1"/>
                </a:solidFill>
              </a:rPr>
              <a:t>Xxx </a:t>
            </a:r>
          </a:p>
          <a:p>
            <a:pPr algn="ctr"/>
            <a:r>
              <a:rPr lang="en-US" altLang="ja-JP" sz="1200" dirty="0" smtClean="0">
                <a:solidFill>
                  <a:schemeClr val="tx1"/>
                </a:solidFill>
              </a:rPr>
              <a:t>screen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49" name="正方形/長方形 248"/>
          <p:cNvSpPr/>
          <p:nvPr/>
        </p:nvSpPr>
        <p:spPr>
          <a:xfrm>
            <a:off x="275545" y="3983888"/>
            <a:ext cx="1214446" cy="50006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200" b="1" dirty="0" smtClean="0">
                <a:solidFill>
                  <a:srgbClr val="FF0000"/>
                </a:solidFill>
              </a:rPr>
              <a:t>Result</a:t>
            </a:r>
          </a:p>
          <a:p>
            <a:pPr algn="ctr"/>
            <a:r>
              <a:rPr lang="en-US" altLang="ja-JP" sz="1200" b="1" dirty="0" smtClean="0">
                <a:solidFill>
                  <a:srgbClr val="FF0000"/>
                </a:solidFill>
              </a:rPr>
              <a:t>Message.</a:t>
            </a:r>
            <a:endParaRPr kumimoji="1" lang="ja-JP" altLang="en-US" sz="1200" b="1" dirty="0">
              <a:solidFill>
                <a:srgbClr val="FF0000"/>
              </a:solidFill>
            </a:endParaRPr>
          </a:p>
        </p:txBody>
      </p:sp>
      <p:cxnSp>
        <p:nvCxnSpPr>
          <p:cNvPr id="273" name="直線矢印コネクタ 13"/>
          <p:cNvCxnSpPr/>
          <p:nvPr/>
        </p:nvCxnSpPr>
        <p:spPr>
          <a:xfrm>
            <a:off x="1480586" y="2410021"/>
            <a:ext cx="1372611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9" name="直線矢印コネクタ 13"/>
          <p:cNvCxnSpPr>
            <a:stCxn id="245" idx="3"/>
            <a:endCxn id="245" idx="2"/>
          </p:cNvCxnSpPr>
          <p:nvPr/>
        </p:nvCxnSpPr>
        <p:spPr>
          <a:xfrm flipH="1">
            <a:off x="2506977" y="4023400"/>
            <a:ext cx="514575" cy="286631"/>
          </a:xfrm>
          <a:prstGeom prst="curvedConnector4">
            <a:avLst>
              <a:gd name="adj1" fmla="val -192232"/>
              <a:gd name="adj2" fmla="val 179754"/>
            </a:avLst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4" name="正方形/長方形 283"/>
          <p:cNvSpPr/>
          <p:nvPr/>
        </p:nvSpPr>
        <p:spPr>
          <a:xfrm>
            <a:off x="3869250" y="4004898"/>
            <a:ext cx="883600" cy="609328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 smtClean="0"/>
              <a:t>Result</a:t>
            </a:r>
          </a:p>
          <a:p>
            <a:pPr algn="ctr"/>
            <a:r>
              <a:rPr kumimoji="1" lang="en-US" altLang="ja-JP" sz="1200" dirty="0" smtClean="0"/>
              <a:t>Message</a:t>
            </a:r>
            <a:endParaRPr kumimoji="1" lang="ja-JP" altLang="en-US" sz="1200" dirty="0"/>
          </a:p>
        </p:txBody>
      </p:sp>
      <p:sp>
        <p:nvSpPr>
          <p:cNvPr id="285" name="正方形/長方形 284"/>
          <p:cNvSpPr/>
          <p:nvPr/>
        </p:nvSpPr>
        <p:spPr>
          <a:xfrm>
            <a:off x="6430958" y="4011669"/>
            <a:ext cx="883600" cy="609328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 smtClean="0"/>
              <a:t>Result</a:t>
            </a:r>
          </a:p>
          <a:p>
            <a:pPr algn="ctr"/>
            <a:r>
              <a:rPr kumimoji="1" lang="en-US" altLang="ja-JP" sz="1200" dirty="0" smtClean="0"/>
              <a:t>Message</a:t>
            </a:r>
            <a:endParaRPr kumimoji="1" lang="ja-JP" altLang="en-US" sz="1200" dirty="0"/>
          </a:p>
        </p:txBody>
      </p:sp>
      <p:cxnSp>
        <p:nvCxnSpPr>
          <p:cNvPr id="286" name="直線コネクタ 285"/>
          <p:cNvCxnSpPr>
            <a:stCxn id="284" idx="3"/>
            <a:endCxn id="285" idx="1"/>
          </p:cNvCxnSpPr>
          <p:nvPr/>
        </p:nvCxnSpPr>
        <p:spPr>
          <a:xfrm>
            <a:off x="4752850" y="4309562"/>
            <a:ext cx="1678108" cy="6771"/>
          </a:xfrm>
          <a:prstGeom prst="line">
            <a:avLst/>
          </a:prstGeom>
          <a:ln w="9525">
            <a:prstDash val="dash"/>
            <a:head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8" name="直線コネクタ 287"/>
          <p:cNvCxnSpPr/>
          <p:nvPr/>
        </p:nvCxnSpPr>
        <p:spPr>
          <a:xfrm flipV="1">
            <a:off x="868083" y="3008859"/>
            <a:ext cx="0" cy="710500"/>
          </a:xfrm>
          <a:prstGeom prst="line">
            <a:avLst/>
          </a:prstGeom>
          <a:ln w="9525">
            <a:prstDash val="dash"/>
            <a:head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1" name="直線矢印コネクタ 13"/>
          <p:cNvCxnSpPr>
            <a:stCxn id="46" idx="2"/>
          </p:cNvCxnSpPr>
          <p:nvPr/>
        </p:nvCxnSpPr>
        <p:spPr>
          <a:xfrm rot="16200000" flipH="1">
            <a:off x="5586276" y="2919776"/>
            <a:ext cx="729257" cy="817885"/>
          </a:xfrm>
          <a:prstGeom prst="curvedConnector2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4" name="テキスト ボックス 303"/>
          <p:cNvSpPr txBox="1"/>
          <p:nvPr/>
        </p:nvSpPr>
        <p:spPr>
          <a:xfrm>
            <a:off x="5416808" y="3413007"/>
            <a:ext cx="47625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6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6</a:t>
            </a:r>
          </a:p>
        </p:txBody>
      </p:sp>
      <p:sp>
        <p:nvSpPr>
          <p:cNvPr id="48" name="フローチャート : 書類 47"/>
          <p:cNvSpPr/>
          <p:nvPr/>
        </p:nvSpPr>
        <p:spPr>
          <a:xfrm>
            <a:off x="4213370" y="502687"/>
            <a:ext cx="857934" cy="597318"/>
          </a:xfrm>
          <a:prstGeom prst="flowChartDocumen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 anchorCtr="0"/>
          <a:lstStyle/>
          <a:p>
            <a:pPr algn="ctr"/>
            <a:r>
              <a:rPr lang="en-US" altLang="ja-JP" sz="1100" dirty="0"/>
              <a:t>Monitoring </a:t>
            </a:r>
            <a:r>
              <a:rPr kumimoji="1" lang="en-US" altLang="ja-JP" sz="1100" dirty="0" smtClean="0"/>
              <a:t>log</a:t>
            </a:r>
          </a:p>
        </p:txBody>
      </p:sp>
      <p:cxnSp>
        <p:nvCxnSpPr>
          <p:cNvPr id="49" name="直線矢印コネクタ 13"/>
          <p:cNvCxnSpPr>
            <a:stCxn id="41" idx="0"/>
            <a:endCxn id="51" idx="3"/>
          </p:cNvCxnSpPr>
          <p:nvPr/>
        </p:nvCxnSpPr>
        <p:spPr>
          <a:xfrm rot="16200000" flipV="1">
            <a:off x="6275112" y="960393"/>
            <a:ext cx="774705" cy="684961"/>
          </a:xfrm>
          <a:prstGeom prst="curvedConnector2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正方形/長方形 40"/>
          <p:cNvSpPr/>
          <p:nvPr/>
        </p:nvSpPr>
        <p:spPr>
          <a:xfrm>
            <a:off x="6708310" y="1690226"/>
            <a:ext cx="593268" cy="1432864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="eaVert" rtlCol="0" anchor="ctr"/>
          <a:lstStyle/>
          <a:p>
            <a:pPr algn="ctr"/>
            <a:r>
              <a:rPr lang="en-US" altLang="ja-JP" sz="900" dirty="0" smtClean="0"/>
              <a:t>&lt;AOP&gt;</a:t>
            </a:r>
          </a:p>
          <a:p>
            <a:pPr algn="ctr"/>
            <a:r>
              <a:rPr lang="en-US" altLang="ja-JP" sz="1200" dirty="0" smtClean="0"/>
              <a:t>ResultMessages</a:t>
            </a:r>
          </a:p>
          <a:p>
            <a:pPr algn="ctr"/>
            <a:r>
              <a:rPr lang="en-US" altLang="ja-JP" sz="1200" dirty="0" smtClean="0"/>
              <a:t>LoggingInterceptor</a:t>
            </a:r>
          </a:p>
        </p:txBody>
      </p:sp>
      <p:sp>
        <p:nvSpPr>
          <p:cNvPr id="56" name="テキスト ボックス 55"/>
          <p:cNvSpPr txBox="1"/>
          <p:nvPr/>
        </p:nvSpPr>
        <p:spPr>
          <a:xfrm>
            <a:off x="6528695" y="708211"/>
            <a:ext cx="47625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5</a:t>
            </a:r>
            <a:endParaRPr kumimoji="1" lang="en-US" altLang="ja-JP" sz="16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8" name="フローチャート : 書類 57"/>
          <p:cNvSpPr/>
          <p:nvPr/>
        </p:nvSpPr>
        <p:spPr>
          <a:xfrm>
            <a:off x="7196764" y="1119758"/>
            <a:ext cx="819975" cy="665248"/>
          </a:xfrm>
          <a:prstGeom prst="flowChartDocumen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t" anchorCtr="0"/>
          <a:lstStyle/>
          <a:p>
            <a:pPr algn="ctr"/>
            <a:r>
              <a:rPr lang="en-US" altLang="ja-JP" sz="1200" dirty="0" smtClean="0"/>
              <a:t>applicationContext.xml</a:t>
            </a:r>
            <a:endParaRPr kumimoji="1" lang="en-US" altLang="ja-JP" sz="1200" dirty="0" smtClean="0"/>
          </a:p>
        </p:txBody>
      </p:sp>
      <p:sp>
        <p:nvSpPr>
          <p:cNvPr id="45" name="フローチャート : 書類 44"/>
          <p:cNvSpPr/>
          <p:nvPr/>
        </p:nvSpPr>
        <p:spPr>
          <a:xfrm>
            <a:off x="3786944" y="923419"/>
            <a:ext cx="857934" cy="597318"/>
          </a:xfrm>
          <a:prstGeom prst="flowChartDocumen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 anchorCtr="0"/>
          <a:lstStyle/>
          <a:p>
            <a:pPr algn="ctr"/>
            <a:r>
              <a:rPr lang="en-US" altLang="ja-JP" sz="1100" dirty="0" smtClean="0"/>
              <a:t>Application</a:t>
            </a:r>
          </a:p>
          <a:p>
            <a:pPr algn="ctr"/>
            <a:r>
              <a:rPr kumimoji="1" lang="en-US" altLang="ja-JP" sz="1100" dirty="0" smtClean="0"/>
              <a:t>log</a:t>
            </a:r>
          </a:p>
        </p:txBody>
      </p:sp>
      <p:sp>
        <p:nvSpPr>
          <p:cNvPr id="50" name="四角形吹き出し 49"/>
          <p:cNvSpPr/>
          <p:nvPr/>
        </p:nvSpPr>
        <p:spPr>
          <a:xfrm>
            <a:off x="7145268" y="567479"/>
            <a:ext cx="1365496" cy="398821"/>
          </a:xfrm>
          <a:prstGeom prst="wedgeRectCallout">
            <a:avLst>
              <a:gd name="adj1" fmla="val -39298"/>
              <a:gd name="adj2" fmla="val 104104"/>
            </a:avLst>
          </a:prstGeom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ja-JP" sz="1200" dirty="0" smtClean="0">
                <a:solidFill>
                  <a:schemeClr val="tx1"/>
                </a:solidFill>
              </a:rPr>
              <a:t>define bean &amp; AOP</a:t>
            </a:r>
            <a:endParaRPr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51" name="正方形/長方形 50"/>
          <p:cNvSpPr/>
          <p:nvPr/>
        </p:nvSpPr>
        <p:spPr>
          <a:xfrm>
            <a:off x="5466132" y="608963"/>
            <a:ext cx="853851" cy="613115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 smtClean="0"/>
              <a:t>Exception</a:t>
            </a:r>
          </a:p>
          <a:p>
            <a:pPr algn="ctr"/>
            <a:r>
              <a:rPr lang="en-US" altLang="ja-JP" sz="1200" dirty="0" smtClean="0"/>
              <a:t>Logger</a:t>
            </a:r>
            <a:endParaRPr kumimoji="1" lang="ja-JP" altLang="en-US" sz="1200" dirty="0"/>
          </a:p>
        </p:txBody>
      </p:sp>
      <p:sp>
        <p:nvSpPr>
          <p:cNvPr id="4" name="右矢印 3"/>
          <p:cNvSpPr/>
          <p:nvPr/>
        </p:nvSpPr>
        <p:spPr>
          <a:xfrm flipH="1">
            <a:off x="4968588" y="783765"/>
            <a:ext cx="499481" cy="344590"/>
          </a:xfrm>
          <a:prstGeom prst="rightArrow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800" dirty="0" smtClean="0">
                <a:solidFill>
                  <a:schemeClr val="tx1"/>
                </a:solidFill>
              </a:rPr>
              <a:t>warn</a:t>
            </a:r>
            <a:endParaRPr kumimoji="1" lang="ja-JP" altLang="en-US" sz="800" dirty="0">
              <a:solidFill>
                <a:schemeClr val="tx1"/>
              </a:solidFill>
            </a:endParaRPr>
          </a:p>
        </p:txBody>
      </p:sp>
      <p:sp>
        <p:nvSpPr>
          <p:cNvPr id="52" name="テキスト ボックス 51"/>
          <p:cNvSpPr txBox="1"/>
          <p:nvPr/>
        </p:nvSpPr>
        <p:spPr>
          <a:xfrm>
            <a:off x="7406188" y="2754471"/>
            <a:ext cx="47625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16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4’</a:t>
            </a:r>
            <a:endParaRPr kumimoji="1" lang="en-US" altLang="ja-JP" sz="16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3" name="テキスト ボックス 52"/>
          <p:cNvSpPr txBox="1"/>
          <p:nvPr/>
        </p:nvSpPr>
        <p:spPr>
          <a:xfrm>
            <a:off x="6224783" y="2756777"/>
            <a:ext cx="47625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16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5’</a:t>
            </a:r>
            <a:endParaRPr kumimoji="1" lang="en-US" altLang="ja-JP" sz="16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9" name="テキスト ボックス 58"/>
          <p:cNvSpPr txBox="1"/>
          <p:nvPr/>
        </p:nvSpPr>
        <p:spPr>
          <a:xfrm>
            <a:off x="391833" y="3191330"/>
            <a:ext cx="47625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16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10</a:t>
            </a:r>
            <a:endParaRPr kumimoji="1" lang="en-US" altLang="ja-JP" sz="16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60" name="フローチャート : 他ページ結合子 59"/>
          <p:cNvSpPr/>
          <p:nvPr/>
        </p:nvSpPr>
        <p:spPr>
          <a:xfrm rot="10800000">
            <a:off x="5702300" y="2571697"/>
            <a:ext cx="422070" cy="252690"/>
          </a:xfrm>
          <a:prstGeom prst="flowChartOffpageConnector">
            <a:avLst/>
          </a:prstGeom>
          <a:gradFill>
            <a:gsLst>
              <a:gs pos="54000">
                <a:srgbClr val="FFC000"/>
              </a:gs>
              <a:gs pos="0">
                <a:srgbClr val="FFFF00"/>
              </a:gs>
              <a:gs pos="100000">
                <a:srgbClr val="FFC000"/>
              </a:gs>
            </a:gsLst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grpSp>
        <p:nvGrpSpPr>
          <p:cNvPr id="54" name="グループ化 53"/>
          <p:cNvGrpSpPr/>
          <p:nvPr/>
        </p:nvGrpSpPr>
        <p:grpSpPr>
          <a:xfrm>
            <a:off x="6337273" y="3422642"/>
            <a:ext cx="1112438" cy="541410"/>
            <a:chOff x="5775544" y="3053452"/>
            <a:chExt cx="1112438" cy="555462"/>
          </a:xfrm>
        </p:grpSpPr>
        <p:sp>
          <p:nvSpPr>
            <p:cNvPr id="55" name="星 24 54"/>
            <p:cNvSpPr/>
            <p:nvPr/>
          </p:nvSpPr>
          <p:spPr>
            <a:xfrm>
              <a:off x="5775544" y="3053452"/>
              <a:ext cx="1112438" cy="555462"/>
            </a:xfrm>
            <a:prstGeom prst="star24">
              <a:avLst/>
            </a:prstGeom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100" dirty="0"/>
            </a:p>
          </p:txBody>
        </p:sp>
        <p:sp>
          <p:nvSpPr>
            <p:cNvPr id="62" name="正方形/長方形 61"/>
            <p:cNvSpPr/>
            <p:nvPr/>
          </p:nvSpPr>
          <p:spPr>
            <a:xfrm>
              <a:off x="5866696" y="3207073"/>
              <a:ext cx="927601" cy="254304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ja-JP" sz="1200" dirty="0" smtClean="0">
                  <a:solidFill>
                    <a:schemeClr val="bg1"/>
                  </a:solidFill>
                </a:rPr>
                <a:t>Business</a:t>
              </a:r>
            </a:p>
            <a:p>
              <a:pPr algn="ctr"/>
              <a:r>
                <a:rPr lang="en-US" altLang="ja-JP" sz="1200" dirty="0" smtClean="0">
                  <a:solidFill>
                    <a:schemeClr val="bg1"/>
                  </a:solidFill>
                </a:rPr>
                <a:t>Exception</a:t>
              </a:r>
              <a:endParaRPr kumimoji="1" lang="ja-JP" altLang="en-US" sz="1200" dirty="0">
                <a:solidFill>
                  <a:schemeClr val="bg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8754504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" name="Picture 6" descr="http://designleaves.y-com.info/images/material/f_icon/prettyxbrowser_p24_bl_nl_l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39193" y="2219996"/>
            <a:ext cx="1429056" cy="1429057"/>
          </a:xfrm>
          <a:prstGeom prst="rect">
            <a:avLst/>
          </a:prstGeom>
          <a:noFill/>
        </p:spPr>
      </p:pic>
      <p:sp>
        <p:nvSpPr>
          <p:cNvPr id="40" name="正方形/長方形 39"/>
          <p:cNvSpPr/>
          <p:nvPr/>
        </p:nvSpPr>
        <p:spPr>
          <a:xfrm>
            <a:off x="374700" y="2739036"/>
            <a:ext cx="1214446" cy="50006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200" dirty="0" smtClean="0">
                <a:solidFill>
                  <a:schemeClr val="tx1"/>
                </a:solidFill>
              </a:rPr>
              <a:t>Xxx </a:t>
            </a:r>
          </a:p>
          <a:p>
            <a:pPr algn="ctr"/>
            <a:r>
              <a:rPr lang="en-US" altLang="ja-JP" sz="1200" dirty="0" smtClean="0">
                <a:solidFill>
                  <a:schemeClr val="tx1"/>
                </a:solidFill>
              </a:rPr>
              <a:t>screen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43" name="正方形/長方形 42"/>
          <p:cNvSpPr/>
          <p:nvPr/>
        </p:nvSpPr>
        <p:spPr>
          <a:xfrm>
            <a:off x="3353957" y="2679641"/>
            <a:ext cx="1110898" cy="826175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900" dirty="0" smtClean="0"/>
              <a:t>&lt;Spring MVC&gt;</a:t>
            </a:r>
          </a:p>
          <a:p>
            <a:pPr algn="ctr"/>
            <a:r>
              <a:rPr kumimoji="1" lang="en-US" altLang="ja-JP" sz="1200" dirty="0" smtClean="0"/>
              <a:t>Dispatcher</a:t>
            </a:r>
          </a:p>
          <a:p>
            <a:pPr algn="ctr"/>
            <a:r>
              <a:rPr lang="en-US" altLang="ja-JP" sz="1200" dirty="0" smtClean="0"/>
              <a:t>Servlet</a:t>
            </a:r>
            <a:endParaRPr kumimoji="1" lang="ja-JP" altLang="en-US" sz="1200" dirty="0"/>
          </a:p>
        </p:txBody>
      </p:sp>
      <p:sp>
        <p:nvSpPr>
          <p:cNvPr id="46" name="正方形/長方形 45"/>
          <p:cNvSpPr/>
          <p:nvPr/>
        </p:nvSpPr>
        <p:spPr>
          <a:xfrm>
            <a:off x="5443138" y="2661382"/>
            <a:ext cx="1146745" cy="817209"/>
          </a:xfrm>
          <a:prstGeom prst="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 anchorCtr="0"/>
          <a:lstStyle/>
          <a:p>
            <a:pPr algn="ctr"/>
            <a:r>
              <a:rPr kumimoji="1" lang="en-US" altLang="ja-JP" sz="1200" dirty="0" smtClean="0"/>
              <a:t>Controller</a:t>
            </a:r>
          </a:p>
        </p:txBody>
      </p:sp>
      <p:sp>
        <p:nvSpPr>
          <p:cNvPr id="57" name="正方形/長方形 56"/>
          <p:cNvSpPr/>
          <p:nvPr/>
        </p:nvSpPr>
        <p:spPr>
          <a:xfrm>
            <a:off x="7587049" y="2656902"/>
            <a:ext cx="1252993" cy="830656"/>
          </a:xfrm>
          <a:prstGeom prst="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 anchorCtr="0"/>
          <a:lstStyle/>
          <a:p>
            <a:pPr algn="ctr"/>
            <a:r>
              <a:rPr lang="en-US" altLang="ja-JP" sz="1200" dirty="0" smtClean="0"/>
              <a:t>Service</a:t>
            </a:r>
          </a:p>
        </p:txBody>
      </p:sp>
      <p:cxnSp>
        <p:nvCxnSpPr>
          <p:cNvPr id="59" name="直線矢印コネクタ 13"/>
          <p:cNvCxnSpPr/>
          <p:nvPr/>
        </p:nvCxnSpPr>
        <p:spPr>
          <a:xfrm>
            <a:off x="1524837" y="2939152"/>
            <a:ext cx="1829120" cy="617"/>
          </a:xfrm>
          <a:prstGeom prst="bentConnector3">
            <a:avLst>
              <a:gd name="adj1" fmla="val 50000"/>
            </a:avLst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直線矢印コネクタ 13"/>
          <p:cNvCxnSpPr/>
          <p:nvPr/>
        </p:nvCxnSpPr>
        <p:spPr>
          <a:xfrm>
            <a:off x="4464855" y="2939152"/>
            <a:ext cx="978283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直線矢印コネクタ 13"/>
          <p:cNvCxnSpPr>
            <a:stCxn id="43" idx="1"/>
          </p:cNvCxnSpPr>
          <p:nvPr/>
        </p:nvCxnSpPr>
        <p:spPr>
          <a:xfrm rot="10800000" flipV="1">
            <a:off x="2612779" y="3092728"/>
            <a:ext cx="741179" cy="1473151"/>
          </a:xfrm>
          <a:prstGeom prst="curvedConnector2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直線矢印コネクタ 13"/>
          <p:cNvCxnSpPr/>
          <p:nvPr/>
        </p:nvCxnSpPr>
        <p:spPr>
          <a:xfrm flipH="1" flipV="1">
            <a:off x="4454976" y="3201055"/>
            <a:ext cx="978283" cy="1"/>
          </a:xfrm>
          <a:prstGeom prst="straightConnector1">
            <a:avLst/>
          </a:prstGeom>
          <a:ln>
            <a:prstDash val="dash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9" name="テキスト ボックス 118"/>
          <p:cNvSpPr txBox="1"/>
          <p:nvPr/>
        </p:nvSpPr>
        <p:spPr>
          <a:xfrm>
            <a:off x="2656439" y="2547802"/>
            <a:ext cx="47625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</a:t>
            </a:r>
            <a:endParaRPr kumimoji="1" lang="en-US" altLang="ja-JP" sz="16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20" name="テキスト ボックス 119"/>
          <p:cNvSpPr txBox="1"/>
          <p:nvPr/>
        </p:nvSpPr>
        <p:spPr>
          <a:xfrm>
            <a:off x="4841378" y="2628783"/>
            <a:ext cx="47625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16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</a:t>
            </a:r>
            <a:endParaRPr kumimoji="1" lang="en-US" altLang="ja-JP" sz="16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21" name="テキスト ボックス 120"/>
          <p:cNvSpPr txBox="1"/>
          <p:nvPr/>
        </p:nvSpPr>
        <p:spPr>
          <a:xfrm>
            <a:off x="7066061" y="2601215"/>
            <a:ext cx="47625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3</a:t>
            </a:r>
            <a:endParaRPr kumimoji="1" lang="en-US" altLang="ja-JP" sz="16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22" name="テキスト ボックス 121"/>
          <p:cNvSpPr txBox="1"/>
          <p:nvPr/>
        </p:nvSpPr>
        <p:spPr>
          <a:xfrm>
            <a:off x="5907828" y="4173791"/>
            <a:ext cx="47625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6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6</a:t>
            </a:r>
          </a:p>
        </p:txBody>
      </p:sp>
      <p:sp>
        <p:nvSpPr>
          <p:cNvPr id="157" name="テキスト ボックス 156"/>
          <p:cNvSpPr txBox="1"/>
          <p:nvPr/>
        </p:nvSpPr>
        <p:spPr>
          <a:xfrm>
            <a:off x="6203915" y="2105535"/>
            <a:ext cx="47625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7</a:t>
            </a:r>
            <a:endParaRPr kumimoji="1" lang="en-US" altLang="ja-JP" sz="16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58" name="テキスト ボックス 157"/>
          <p:cNvSpPr txBox="1"/>
          <p:nvPr/>
        </p:nvSpPr>
        <p:spPr>
          <a:xfrm>
            <a:off x="2334642" y="3397797"/>
            <a:ext cx="47625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6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11</a:t>
            </a:r>
          </a:p>
        </p:txBody>
      </p:sp>
      <p:sp>
        <p:nvSpPr>
          <p:cNvPr id="159" name="テキスト ボックス 158"/>
          <p:cNvSpPr txBox="1"/>
          <p:nvPr/>
        </p:nvSpPr>
        <p:spPr>
          <a:xfrm>
            <a:off x="3359380" y="4118455"/>
            <a:ext cx="47625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16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12</a:t>
            </a:r>
            <a:endParaRPr kumimoji="1" lang="en-US" altLang="ja-JP" sz="16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79" name="正方形/長方形 178"/>
          <p:cNvSpPr/>
          <p:nvPr/>
        </p:nvSpPr>
        <p:spPr>
          <a:xfrm>
            <a:off x="3941490" y="3960119"/>
            <a:ext cx="1502883" cy="1158862"/>
          </a:xfrm>
          <a:prstGeom prst="rect">
            <a:avLst/>
          </a:prstGeom>
          <a:gradFill>
            <a:gsLst>
              <a:gs pos="0">
                <a:schemeClr val="accent1">
                  <a:tint val="100000"/>
                  <a:shade val="100000"/>
                  <a:satMod val="130000"/>
                </a:schemeClr>
              </a:gs>
              <a:gs pos="13000">
                <a:schemeClr val="accent1">
                  <a:tint val="50000"/>
                  <a:shade val="100000"/>
                  <a:satMod val="350000"/>
                </a:schemeClr>
              </a:gs>
            </a:gsLst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kumimoji="1" lang="en-US" altLang="ja-JP" sz="900" dirty="0" smtClean="0"/>
              <a:t>&lt;Spring MVC&gt;</a:t>
            </a:r>
          </a:p>
          <a:p>
            <a:pPr algn="ctr"/>
            <a:r>
              <a:rPr kumimoji="1" lang="en-US" altLang="ja-JP" sz="1200" dirty="0" smtClean="0"/>
              <a:t>Model</a:t>
            </a:r>
            <a:endParaRPr kumimoji="1" lang="ja-JP" altLang="en-US" sz="1200" dirty="0"/>
          </a:p>
        </p:txBody>
      </p:sp>
      <p:cxnSp>
        <p:nvCxnSpPr>
          <p:cNvPr id="38" name="直線矢印コネクタ 13"/>
          <p:cNvCxnSpPr>
            <a:stCxn id="46" idx="2"/>
            <a:endCxn id="101" idx="3"/>
          </p:cNvCxnSpPr>
          <p:nvPr/>
        </p:nvCxnSpPr>
        <p:spPr>
          <a:xfrm rot="5400000">
            <a:off x="4997953" y="3629173"/>
            <a:ext cx="1169141" cy="867976"/>
          </a:xfrm>
          <a:prstGeom prst="curvedConnector2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直線矢印コネクタ 13"/>
          <p:cNvCxnSpPr/>
          <p:nvPr/>
        </p:nvCxnSpPr>
        <p:spPr>
          <a:xfrm rot="16200000" flipH="1">
            <a:off x="4967583" y="1726232"/>
            <a:ext cx="1652165" cy="209178"/>
          </a:xfrm>
          <a:prstGeom prst="bentConnector3">
            <a:avLst>
              <a:gd name="adj1" fmla="val 80"/>
            </a:avLst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直線矢印コネクタ 13"/>
          <p:cNvCxnSpPr/>
          <p:nvPr/>
        </p:nvCxnSpPr>
        <p:spPr>
          <a:xfrm rot="16200000" flipV="1">
            <a:off x="4949777" y="1402764"/>
            <a:ext cx="1993434" cy="514842"/>
          </a:xfrm>
          <a:prstGeom prst="bentConnector3">
            <a:avLst>
              <a:gd name="adj1" fmla="val 99918"/>
            </a:avLst>
          </a:prstGeom>
          <a:ln>
            <a:prstDash val="solid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テキスト ボックス 50"/>
          <p:cNvSpPr txBox="1"/>
          <p:nvPr/>
        </p:nvSpPr>
        <p:spPr>
          <a:xfrm>
            <a:off x="4093545" y="2194894"/>
            <a:ext cx="47625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6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4</a:t>
            </a:r>
          </a:p>
        </p:txBody>
      </p:sp>
      <p:pic>
        <p:nvPicPr>
          <p:cNvPr id="66" name="Picture 6" descr="http://designleaves.y-com.info/images/material/f_icon/prettyxbrowser_p24_bl_nl_l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67395" y="3628512"/>
            <a:ext cx="1429056" cy="1777531"/>
          </a:xfrm>
          <a:prstGeom prst="rect">
            <a:avLst/>
          </a:prstGeom>
          <a:noFill/>
        </p:spPr>
      </p:pic>
      <p:sp>
        <p:nvSpPr>
          <p:cNvPr id="68" name="フローチャート : 書類 67"/>
          <p:cNvSpPr/>
          <p:nvPr/>
        </p:nvSpPr>
        <p:spPr>
          <a:xfrm>
            <a:off x="1522602" y="4228627"/>
            <a:ext cx="874606" cy="681242"/>
          </a:xfrm>
          <a:prstGeom prst="flowChartDocument">
            <a:avLst/>
          </a:prstGeom>
          <a:gradFill>
            <a:gsLst>
              <a:gs pos="0">
                <a:srgbClr val="7030A0"/>
              </a:gs>
              <a:gs pos="100000">
                <a:schemeClr val="accent4">
                  <a:lumMod val="40000"/>
                  <a:lumOff val="60000"/>
                </a:schemeClr>
              </a:gs>
              <a:gs pos="100000">
                <a:schemeClr val="accent4">
                  <a:lumMod val="40000"/>
                  <a:lumOff val="60000"/>
                </a:schemeClr>
              </a:gs>
            </a:gsLst>
          </a:gradFill>
          <a:ln>
            <a:solidFill>
              <a:srgbClr val="7030A0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 anchorCtr="0"/>
          <a:lstStyle/>
          <a:p>
            <a:pPr algn="ctr"/>
            <a:r>
              <a:rPr lang="en-US" altLang="ja-JP" sz="1400" dirty="0" smtClean="0">
                <a:solidFill>
                  <a:schemeClr val="bg1"/>
                </a:solidFill>
              </a:rPr>
              <a:t>yyy.html</a:t>
            </a:r>
            <a:endParaRPr kumimoji="1" lang="en-US" altLang="ja-JP" sz="1400" dirty="0" smtClean="0">
              <a:solidFill>
                <a:schemeClr val="bg1"/>
              </a:solidFill>
            </a:endParaRPr>
          </a:p>
        </p:txBody>
      </p:sp>
      <p:sp>
        <p:nvSpPr>
          <p:cNvPr id="99" name="正方形/長方形 98"/>
          <p:cNvSpPr/>
          <p:nvPr/>
        </p:nvSpPr>
        <p:spPr>
          <a:xfrm>
            <a:off x="2263586" y="4565879"/>
            <a:ext cx="1123667" cy="573262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900" dirty="0" smtClean="0"/>
              <a:t>&lt;</a:t>
            </a:r>
            <a:r>
              <a:rPr kumimoji="1" lang="en-US" altLang="ja-JP" sz="900" dirty="0" err="1" smtClean="0"/>
              <a:t>Thymeleaf</a:t>
            </a:r>
            <a:r>
              <a:rPr kumimoji="1" lang="en-US" altLang="ja-JP" sz="900" dirty="0" smtClean="0"/>
              <a:t>&gt;</a:t>
            </a:r>
          </a:p>
          <a:p>
            <a:pPr algn="ctr"/>
            <a:r>
              <a:rPr lang="en-US" altLang="ja-JP" sz="1200" dirty="0" err="1"/>
              <a:t>Thymeleaf</a:t>
            </a:r>
            <a:endParaRPr lang="en-US" altLang="ja-JP" sz="1200" dirty="0"/>
          </a:p>
          <a:p>
            <a:pPr algn="ctr"/>
            <a:r>
              <a:rPr lang="en-US" altLang="ja-JP" sz="1200" dirty="0"/>
              <a:t>View</a:t>
            </a:r>
            <a:endParaRPr lang="ja-JP" altLang="en-US" sz="1200" dirty="0"/>
          </a:p>
        </p:txBody>
      </p:sp>
      <p:cxnSp>
        <p:nvCxnSpPr>
          <p:cNvPr id="100" name="直線矢印コネクタ 13"/>
          <p:cNvCxnSpPr>
            <a:stCxn id="99" idx="0"/>
            <a:endCxn id="99" idx="3"/>
          </p:cNvCxnSpPr>
          <p:nvPr/>
        </p:nvCxnSpPr>
        <p:spPr>
          <a:xfrm rot="16200000" flipH="1">
            <a:off x="2963020" y="4428278"/>
            <a:ext cx="286631" cy="561833"/>
          </a:xfrm>
          <a:prstGeom prst="curvedConnector4">
            <a:avLst>
              <a:gd name="adj1" fmla="val -35032"/>
              <a:gd name="adj2" fmla="val 269978"/>
            </a:avLst>
          </a:prstGeom>
          <a:ln>
            <a:prstDash val="solid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1" name="正方形/長方形 100"/>
          <p:cNvSpPr/>
          <p:nvPr/>
        </p:nvSpPr>
        <p:spPr>
          <a:xfrm>
            <a:off x="4264935" y="4343068"/>
            <a:ext cx="883600" cy="609328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 smtClean="0"/>
              <a:t>Result</a:t>
            </a:r>
          </a:p>
          <a:p>
            <a:pPr algn="ctr"/>
            <a:r>
              <a:rPr kumimoji="1" lang="en-US" altLang="ja-JP" sz="1200" dirty="0" smtClean="0"/>
              <a:t>Message</a:t>
            </a:r>
            <a:endParaRPr kumimoji="1" lang="ja-JP" altLang="en-US" sz="1200" dirty="0"/>
          </a:p>
        </p:txBody>
      </p:sp>
      <p:sp>
        <p:nvSpPr>
          <p:cNvPr id="102" name="正方形/長方形 101"/>
          <p:cNvSpPr/>
          <p:nvPr/>
        </p:nvSpPr>
        <p:spPr>
          <a:xfrm>
            <a:off x="401595" y="4546840"/>
            <a:ext cx="1214446" cy="50006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200" dirty="0" smtClean="0">
                <a:solidFill>
                  <a:schemeClr val="tx1"/>
                </a:solidFill>
              </a:rPr>
              <a:t>Yyy </a:t>
            </a:r>
          </a:p>
          <a:p>
            <a:pPr algn="ctr"/>
            <a:r>
              <a:rPr lang="en-US" altLang="ja-JP" sz="1200" dirty="0" smtClean="0">
                <a:solidFill>
                  <a:schemeClr val="tx1"/>
                </a:solidFill>
              </a:rPr>
              <a:t>screen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06" name="正方形/長方形 105"/>
          <p:cNvSpPr/>
          <p:nvPr/>
        </p:nvSpPr>
        <p:spPr>
          <a:xfrm>
            <a:off x="419525" y="4177797"/>
            <a:ext cx="1214446" cy="50006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200" b="1" dirty="0" smtClean="0">
                <a:solidFill>
                  <a:srgbClr val="FF0000"/>
                </a:solidFill>
              </a:rPr>
              <a:t>Result</a:t>
            </a:r>
          </a:p>
          <a:p>
            <a:pPr algn="ctr"/>
            <a:r>
              <a:rPr lang="en-US" altLang="ja-JP" sz="1200" b="1" dirty="0" smtClean="0">
                <a:solidFill>
                  <a:srgbClr val="FF0000"/>
                </a:solidFill>
              </a:rPr>
              <a:t>Message.</a:t>
            </a:r>
            <a:endParaRPr kumimoji="1" lang="ja-JP" altLang="en-US" sz="1200" b="1" dirty="0">
              <a:solidFill>
                <a:srgbClr val="FF0000"/>
              </a:solidFill>
            </a:endParaRPr>
          </a:p>
        </p:txBody>
      </p:sp>
      <p:cxnSp>
        <p:nvCxnSpPr>
          <p:cNvPr id="123" name="直線矢印コネクタ 13"/>
          <p:cNvCxnSpPr/>
          <p:nvPr/>
        </p:nvCxnSpPr>
        <p:spPr>
          <a:xfrm>
            <a:off x="6608766" y="2962194"/>
            <a:ext cx="978283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" name="直線矢印コネクタ 13"/>
          <p:cNvCxnSpPr/>
          <p:nvPr/>
        </p:nvCxnSpPr>
        <p:spPr>
          <a:xfrm flipH="1" flipV="1">
            <a:off x="6576920" y="3201054"/>
            <a:ext cx="978283" cy="1"/>
          </a:xfrm>
          <a:prstGeom prst="straightConnector1">
            <a:avLst/>
          </a:prstGeom>
          <a:ln>
            <a:prstDash val="dash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7" name="直線コネクタ 126"/>
          <p:cNvCxnSpPr/>
          <p:nvPr/>
        </p:nvCxnSpPr>
        <p:spPr>
          <a:xfrm flipV="1">
            <a:off x="1026748" y="3413997"/>
            <a:ext cx="0" cy="549521"/>
          </a:xfrm>
          <a:prstGeom prst="line">
            <a:avLst/>
          </a:prstGeom>
          <a:ln w="9525">
            <a:prstDash val="dash"/>
            <a:head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テキスト ボックス 49"/>
          <p:cNvSpPr txBox="1"/>
          <p:nvPr/>
        </p:nvSpPr>
        <p:spPr>
          <a:xfrm>
            <a:off x="5548703" y="1381846"/>
            <a:ext cx="47625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6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5</a:t>
            </a:r>
          </a:p>
        </p:txBody>
      </p:sp>
      <p:sp>
        <p:nvSpPr>
          <p:cNvPr id="47" name="正方形/長方形 46"/>
          <p:cNvSpPr/>
          <p:nvPr/>
        </p:nvSpPr>
        <p:spPr>
          <a:xfrm>
            <a:off x="4368269" y="433513"/>
            <a:ext cx="1320802" cy="75487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000" dirty="0"/>
              <a:t>&lt;Spring </a:t>
            </a:r>
            <a:r>
              <a:rPr lang="en-US" altLang="ja-JP" sz="1000" dirty="0" smtClean="0"/>
              <a:t>MVC&gt;</a:t>
            </a:r>
          </a:p>
          <a:p>
            <a:pPr algn="ctr"/>
            <a:r>
              <a:rPr lang="en-US" altLang="ja-JP" sz="1200" dirty="0" smtClean="0"/>
              <a:t>ExceptionHandler</a:t>
            </a:r>
          </a:p>
          <a:p>
            <a:pPr algn="ctr"/>
            <a:r>
              <a:rPr lang="en-US" altLang="ja-JP" sz="1200" dirty="0" smtClean="0"/>
              <a:t>ExceptionResolver</a:t>
            </a:r>
            <a:endParaRPr kumimoji="1" lang="ja-JP" altLang="en-US" sz="1200" dirty="0"/>
          </a:p>
        </p:txBody>
      </p:sp>
      <p:cxnSp>
        <p:nvCxnSpPr>
          <p:cNvPr id="58" name="直線矢印コネクタ 13"/>
          <p:cNvCxnSpPr/>
          <p:nvPr/>
        </p:nvCxnSpPr>
        <p:spPr>
          <a:xfrm rot="5400000" flipH="1" flipV="1">
            <a:off x="3387456" y="1706235"/>
            <a:ext cx="1727342" cy="201539"/>
          </a:xfrm>
          <a:prstGeom prst="bentConnector2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正方形/長方形 59"/>
          <p:cNvSpPr/>
          <p:nvPr/>
        </p:nvSpPr>
        <p:spPr>
          <a:xfrm>
            <a:off x="3043038" y="1381846"/>
            <a:ext cx="1820393" cy="547371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900" dirty="0" smtClean="0"/>
              <a:t>&lt;AOP&gt;</a:t>
            </a:r>
          </a:p>
          <a:p>
            <a:pPr algn="ctr"/>
            <a:r>
              <a:rPr lang="en-US" altLang="ja-JP" sz="1200" dirty="0" smtClean="0"/>
              <a:t>HandlerExceptionResolver</a:t>
            </a:r>
          </a:p>
          <a:p>
            <a:pPr algn="ctr"/>
            <a:r>
              <a:rPr lang="en-US" altLang="ja-JP" sz="1200" dirty="0" smtClean="0"/>
              <a:t>LoggingInterceptor</a:t>
            </a:r>
            <a:endParaRPr kumimoji="1" lang="ja-JP" altLang="en-US" sz="1200" dirty="0"/>
          </a:p>
        </p:txBody>
      </p:sp>
      <p:sp>
        <p:nvSpPr>
          <p:cNvPr id="62" name="フローチャート : 書類 61"/>
          <p:cNvSpPr/>
          <p:nvPr/>
        </p:nvSpPr>
        <p:spPr>
          <a:xfrm>
            <a:off x="477431" y="290792"/>
            <a:ext cx="857934" cy="597318"/>
          </a:xfrm>
          <a:prstGeom prst="flowChartDocumen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 anchorCtr="0"/>
          <a:lstStyle/>
          <a:p>
            <a:pPr algn="ctr"/>
            <a:r>
              <a:rPr lang="en-US" altLang="ja-JP" sz="1100" dirty="0"/>
              <a:t>Monitoring </a:t>
            </a:r>
            <a:r>
              <a:rPr kumimoji="1" lang="en-US" altLang="ja-JP" sz="1100" dirty="0" smtClean="0"/>
              <a:t>log</a:t>
            </a:r>
          </a:p>
        </p:txBody>
      </p:sp>
      <p:sp>
        <p:nvSpPr>
          <p:cNvPr id="63" name="フローチャート : 書類 62"/>
          <p:cNvSpPr/>
          <p:nvPr/>
        </p:nvSpPr>
        <p:spPr>
          <a:xfrm>
            <a:off x="137726" y="746907"/>
            <a:ext cx="857934" cy="597318"/>
          </a:xfrm>
          <a:prstGeom prst="flowChartDocumen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 anchorCtr="0"/>
          <a:lstStyle/>
          <a:p>
            <a:pPr algn="ctr"/>
            <a:r>
              <a:rPr lang="en-US" altLang="ja-JP" sz="1100" dirty="0" smtClean="0"/>
              <a:t>Application</a:t>
            </a:r>
          </a:p>
          <a:p>
            <a:pPr algn="ctr"/>
            <a:r>
              <a:rPr kumimoji="1" lang="en-US" altLang="ja-JP" sz="1100" dirty="0" smtClean="0"/>
              <a:t>log</a:t>
            </a:r>
          </a:p>
        </p:txBody>
      </p:sp>
      <p:cxnSp>
        <p:nvCxnSpPr>
          <p:cNvPr id="67" name="直線矢印コネクタ 13"/>
          <p:cNvCxnSpPr>
            <a:stCxn id="60" idx="1"/>
            <a:endCxn id="49" idx="3"/>
          </p:cNvCxnSpPr>
          <p:nvPr/>
        </p:nvCxnSpPr>
        <p:spPr>
          <a:xfrm rot="10800000">
            <a:off x="2612776" y="812352"/>
            <a:ext cx="430262" cy="843181"/>
          </a:xfrm>
          <a:prstGeom prst="bentConnector3">
            <a:avLst>
              <a:gd name="adj1" fmla="val 50000"/>
            </a:avLst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直線矢印コネクタ 13"/>
          <p:cNvCxnSpPr/>
          <p:nvPr/>
        </p:nvCxnSpPr>
        <p:spPr>
          <a:xfrm rot="5400000">
            <a:off x="3653423" y="666998"/>
            <a:ext cx="718354" cy="675480"/>
          </a:xfrm>
          <a:prstGeom prst="bentConnector3">
            <a:avLst>
              <a:gd name="adj1" fmla="val 2578"/>
            </a:avLst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4" name="テキスト ボックス 103"/>
          <p:cNvSpPr txBox="1"/>
          <p:nvPr/>
        </p:nvSpPr>
        <p:spPr>
          <a:xfrm>
            <a:off x="2862325" y="1060008"/>
            <a:ext cx="47625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6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9</a:t>
            </a:r>
          </a:p>
        </p:txBody>
      </p:sp>
      <p:sp>
        <p:nvSpPr>
          <p:cNvPr id="105" name="テキスト ボックス 104"/>
          <p:cNvSpPr txBox="1"/>
          <p:nvPr/>
        </p:nvSpPr>
        <p:spPr>
          <a:xfrm>
            <a:off x="3949419" y="367052"/>
            <a:ext cx="47625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6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8</a:t>
            </a:r>
          </a:p>
        </p:txBody>
      </p:sp>
      <p:cxnSp>
        <p:nvCxnSpPr>
          <p:cNvPr id="124" name="直線矢印コネクタ 13"/>
          <p:cNvCxnSpPr/>
          <p:nvPr/>
        </p:nvCxnSpPr>
        <p:spPr>
          <a:xfrm>
            <a:off x="3674860" y="1929217"/>
            <a:ext cx="0" cy="75009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8" name="テキスト ボックス 127"/>
          <p:cNvSpPr txBox="1"/>
          <p:nvPr/>
        </p:nvSpPr>
        <p:spPr>
          <a:xfrm>
            <a:off x="3257810" y="2011103"/>
            <a:ext cx="47625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6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10</a:t>
            </a:r>
          </a:p>
        </p:txBody>
      </p:sp>
      <p:sp>
        <p:nvSpPr>
          <p:cNvPr id="134" name="フローチャート : 書類 133"/>
          <p:cNvSpPr/>
          <p:nvPr/>
        </p:nvSpPr>
        <p:spPr>
          <a:xfrm>
            <a:off x="2377486" y="1814790"/>
            <a:ext cx="819975" cy="517272"/>
          </a:xfrm>
          <a:prstGeom prst="flowChartDocumen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t" anchorCtr="0"/>
          <a:lstStyle/>
          <a:p>
            <a:pPr algn="ctr"/>
            <a:r>
              <a:rPr lang="en-US" altLang="ja-JP" sz="1200" dirty="0"/>
              <a:t>spring-mvc.xml</a:t>
            </a:r>
          </a:p>
        </p:txBody>
      </p:sp>
      <p:sp>
        <p:nvSpPr>
          <p:cNvPr id="138" name="四角形吹き出し 137"/>
          <p:cNvSpPr/>
          <p:nvPr/>
        </p:nvSpPr>
        <p:spPr>
          <a:xfrm>
            <a:off x="906398" y="1980969"/>
            <a:ext cx="1365496" cy="398821"/>
          </a:xfrm>
          <a:prstGeom prst="wedgeRectCallout">
            <a:avLst>
              <a:gd name="adj1" fmla="val 64432"/>
              <a:gd name="adj2" fmla="val -8285"/>
            </a:avLst>
          </a:prstGeom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ja-JP" sz="1200" dirty="0" smtClean="0">
                <a:solidFill>
                  <a:schemeClr val="tx1"/>
                </a:solidFill>
              </a:rPr>
              <a:t>define bean &amp; AOP</a:t>
            </a:r>
            <a:endParaRPr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54" name="テキスト ボックス 53"/>
          <p:cNvSpPr txBox="1"/>
          <p:nvPr/>
        </p:nvSpPr>
        <p:spPr>
          <a:xfrm>
            <a:off x="7035228" y="3228520"/>
            <a:ext cx="47625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16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3’</a:t>
            </a:r>
            <a:endParaRPr kumimoji="1" lang="en-US" altLang="ja-JP" sz="16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5" name="テキスト ボックス 54"/>
          <p:cNvSpPr txBox="1"/>
          <p:nvPr/>
        </p:nvSpPr>
        <p:spPr>
          <a:xfrm>
            <a:off x="4778623" y="3218238"/>
            <a:ext cx="47625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16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3’</a:t>
            </a:r>
            <a:endParaRPr kumimoji="1" lang="en-US" altLang="ja-JP" sz="16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6" name="テキスト ボックス 55"/>
          <p:cNvSpPr txBox="1"/>
          <p:nvPr/>
        </p:nvSpPr>
        <p:spPr>
          <a:xfrm>
            <a:off x="532568" y="3529884"/>
            <a:ext cx="47625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16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13</a:t>
            </a:r>
            <a:endParaRPr kumimoji="1" lang="en-US" altLang="ja-JP" sz="16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69" name="フローチャート : 他ページ結合子 68"/>
          <p:cNvSpPr/>
          <p:nvPr/>
        </p:nvSpPr>
        <p:spPr>
          <a:xfrm rot="10800000">
            <a:off x="5637603" y="2636076"/>
            <a:ext cx="508350" cy="213911"/>
          </a:xfrm>
          <a:prstGeom prst="flowChartOffpageConnector">
            <a:avLst/>
          </a:prstGeom>
          <a:gradFill>
            <a:gsLst>
              <a:gs pos="54000">
                <a:srgbClr val="FFC000"/>
              </a:gs>
              <a:gs pos="0">
                <a:srgbClr val="FFFF00"/>
              </a:gs>
              <a:gs pos="100000">
                <a:srgbClr val="FFC000"/>
              </a:gs>
            </a:gsLst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70" name="四角形吹き出し 69"/>
          <p:cNvSpPr/>
          <p:nvPr/>
        </p:nvSpPr>
        <p:spPr>
          <a:xfrm>
            <a:off x="6682615" y="1781559"/>
            <a:ext cx="1440856" cy="764111"/>
          </a:xfrm>
          <a:prstGeom prst="wedgeRectCallout">
            <a:avLst>
              <a:gd name="adj1" fmla="val -97975"/>
              <a:gd name="adj2" fmla="val 77858"/>
            </a:avLst>
          </a:prstGeom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sz="1200" dirty="0" smtClean="0">
                <a:solidFill>
                  <a:schemeClr val="tx1"/>
                </a:solidFill>
              </a:rPr>
              <a:t>Define</a:t>
            </a:r>
          </a:p>
          <a:p>
            <a:pPr algn="ctr"/>
            <a:r>
              <a:rPr lang="en-US" altLang="ja-JP" sz="1200" dirty="0" smtClean="0">
                <a:solidFill>
                  <a:schemeClr val="tx1"/>
                </a:solidFill>
              </a:rPr>
              <a:t>@ExceptionHandler(XxxException.class)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grpSp>
        <p:nvGrpSpPr>
          <p:cNvPr id="71" name="グループ化 70"/>
          <p:cNvGrpSpPr/>
          <p:nvPr/>
        </p:nvGrpSpPr>
        <p:grpSpPr>
          <a:xfrm>
            <a:off x="7674630" y="3247987"/>
            <a:ext cx="1112438" cy="733854"/>
            <a:chOff x="5775544" y="3053452"/>
            <a:chExt cx="1112438" cy="555462"/>
          </a:xfrm>
        </p:grpSpPr>
        <p:sp>
          <p:nvSpPr>
            <p:cNvPr id="73" name="星 24 72"/>
            <p:cNvSpPr/>
            <p:nvPr/>
          </p:nvSpPr>
          <p:spPr>
            <a:xfrm>
              <a:off x="5775544" y="3053452"/>
              <a:ext cx="1112438" cy="555462"/>
            </a:xfrm>
            <a:prstGeom prst="star24">
              <a:avLst/>
            </a:prstGeom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100" dirty="0"/>
            </a:p>
          </p:txBody>
        </p:sp>
        <p:sp>
          <p:nvSpPr>
            <p:cNvPr id="74" name="正方形/長方形 73"/>
            <p:cNvSpPr/>
            <p:nvPr/>
          </p:nvSpPr>
          <p:spPr>
            <a:xfrm>
              <a:off x="5866696" y="3207073"/>
              <a:ext cx="927601" cy="254304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ja-JP" sz="1200" dirty="0" smtClean="0">
                  <a:solidFill>
                    <a:schemeClr val="bg1"/>
                  </a:solidFill>
                </a:rPr>
                <a:t>Xxx</a:t>
              </a:r>
            </a:p>
            <a:p>
              <a:pPr algn="ctr"/>
              <a:r>
                <a:rPr lang="en-US" altLang="ja-JP" sz="1200" dirty="0" smtClean="0">
                  <a:solidFill>
                    <a:schemeClr val="bg1"/>
                  </a:solidFill>
                </a:rPr>
                <a:t>Exception</a:t>
              </a:r>
              <a:endParaRPr kumimoji="1" lang="ja-JP" altLang="en-US" sz="1200" dirty="0">
                <a:solidFill>
                  <a:schemeClr val="bg1"/>
                </a:solidFill>
              </a:endParaRPr>
            </a:p>
          </p:txBody>
        </p:sp>
      </p:grpSp>
      <p:sp>
        <p:nvSpPr>
          <p:cNvPr id="76" name="右矢印 75"/>
          <p:cNvSpPr/>
          <p:nvPr/>
        </p:nvSpPr>
        <p:spPr>
          <a:xfrm flipH="1">
            <a:off x="1253613" y="817856"/>
            <a:ext cx="576385" cy="344590"/>
          </a:xfrm>
          <a:prstGeom prst="rightArrow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000" dirty="0" smtClean="0">
                <a:solidFill>
                  <a:schemeClr val="tx1"/>
                </a:solidFill>
              </a:rPr>
              <a:t>error</a:t>
            </a:r>
            <a:endParaRPr kumimoji="1" lang="ja-JP" altLang="en-US" sz="1000" dirty="0">
              <a:solidFill>
                <a:schemeClr val="tx1"/>
              </a:solidFill>
            </a:endParaRPr>
          </a:p>
        </p:txBody>
      </p:sp>
      <p:sp>
        <p:nvSpPr>
          <p:cNvPr id="64" name="右矢印 63"/>
          <p:cNvSpPr/>
          <p:nvPr/>
        </p:nvSpPr>
        <p:spPr>
          <a:xfrm flipH="1">
            <a:off x="1198544" y="645561"/>
            <a:ext cx="576385" cy="344590"/>
          </a:xfrm>
          <a:prstGeom prst="rightArrow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000" dirty="0" smtClean="0">
                <a:solidFill>
                  <a:schemeClr val="tx1"/>
                </a:solidFill>
              </a:rPr>
              <a:t>warn</a:t>
            </a:r>
          </a:p>
        </p:txBody>
      </p:sp>
      <p:sp>
        <p:nvSpPr>
          <p:cNvPr id="75" name="右矢印 74"/>
          <p:cNvSpPr/>
          <p:nvPr/>
        </p:nvSpPr>
        <p:spPr>
          <a:xfrm flipH="1">
            <a:off x="1131739" y="473266"/>
            <a:ext cx="627186" cy="344590"/>
          </a:xfrm>
          <a:prstGeom prst="rightArrow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000" dirty="0" smtClean="0">
                <a:solidFill>
                  <a:schemeClr val="tx1"/>
                </a:solidFill>
              </a:rPr>
              <a:t>Info</a:t>
            </a:r>
          </a:p>
        </p:txBody>
      </p:sp>
      <p:sp>
        <p:nvSpPr>
          <p:cNvPr id="49" name="正方形/長方形 48"/>
          <p:cNvSpPr/>
          <p:nvPr/>
        </p:nvSpPr>
        <p:spPr>
          <a:xfrm>
            <a:off x="1758925" y="462255"/>
            <a:ext cx="853851" cy="700191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 smtClean="0"/>
              <a:t>Exception</a:t>
            </a:r>
          </a:p>
          <a:p>
            <a:pPr algn="ctr"/>
            <a:r>
              <a:rPr lang="en-US" altLang="ja-JP" sz="1200" dirty="0" smtClean="0"/>
              <a:t>Logger</a:t>
            </a:r>
            <a:endParaRPr kumimoji="1" lang="ja-JP" altLang="en-US" sz="1200" dirty="0"/>
          </a:p>
        </p:txBody>
      </p:sp>
    </p:spTree>
    <p:extLst>
      <p:ext uri="{BB962C8B-B14F-4D97-AF65-F5344CB8AC3E}">
        <p14:creationId xmlns:p14="http://schemas.microsoft.com/office/powerpoint/2010/main" val="2970632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" name="Picture 6" descr="http://designleaves.y-com.info/images/material/f_icon/prettyxbrowser_p24_bl_nl_l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95675" y="413696"/>
            <a:ext cx="1429056" cy="1429057"/>
          </a:xfrm>
          <a:prstGeom prst="rect">
            <a:avLst/>
          </a:prstGeom>
          <a:noFill/>
        </p:spPr>
      </p:pic>
      <p:sp>
        <p:nvSpPr>
          <p:cNvPr id="40" name="正方形/長方形 39"/>
          <p:cNvSpPr/>
          <p:nvPr/>
        </p:nvSpPr>
        <p:spPr>
          <a:xfrm>
            <a:off x="302980" y="951093"/>
            <a:ext cx="1214446" cy="50006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200" dirty="0" smtClean="0">
                <a:solidFill>
                  <a:schemeClr val="tx1"/>
                </a:solidFill>
              </a:rPr>
              <a:t>Xxx </a:t>
            </a:r>
          </a:p>
          <a:p>
            <a:pPr algn="ctr"/>
            <a:r>
              <a:rPr lang="en-US" altLang="ja-JP" sz="1200" dirty="0" smtClean="0">
                <a:solidFill>
                  <a:schemeClr val="tx1"/>
                </a:solidFill>
              </a:rPr>
              <a:t>screen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43" name="正方形/長方形 42"/>
          <p:cNvSpPr/>
          <p:nvPr/>
        </p:nvSpPr>
        <p:spPr>
          <a:xfrm>
            <a:off x="3300167" y="859746"/>
            <a:ext cx="1110898" cy="826175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900" dirty="0" smtClean="0"/>
              <a:t>&lt;Spring MVC&gt;</a:t>
            </a:r>
          </a:p>
          <a:p>
            <a:pPr algn="ctr"/>
            <a:r>
              <a:rPr kumimoji="1" lang="en-US" altLang="ja-JP" sz="1200" dirty="0" smtClean="0"/>
              <a:t>Dispatcher</a:t>
            </a:r>
          </a:p>
          <a:p>
            <a:pPr algn="ctr"/>
            <a:r>
              <a:rPr lang="en-US" altLang="ja-JP" sz="1200" dirty="0" smtClean="0"/>
              <a:t>Servlet</a:t>
            </a:r>
            <a:endParaRPr kumimoji="1" lang="ja-JP" altLang="en-US" sz="1200" dirty="0"/>
          </a:p>
        </p:txBody>
      </p:sp>
      <p:sp>
        <p:nvSpPr>
          <p:cNvPr id="46" name="正方形/長方形 45"/>
          <p:cNvSpPr/>
          <p:nvPr/>
        </p:nvSpPr>
        <p:spPr>
          <a:xfrm>
            <a:off x="5389348" y="868382"/>
            <a:ext cx="1146745" cy="817209"/>
          </a:xfrm>
          <a:prstGeom prst="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 anchorCtr="0"/>
          <a:lstStyle/>
          <a:p>
            <a:pPr algn="ctr"/>
            <a:r>
              <a:rPr kumimoji="1" lang="en-US" altLang="ja-JP" sz="1200" dirty="0" smtClean="0"/>
              <a:t>Controller</a:t>
            </a:r>
          </a:p>
        </p:txBody>
      </p:sp>
      <p:sp>
        <p:nvSpPr>
          <p:cNvPr id="47" name="正方形/長方形 46"/>
          <p:cNvSpPr/>
          <p:nvPr/>
        </p:nvSpPr>
        <p:spPr>
          <a:xfrm>
            <a:off x="3065528" y="3354756"/>
            <a:ext cx="1493663" cy="75487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000" dirty="0"/>
              <a:t>&lt;Spring MVC </a:t>
            </a:r>
            <a:r>
              <a:rPr lang="en-US" altLang="ja-JP" sz="1000" dirty="0" smtClean="0"/>
              <a:t>Extention&gt;</a:t>
            </a:r>
          </a:p>
          <a:p>
            <a:pPr algn="ctr"/>
            <a:r>
              <a:rPr lang="en-US" altLang="ja-JP" sz="1200" dirty="0" smtClean="0"/>
              <a:t>SystemException</a:t>
            </a:r>
          </a:p>
          <a:p>
            <a:pPr algn="ctr"/>
            <a:r>
              <a:rPr lang="en-US" altLang="ja-JP" sz="1200" dirty="0" smtClean="0"/>
              <a:t>Resolver</a:t>
            </a:r>
            <a:endParaRPr kumimoji="1" lang="ja-JP" altLang="en-US" sz="1200" dirty="0"/>
          </a:p>
        </p:txBody>
      </p:sp>
      <p:pic>
        <p:nvPicPr>
          <p:cNvPr id="49" name="Picture 6" descr="http://designleaves.y-com.info/images/material/f_icon/prettyxbrowser_p24_bl_nl_l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87790" y="2413440"/>
            <a:ext cx="1429056" cy="2431060"/>
          </a:xfrm>
          <a:prstGeom prst="rect">
            <a:avLst/>
          </a:prstGeom>
          <a:noFill/>
        </p:spPr>
      </p:pic>
      <p:sp>
        <p:nvSpPr>
          <p:cNvPr id="50" name="正方形/長方形 49"/>
          <p:cNvSpPr/>
          <p:nvPr/>
        </p:nvSpPr>
        <p:spPr>
          <a:xfrm>
            <a:off x="295095" y="3777697"/>
            <a:ext cx="1214446" cy="50006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200" dirty="0" smtClean="0">
                <a:solidFill>
                  <a:schemeClr val="tx1"/>
                </a:solidFill>
              </a:rPr>
              <a:t>System Error </a:t>
            </a:r>
          </a:p>
          <a:p>
            <a:pPr algn="ctr"/>
            <a:r>
              <a:rPr lang="en-US" altLang="ja-JP" sz="1200" dirty="0" smtClean="0">
                <a:solidFill>
                  <a:schemeClr val="tx1"/>
                </a:solidFill>
              </a:rPr>
              <a:t>screen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52" name="フローチャート : 書類 51"/>
          <p:cNvSpPr/>
          <p:nvPr/>
        </p:nvSpPr>
        <p:spPr>
          <a:xfrm>
            <a:off x="1154133" y="4049879"/>
            <a:ext cx="1165285" cy="681242"/>
          </a:xfrm>
          <a:prstGeom prst="flowChartDocument">
            <a:avLst/>
          </a:prstGeom>
          <a:gradFill>
            <a:gsLst>
              <a:gs pos="0">
                <a:schemeClr val="accent3">
                  <a:tint val="50000"/>
                  <a:satMod val="300000"/>
                </a:schemeClr>
              </a:gs>
              <a:gs pos="0">
                <a:srgbClr val="7030A0"/>
              </a:gs>
              <a:gs pos="100000">
                <a:schemeClr val="accent4">
                  <a:lumMod val="40000"/>
                  <a:lumOff val="60000"/>
                </a:schemeClr>
              </a:gs>
            </a:gsLst>
          </a:gradFill>
          <a:ln>
            <a:solidFill>
              <a:srgbClr val="7030A0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t" anchorCtr="0"/>
          <a:lstStyle/>
          <a:p>
            <a:pPr algn="ctr"/>
            <a:r>
              <a:rPr lang="en-US" altLang="ja-JP" sz="1200" dirty="0" smtClean="0">
                <a:solidFill>
                  <a:schemeClr val="bg1"/>
                </a:solidFill>
              </a:rPr>
              <a:t>System</a:t>
            </a:r>
          </a:p>
          <a:p>
            <a:pPr algn="ctr"/>
            <a:r>
              <a:rPr lang="en-US" altLang="ja-JP" sz="1200" dirty="0" smtClean="0">
                <a:solidFill>
                  <a:schemeClr val="bg1"/>
                </a:solidFill>
              </a:rPr>
              <a:t>Exception.html</a:t>
            </a:r>
            <a:endParaRPr kumimoji="1" lang="en-US" altLang="ja-JP" sz="1200" dirty="0" smtClean="0">
              <a:solidFill>
                <a:schemeClr val="bg1"/>
              </a:solidFill>
            </a:endParaRPr>
          </a:p>
        </p:txBody>
      </p:sp>
      <p:sp>
        <p:nvSpPr>
          <p:cNvPr id="57" name="正方形/長方形 56"/>
          <p:cNvSpPr/>
          <p:nvPr/>
        </p:nvSpPr>
        <p:spPr>
          <a:xfrm>
            <a:off x="7533259" y="872867"/>
            <a:ext cx="1252993" cy="830656"/>
          </a:xfrm>
          <a:prstGeom prst="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 anchorCtr="0"/>
          <a:lstStyle/>
          <a:p>
            <a:pPr algn="ctr"/>
            <a:r>
              <a:rPr lang="en-US" altLang="ja-JP" sz="1200" dirty="0" smtClean="0"/>
              <a:t>Service</a:t>
            </a:r>
          </a:p>
        </p:txBody>
      </p:sp>
      <p:cxnSp>
        <p:nvCxnSpPr>
          <p:cNvPr id="59" name="直線矢印コネクタ 13"/>
          <p:cNvCxnSpPr/>
          <p:nvPr/>
        </p:nvCxnSpPr>
        <p:spPr>
          <a:xfrm>
            <a:off x="1452282" y="1174231"/>
            <a:ext cx="1847885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直線矢印コネクタ 13"/>
          <p:cNvCxnSpPr/>
          <p:nvPr/>
        </p:nvCxnSpPr>
        <p:spPr>
          <a:xfrm>
            <a:off x="4411065" y="1128225"/>
            <a:ext cx="978283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直線矢印コネクタ 13"/>
          <p:cNvCxnSpPr>
            <a:endCxn id="69" idx="0"/>
          </p:cNvCxnSpPr>
          <p:nvPr/>
        </p:nvCxnSpPr>
        <p:spPr>
          <a:xfrm rot="5400000">
            <a:off x="1739077" y="1969603"/>
            <a:ext cx="2147104" cy="986419"/>
          </a:xfrm>
          <a:prstGeom prst="curvedConnector3">
            <a:avLst>
              <a:gd name="adj1" fmla="val 646"/>
            </a:avLst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直線矢印コネクタ 13"/>
          <p:cNvCxnSpPr/>
          <p:nvPr/>
        </p:nvCxnSpPr>
        <p:spPr>
          <a:xfrm flipH="1" flipV="1">
            <a:off x="4411065" y="1382282"/>
            <a:ext cx="978283" cy="1"/>
          </a:xfrm>
          <a:prstGeom prst="straightConnector1">
            <a:avLst/>
          </a:prstGeom>
          <a:ln>
            <a:prstDash val="dash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9" name="テキスト ボックス 118"/>
          <p:cNvSpPr txBox="1"/>
          <p:nvPr/>
        </p:nvSpPr>
        <p:spPr>
          <a:xfrm>
            <a:off x="2602649" y="826522"/>
            <a:ext cx="47625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</a:t>
            </a:r>
            <a:endParaRPr kumimoji="1" lang="en-US" altLang="ja-JP" sz="16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20" name="テキスト ボックス 119"/>
          <p:cNvSpPr txBox="1"/>
          <p:nvPr/>
        </p:nvSpPr>
        <p:spPr>
          <a:xfrm>
            <a:off x="4787588" y="841551"/>
            <a:ext cx="47625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16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</a:t>
            </a:r>
            <a:endParaRPr kumimoji="1" lang="en-US" altLang="ja-JP" sz="16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21" name="テキスト ボックス 120"/>
          <p:cNvSpPr txBox="1"/>
          <p:nvPr/>
        </p:nvSpPr>
        <p:spPr>
          <a:xfrm>
            <a:off x="7078445" y="861998"/>
            <a:ext cx="47625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3</a:t>
            </a:r>
            <a:endParaRPr kumimoji="1" lang="en-US" altLang="ja-JP" sz="16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58" name="テキスト ボックス 157"/>
          <p:cNvSpPr txBox="1"/>
          <p:nvPr/>
        </p:nvSpPr>
        <p:spPr>
          <a:xfrm>
            <a:off x="1899974" y="2088658"/>
            <a:ext cx="47625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16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10</a:t>
            </a:r>
            <a:endParaRPr kumimoji="1" lang="en-US" altLang="ja-JP" sz="16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1" name="テキスト ボックス 50"/>
          <p:cNvSpPr txBox="1"/>
          <p:nvPr/>
        </p:nvSpPr>
        <p:spPr>
          <a:xfrm>
            <a:off x="4082941" y="1840819"/>
            <a:ext cx="47625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6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5</a:t>
            </a:r>
          </a:p>
        </p:txBody>
      </p:sp>
      <p:cxnSp>
        <p:nvCxnSpPr>
          <p:cNvPr id="123" name="直線矢印コネクタ 13"/>
          <p:cNvCxnSpPr/>
          <p:nvPr/>
        </p:nvCxnSpPr>
        <p:spPr>
          <a:xfrm>
            <a:off x="6547921" y="1151266"/>
            <a:ext cx="978283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" name="直線矢印コネクタ 13"/>
          <p:cNvCxnSpPr/>
          <p:nvPr/>
        </p:nvCxnSpPr>
        <p:spPr>
          <a:xfrm flipH="1" flipV="1">
            <a:off x="6538955" y="1389257"/>
            <a:ext cx="978283" cy="1"/>
          </a:xfrm>
          <a:prstGeom prst="straightConnector1">
            <a:avLst/>
          </a:prstGeom>
          <a:ln>
            <a:prstDash val="dash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直線矢印コネクタ 13"/>
          <p:cNvCxnSpPr>
            <a:stCxn id="57" idx="2"/>
          </p:cNvCxnSpPr>
          <p:nvPr/>
        </p:nvCxnSpPr>
        <p:spPr>
          <a:xfrm flipH="1">
            <a:off x="8023148" y="1703523"/>
            <a:ext cx="136608" cy="723689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直線矢印コネクタ 13"/>
          <p:cNvCxnSpPr>
            <a:endCxn id="76" idx="2"/>
          </p:cNvCxnSpPr>
          <p:nvPr/>
        </p:nvCxnSpPr>
        <p:spPr>
          <a:xfrm rot="5400000">
            <a:off x="3331370" y="2469089"/>
            <a:ext cx="1531130" cy="2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直線矢印コネクタ 13"/>
          <p:cNvCxnSpPr/>
          <p:nvPr/>
        </p:nvCxnSpPr>
        <p:spPr>
          <a:xfrm flipV="1">
            <a:off x="3630707" y="1712488"/>
            <a:ext cx="0" cy="595217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正方形/長方形 61"/>
          <p:cNvSpPr/>
          <p:nvPr/>
        </p:nvSpPr>
        <p:spPr>
          <a:xfrm>
            <a:off x="2376224" y="4809645"/>
            <a:ext cx="1502883" cy="1158862"/>
          </a:xfrm>
          <a:prstGeom prst="rect">
            <a:avLst/>
          </a:prstGeom>
          <a:gradFill>
            <a:gsLst>
              <a:gs pos="0">
                <a:schemeClr val="accent1">
                  <a:tint val="100000"/>
                  <a:shade val="100000"/>
                  <a:satMod val="130000"/>
                </a:schemeClr>
              </a:gs>
              <a:gs pos="13000">
                <a:schemeClr val="accent1">
                  <a:tint val="50000"/>
                  <a:shade val="100000"/>
                  <a:satMod val="350000"/>
                </a:schemeClr>
              </a:gs>
            </a:gsLst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kumimoji="1" lang="en-US" altLang="ja-JP" sz="900" dirty="0" smtClean="0"/>
              <a:t>&lt;Servlet API&gt;</a:t>
            </a:r>
          </a:p>
          <a:p>
            <a:pPr algn="ctr"/>
            <a:r>
              <a:rPr kumimoji="1" lang="en-US" altLang="ja-JP" sz="1200" dirty="0" smtClean="0"/>
              <a:t>HttpServlet</a:t>
            </a:r>
          </a:p>
          <a:p>
            <a:pPr algn="ctr"/>
            <a:r>
              <a:rPr kumimoji="1" lang="en-US" altLang="ja-JP" sz="1200" dirty="0" smtClean="0"/>
              <a:t>Request</a:t>
            </a:r>
            <a:endParaRPr kumimoji="1" lang="ja-JP" altLang="en-US" sz="1200" dirty="0"/>
          </a:p>
        </p:txBody>
      </p:sp>
      <p:cxnSp>
        <p:nvCxnSpPr>
          <p:cNvPr id="73" name="直線矢印コネクタ 13"/>
          <p:cNvCxnSpPr>
            <a:stCxn id="69" idx="3"/>
            <a:endCxn id="69" idx="2"/>
          </p:cNvCxnSpPr>
          <p:nvPr/>
        </p:nvCxnSpPr>
        <p:spPr>
          <a:xfrm flipH="1">
            <a:off x="2319419" y="3822995"/>
            <a:ext cx="561833" cy="286631"/>
          </a:xfrm>
          <a:prstGeom prst="curvedConnector4">
            <a:avLst>
              <a:gd name="adj1" fmla="val -20914"/>
              <a:gd name="adj2" fmla="val 412309"/>
            </a:avLst>
          </a:prstGeom>
          <a:ln>
            <a:prstDash val="solid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2" name="角丸四角形 81"/>
          <p:cNvSpPr/>
          <p:nvPr/>
        </p:nvSpPr>
        <p:spPr>
          <a:xfrm>
            <a:off x="2473241" y="4897271"/>
            <a:ext cx="1308847" cy="440304"/>
          </a:xfrm>
          <a:prstGeom prst="roundRect">
            <a:avLst/>
          </a:prstGeom>
          <a:gradFill>
            <a:gsLst>
              <a:gs pos="0">
                <a:srgbClr val="8488C4"/>
              </a:gs>
              <a:gs pos="53000">
                <a:srgbClr val="D4DEFF"/>
              </a:gs>
              <a:gs pos="83000">
                <a:srgbClr val="D4DEFF"/>
              </a:gs>
              <a:gs pos="100000">
                <a:srgbClr val="96AB94"/>
              </a:gs>
            </a:gsLst>
            <a:lin ang="16200000" scaled="0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e</a:t>
            </a:r>
            <a:r>
              <a:rPr lang="en-US" altLang="ja-JP" sz="1200" dirty="0" smtClean="0">
                <a:solidFill>
                  <a:schemeClr val="tx1"/>
                </a:solidFill>
              </a:rPr>
              <a:t>xception code</a:t>
            </a:r>
          </a:p>
          <a:p>
            <a:pPr algn="ctr"/>
            <a:r>
              <a:rPr kumimoji="1" lang="en-US" altLang="ja-JP" sz="1200" dirty="0" smtClean="0">
                <a:solidFill>
                  <a:schemeClr val="tx1"/>
                </a:solidFill>
              </a:rPr>
              <a:t>(error code)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83" name="正方形/長方形 82"/>
          <p:cNvSpPr/>
          <p:nvPr/>
        </p:nvSpPr>
        <p:spPr>
          <a:xfrm>
            <a:off x="302980" y="3269891"/>
            <a:ext cx="1214446" cy="50006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200" b="1" dirty="0">
                <a:solidFill>
                  <a:srgbClr val="FF0000"/>
                </a:solidFill>
              </a:rPr>
              <a:t>e</a:t>
            </a:r>
            <a:r>
              <a:rPr kumimoji="1" lang="en-US" altLang="ja-JP" sz="1200" b="1" dirty="0" smtClean="0">
                <a:solidFill>
                  <a:srgbClr val="FF0000"/>
                </a:solidFill>
              </a:rPr>
              <a:t>xception code</a:t>
            </a:r>
          </a:p>
          <a:p>
            <a:pPr algn="ctr"/>
            <a:r>
              <a:rPr lang="en-US" altLang="ja-JP" sz="1200" b="1" dirty="0" smtClean="0">
                <a:solidFill>
                  <a:srgbClr val="FF0000"/>
                </a:solidFill>
              </a:rPr>
              <a:t>+</a:t>
            </a:r>
          </a:p>
          <a:p>
            <a:pPr algn="ctr"/>
            <a:r>
              <a:rPr kumimoji="1" lang="en-US" altLang="ja-JP" sz="1200" b="1" dirty="0" smtClean="0">
                <a:solidFill>
                  <a:srgbClr val="FF0000"/>
                </a:solidFill>
              </a:rPr>
              <a:t>Message.</a:t>
            </a:r>
            <a:endParaRPr kumimoji="1" lang="ja-JP" altLang="en-US" sz="1200" b="1" dirty="0">
              <a:solidFill>
                <a:srgbClr val="FF0000"/>
              </a:solidFill>
            </a:endParaRPr>
          </a:p>
        </p:txBody>
      </p:sp>
      <p:sp>
        <p:nvSpPr>
          <p:cNvPr id="104" name="テキスト ボックス 103"/>
          <p:cNvSpPr txBox="1"/>
          <p:nvPr/>
        </p:nvSpPr>
        <p:spPr>
          <a:xfrm>
            <a:off x="8163982" y="1983996"/>
            <a:ext cx="47625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6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4</a:t>
            </a:r>
          </a:p>
        </p:txBody>
      </p:sp>
      <p:cxnSp>
        <p:nvCxnSpPr>
          <p:cNvPr id="105" name="直線矢印コネクタ 13"/>
          <p:cNvCxnSpPr>
            <a:stCxn id="47" idx="2"/>
          </p:cNvCxnSpPr>
          <p:nvPr/>
        </p:nvCxnSpPr>
        <p:spPr>
          <a:xfrm rot="5400000" flipH="1" flipV="1">
            <a:off x="5387460" y="1649756"/>
            <a:ext cx="884769" cy="4034971"/>
          </a:xfrm>
          <a:prstGeom prst="curvedConnector3">
            <a:avLst>
              <a:gd name="adj1" fmla="val -72445"/>
            </a:avLst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9" name="テキスト ボックス 108"/>
          <p:cNvSpPr txBox="1"/>
          <p:nvPr/>
        </p:nvSpPr>
        <p:spPr>
          <a:xfrm>
            <a:off x="5842819" y="4745173"/>
            <a:ext cx="47625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16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6</a:t>
            </a:r>
            <a:endParaRPr kumimoji="1" lang="en-US" altLang="ja-JP" sz="16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cxnSp>
        <p:nvCxnSpPr>
          <p:cNvPr id="110" name="直線矢印コネクタ 13"/>
          <p:cNvCxnSpPr>
            <a:stCxn id="47" idx="2"/>
            <a:endCxn id="82" idx="0"/>
          </p:cNvCxnSpPr>
          <p:nvPr/>
        </p:nvCxnSpPr>
        <p:spPr>
          <a:xfrm rot="5400000">
            <a:off x="3076191" y="4161101"/>
            <a:ext cx="787645" cy="684695"/>
          </a:xfrm>
          <a:prstGeom prst="curvedConnector3">
            <a:avLst>
              <a:gd name="adj1" fmla="val 50000"/>
            </a:avLst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4" name="テキスト ボックス 113"/>
          <p:cNvSpPr txBox="1"/>
          <p:nvPr/>
        </p:nvSpPr>
        <p:spPr>
          <a:xfrm>
            <a:off x="3336109" y="4155132"/>
            <a:ext cx="47625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16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6</a:t>
            </a:r>
            <a:r>
              <a:rPr kumimoji="1" lang="en-US" altLang="ja-JP" sz="16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’</a:t>
            </a:r>
          </a:p>
        </p:txBody>
      </p:sp>
      <p:sp>
        <p:nvSpPr>
          <p:cNvPr id="115" name="テキスト ボックス 114"/>
          <p:cNvSpPr txBox="1"/>
          <p:nvPr/>
        </p:nvSpPr>
        <p:spPr>
          <a:xfrm>
            <a:off x="3305838" y="1842753"/>
            <a:ext cx="47625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6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9</a:t>
            </a:r>
          </a:p>
        </p:txBody>
      </p:sp>
      <p:sp>
        <p:nvSpPr>
          <p:cNvPr id="116" name="テキスト ボックス 115"/>
          <p:cNvSpPr txBox="1"/>
          <p:nvPr/>
        </p:nvSpPr>
        <p:spPr>
          <a:xfrm>
            <a:off x="2473241" y="4324409"/>
            <a:ext cx="47625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16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11</a:t>
            </a:r>
            <a:endParaRPr kumimoji="1" lang="en-US" altLang="ja-JP" sz="16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17" name="四角形吹き出し 116"/>
          <p:cNvSpPr/>
          <p:nvPr/>
        </p:nvSpPr>
        <p:spPr>
          <a:xfrm>
            <a:off x="302980" y="4767949"/>
            <a:ext cx="1525671" cy="552251"/>
          </a:xfrm>
          <a:prstGeom prst="wedgeRectCallout">
            <a:avLst>
              <a:gd name="adj1" fmla="val -34360"/>
              <a:gd name="adj2" fmla="val -141927"/>
            </a:avLst>
          </a:prstGeom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ja-JP" sz="1200" dirty="0">
                <a:solidFill>
                  <a:schemeClr val="tx1"/>
                </a:solidFill>
              </a:rPr>
              <a:t>m</a:t>
            </a:r>
            <a:r>
              <a:rPr kumimoji="1" lang="en-US" altLang="ja-JP" sz="1200" dirty="0" smtClean="0">
                <a:solidFill>
                  <a:schemeClr val="tx1"/>
                </a:solidFill>
              </a:rPr>
              <a:t>essage is get from message resources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cxnSp>
        <p:nvCxnSpPr>
          <p:cNvPr id="118" name="直線コネクタ 117"/>
          <p:cNvCxnSpPr/>
          <p:nvPr/>
        </p:nvCxnSpPr>
        <p:spPr>
          <a:xfrm flipV="1">
            <a:off x="916050" y="1578504"/>
            <a:ext cx="0" cy="1329261"/>
          </a:xfrm>
          <a:prstGeom prst="line">
            <a:avLst/>
          </a:prstGeom>
          <a:ln w="9525">
            <a:prstDash val="dash"/>
            <a:head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フローチャート : 書類 43"/>
          <p:cNvSpPr/>
          <p:nvPr/>
        </p:nvSpPr>
        <p:spPr>
          <a:xfrm>
            <a:off x="6114075" y="2744294"/>
            <a:ext cx="857934" cy="597318"/>
          </a:xfrm>
          <a:prstGeom prst="flowChartDocumen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 anchorCtr="0"/>
          <a:lstStyle/>
          <a:p>
            <a:pPr algn="ctr"/>
            <a:r>
              <a:rPr lang="en-US" altLang="ja-JP" sz="1100" dirty="0"/>
              <a:t>Monitoring </a:t>
            </a:r>
            <a:r>
              <a:rPr kumimoji="1" lang="en-US" altLang="ja-JP" sz="1100" dirty="0" smtClean="0"/>
              <a:t>log</a:t>
            </a:r>
          </a:p>
        </p:txBody>
      </p:sp>
      <p:sp>
        <p:nvSpPr>
          <p:cNvPr id="58" name="テキスト ボックス 57"/>
          <p:cNvSpPr txBox="1"/>
          <p:nvPr/>
        </p:nvSpPr>
        <p:spPr>
          <a:xfrm>
            <a:off x="4753248" y="2607708"/>
            <a:ext cx="47625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6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8</a:t>
            </a:r>
          </a:p>
        </p:txBody>
      </p:sp>
      <p:sp>
        <p:nvSpPr>
          <p:cNvPr id="61" name="フローチャート : 書類 60"/>
          <p:cNvSpPr/>
          <p:nvPr/>
        </p:nvSpPr>
        <p:spPr>
          <a:xfrm>
            <a:off x="4282296" y="3849513"/>
            <a:ext cx="819975" cy="595190"/>
          </a:xfrm>
          <a:prstGeom prst="flowChartDocumen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t" anchorCtr="0"/>
          <a:lstStyle/>
          <a:p>
            <a:pPr algn="ctr"/>
            <a:r>
              <a:rPr lang="en-US" altLang="ja-JP" sz="1400" dirty="0"/>
              <a:t>spring-mvc.xml</a:t>
            </a:r>
            <a:endParaRPr kumimoji="1" lang="en-US" altLang="ja-JP" sz="1400" dirty="0" smtClean="0"/>
          </a:p>
        </p:txBody>
      </p:sp>
      <p:sp>
        <p:nvSpPr>
          <p:cNvPr id="63" name="フローチャート : 書類 62"/>
          <p:cNvSpPr/>
          <p:nvPr/>
        </p:nvSpPr>
        <p:spPr>
          <a:xfrm>
            <a:off x="6347911" y="3180379"/>
            <a:ext cx="857934" cy="597318"/>
          </a:xfrm>
          <a:prstGeom prst="flowChartDocumen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 anchorCtr="0"/>
          <a:lstStyle/>
          <a:p>
            <a:pPr algn="ctr"/>
            <a:r>
              <a:rPr lang="en-US" altLang="ja-JP" sz="1100" dirty="0" smtClean="0"/>
              <a:t>Application</a:t>
            </a:r>
          </a:p>
          <a:p>
            <a:pPr algn="ctr"/>
            <a:r>
              <a:rPr kumimoji="1" lang="en-US" altLang="ja-JP" sz="1100" dirty="0" smtClean="0"/>
              <a:t>log</a:t>
            </a:r>
          </a:p>
        </p:txBody>
      </p:sp>
      <p:sp>
        <p:nvSpPr>
          <p:cNvPr id="66" name="四角形吹き出し 65"/>
          <p:cNvSpPr/>
          <p:nvPr/>
        </p:nvSpPr>
        <p:spPr>
          <a:xfrm>
            <a:off x="5229498" y="3859006"/>
            <a:ext cx="1493118" cy="592252"/>
          </a:xfrm>
          <a:prstGeom prst="wedgeRectCallout">
            <a:avLst>
              <a:gd name="adj1" fmla="val -64815"/>
              <a:gd name="adj2" fmla="val -39582"/>
            </a:avLst>
          </a:prstGeom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sz="1200" dirty="0" smtClean="0">
                <a:solidFill>
                  <a:schemeClr val="tx1"/>
                </a:solidFill>
              </a:rPr>
              <a:t>define bean &amp; exception</a:t>
            </a:r>
          </a:p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h</a:t>
            </a:r>
            <a:r>
              <a:rPr lang="en-US" altLang="ja-JP" sz="1200" dirty="0" smtClean="0">
                <a:solidFill>
                  <a:schemeClr val="tx1"/>
                </a:solidFill>
              </a:rPr>
              <a:t>andling rule</a:t>
            </a:r>
            <a:endParaRPr lang="en-US" altLang="ja-JP" sz="1200" dirty="0">
              <a:solidFill>
                <a:schemeClr val="tx1"/>
              </a:solidFill>
            </a:endParaRPr>
          </a:p>
        </p:txBody>
      </p:sp>
      <p:sp>
        <p:nvSpPr>
          <p:cNvPr id="54" name="正方形/長方形 53"/>
          <p:cNvSpPr/>
          <p:nvPr/>
        </p:nvSpPr>
        <p:spPr>
          <a:xfrm>
            <a:off x="2871891" y="2307705"/>
            <a:ext cx="1820393" cy="547371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900" dirty="0" smtClean="0"/>
              <a:t>&lt;AOP&gt;</a:t>
            </a:r>
          </a:p>
          <a:p>
            <a:pPr algn="ctr"/>
            <a:r>
              <a:rPr lang="en-US" altLang="ja-JP" sz="1200" dirty="0" smtClean="0"/>
              <a:t>HandlerExceptionResolver</a:t>
            </a:r>
          </a:p>
          <a:p>
            <a:pPr algn="ctr"/>
            <a:r>
              <a:rPr lang="en-US" altLang="ja-JP" sz="1200" dirty="0" smtClean="0"/>
              <a:t>LoggingInterceptor</a:t>
            </a:r>
            <a:endParaRPr kumimoji="1" lang="ja-JP" altLang="en-US" sz="1200" dirty="0"/>
          </a:p>
        </p:txBody>
      </p:sp>
      <p:cxnSp>
        <p:nvCxnSpPr>
          <p:cNvPr id="74" name="直線矢印コネクタ 13"/>
          <p:cNvCxnSpPr>
            <a:stCxn id="54" idx="3"/>
            <a:endCxn id="53" idx="0"/>
          </p:cNvCxnSpPr>
          <p:nvPr/>
        </p:nvCxnSpPr>
        <p:spPr>
          <a:xfrm>
            <a:off x="4692284" y="2581391"/>
            <a:ext cx="522230" cy="393585"/>
          </a:xfrm>
          <a:prstGeom prst="bentConnector2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直線矢印コネクタ 13"/>
          <p:cNvCxnSpPr/>
          <p:nvPr/>
        </p:nvCxnSpPr>
        <p:spPr>
          <a:xfrm flipV="1">
            <a:off x="3630707" y="2851589"/>
            <a:ext cx="0" cy="499679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7" name="テキスト ボックス 76"/>
          <p:cNvSpPr txBox="1"/>
          <p:nvPr/>
        </p:nvSpPr>
        <p:spPr>
          <a:xfrm>
            <a:off x="3309763" y="3016202"/>
            <a:ext cx="47625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6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7</a:t>
            </a:r>
          </a:p>
        </p:txBody>
      </p:sp>
      <p:sp>
        <p:nvSpPr>
          <p:cNvPr id="87" name="フローチャート : 書類 86"/>
          <p:cNvSpPr/>
          <p:nvPr/>
        </p:nvSpPr>
        <p:spPr>
          <a:xfrm>
            <a:off x="4581385" y="1883712"/>
            <a:ext cx="819975" cy="595190"/>
          </a:xfrm>
          <a:prstGeom prst="flowChartDocumen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t" anchorCtr="0"/>
          <a:lstStyle/>
          <a:p>
            <a:pPr algn="ctr"/>
            <a:r>
              <a:rPr lang="en-US" altLang="ja-JP" sz="1400" dirty="0"/>
              <a:t>spring-mvc.xml</a:t>
            </a:r>
            <a:endParaRPr kumimoji="1" lang="en-US" altLang="ja-JP" sz="1400" dirty="0" smtClean="0"/>
          </a:p>
        </p:txBody>
      </p:sp>
      <p:sp>
        <p:nvSpPr>
          <p:cNvPr id="88" name="四角形吹き出し 87"/>
          <p:cNvSpPr/>
          <p:nvPr/>
        </p:nvSpPr>
        <p:spPr>
          <a:xfrm>
            <a:off x="5539653" y="1953862"/>
            <a:ext cx="1365496" cy="398821"/>
          </a:xfrm>
          <a:prstGeom prst="wedgeRectCallout">
            <a:avLst>
              <a:gd name="adj1" fmla="val -67528"/>
              <a:gd name="adj2" fmla="val -12781"/>
            </a:avLst>
          </a:prstGeom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ja-JP" sz="1200" dirty="0" smtClean="0">
                <a:solidFill>
                  <a:schemeClr val="tx1"/>
                </a:solidFill>
              </a:rPr>
              <a:t>define bean &amp; AOP</a:t>
            </a:r>
            <a:endParaRPr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64" name="テキスト ボックス 63"/>
          <p:cNvSpPr txBox="1"/>
          <p:nvPr/>
        </p:nvSpPr>
        <p:spPr>
          <a:xfrm>
            <a:off x="6802532" y="1382899"/>
            <a:ext cx="47625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6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4’</a:t>
            </a:r>
          </a:p>
        </p:txBody>
      </p:sp>
      <p:sp>
        <p:nvSpPr>
          <p:cNvPr id="67" name="テキスト ボックス 66"/>
          <p:cNvSpPr txBox="1"/>
          <p:nvPr/>
        </p:nvSpPr>
        <p:spPr>
          <a:xfrm>
            <a:off x="4728144" y="1358655"/>
            <a:ext cx="47625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6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4’</a:t>
            </a:r>
          </a:p>
        </p:txBody>
      </p:sp>
      <p:sp>
        <p:nvSpPr>
          <p:cNvPr id="68" name="テキスト ボックス 67"/>
          <p:cNvSpPr txBox="1"/>
          <p:nvPr/>
        </p:nvSpPr>
        <p:spPr>
          <a:xfrm>
            <a:off x="440880" y="2124855"/>
            <a:ext cx="47625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16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12</a:t>
            </a:r>
            <a:endParaRPr kumimoji="1" lang="en-US" altLang="ja-JP" sz="16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76" name="フローチャート : 他ページ結合子 75"/>
          <p:cNvSpPr/>
          <p:nvPr/>
        </p:nvSpPr>
        <p:spPr>
          <a:xfrm rot="10800000">
            <a:off x="3871704" y="3234655"/>
            <a:ext cx="450460" cy="213912"/>
          </a:xfrm>
          <a:prstGeom prst="flowChartOffpageConnector">
            <a:avLst/>
          </a:prstGeom>
          <a:gradFill>
            <a:gsLst>
              <a:gs pos="54000">
                <a:srgbClr val="FFC000"/>
              </a:gs>
              <a:gs pos="0">
                <a:srgbClr val="FFFF00"/>
              </a:gs>
              <a:gs pos="100000">
                <a:srgbClr val="FFC000"/>
              </a:gs>
            </a:gsLst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152" name="右矢印 151"/>
          <p:cNvSpPr/>
          <p:nvPr/>
        </p:nvSpPr>
        <p:spPr>
          <a:xfrm>
            <a:off x="5630305" y="3341612"/>
            <a:ext cx="592096" cy="344590"/>
          </a:xfrm>
          <a:prstGeom prst="rightArrow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000" dirty="0" smtClean="0">
                <a:solidFill>
                  <a:schemeClr val="tx1"/>
                </a:solidFill>
              </a:rPr>
              <a:t>error</a:t>
            </a:r>
            <a:endParaRPr kumimoji="1" lang="en-US" altLang="ja-JP" sz="1000" dirty="0" smtClean="0">
              <a:solidFill>
                <a:schemeClr val="tx1"/>
              </a:solidFill>
            </a:endParaRPr>
          </a:p>
        </p:txBody>
      </p:sp>
      <p:sp>
        <p:nvSpPr>
          <p:cNvPr id="151" name="右矢印 150"/>
          <p:cNvSpPr/>
          <p:nvPr/>
        </p:nvSpPr>
        <p:spPr>
          <a:xfrm>
            <a:off x="5630305" y="3178973"/>
            <a:ext cx="592096" cy="344590"/>
          </a:xfrm>
          <a:prstGeom prst="rightArrow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000" dirty="0" smtClean="0">
                <a:solidFill>
                  <a:schemeClr val="tx1"/>
                </a:solidFill>
              </a:rPr>
              <a:t>warn</a:t>
            </a:r>
          </a:p>
        </p:txBody>
      </p:sp>
      <p:sp>
        <p:nvSpPr>
          <p:cNvPr id="60" name="右矢印 59"/>
          <p:cNvSpPr/>
          <p:nvPr/>
        </p:nvSpPr>
        <p:spPr>
          <a:xfrm>
            <a:off x="5630305" y="2997022"/>
            <a:ext cx="592096" cy="344590"/>
          </a:xfrm>
          <a:prstGeom prst="rightArrow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000" dirty="0" smtClean="0">
                <a:solidFill>
                  <a:schemeClr val="tx1"/>
                </a:solidFill>
              </a:rPr>
              <a:t>Info</a:t>
            </a:r>
            <a:endParaRPr lang="en-US" altLang="ja-JP" sz="1000" dirty="0">
              <a:solidFill>
                <a:schemeClr val="tx1"/>
              </a:solidFill>
            </a:endParaRPr>
          </a:p>
        </p:txBody>
      </p:sp>
      <p:sp>
        <p:nvSpPr>
          <p:cNvPr id="53" name="正方形/長方形 52"/>
          <p:cNvSpPr/>
          <p:nvPr/>
        </p:nvSpPr>
        <p:spPr>
          <a:xfrm>
            <a:off x="4787588" y="2974976"/>
            <a:ext cx="853851" cy="711226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 smtClean="0"/>
              <a:t>Exception</a:t>
            </a:r>
          </a:p>
          <a:p>
            <a:pPr algn="ctr"/>
            <a:r>
              <a:rPr lang="en-US" altLang="ja-JP" sz="1200" dirty="0" smtClean="0"/>
              <a:t>Logger</a:t>
            </a:r>
            <a:endParaRPr kumimoji="1" lang="ja-JP" altLang="en-US" sz="1200" dirty="0"/>
          </a:p>
        </p:txBody>
      </p:sp>
      <p:grpSp>
        <p:nvGrpSpPr>
          <p:cNvPr id="160" name="グループ化 159"/>
          <p:cNvGrpSpPr/>
          <p:nvPr/>
        </p:nvGrpSpPr>
        <p:grpSpPr>
          <a:xfrm>
            <a:off x="7342282" y="2371205"/>
            <a:ext cx="1300585" cy="889558"/>
            <a:chOff x="5775544" y="3053452"/>
            <a:chExt cx="1112438" cy="555462"/>
          </a:xfrm>
        </p:grpSpPr>
        <p:sp>
          <p:nvSpPr>
            <p:cNvPr id="161" name="星 24 160"/>
            <p:cNvSpPr/>
            <p:nvPr/>
          </p:nvSpPr>
          <p:spPr>
            <a:xfrm>
              <a:off x="5775544" y="3053452"/>
              <a:ext cx="1112438" cy="555462"/>
            </a:xfrm>
            <a:prstGeom prst="star24">
              <a:avLst/>
            </a:prstGeom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100" dirty="0"/>
            </a:p>
          </p:txBody>
        </p:sp>
        <p:sp>
          <p:nvSpPr>
            <p:cNvPr id="162" name="正方形/長方形 161"/>
            <p:cNvSpPr/>
            <p:nvPr/>
          </p:nvSpPr>
          <p:spPr>
            <a:xfrm>
              <a:off x="5866696" y="3207073"/>
              <a:ext cx="927601" cy="254304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ja-JP" sz="1200" dirty="0" smtClean="0">
                  <a:solidFill>
                    <a:schemeClr val="bg1"/>
                  </a:solidFill>
                </a:rPr>
                <a:t>System</a:t>
              </a:r>
            </a:p>
            <a:p>
              <a:pPr algn="ctr"/>
              <a:r>
                <a:rPr lang="en-US" altLang="ja-JP" sz="1200" dirty="0" smtClean="0">
                  <a:solidFill>
                    <a:schemeClr val="bg1"/>
                  </a:solidFill>
                </a:rPr>
                <a:t>Exception</a:t>
              </a:r>
              <a:endParaRPr kumimoji="1" lang="ja-JP" altLang="en-US" sz="1200" dirty="0">
                <a:solidFill>
                  <a:schemeClr val="bg1"/>
                </a:solidFill>
              </a:endParaRPr>
            </a:p>
          </p:txBody>
        </p:sp>
      </p:grpSp>
      <p:sp>
        <p:nvSpPr>
          <p:cNvPr id="69" name="正方形/長方形 68"/>
          <p:cNvSpPr/>
          <p:nvPr/>
        </p:nvSpPr>
        <p:spPr>
          <a:xfrm>
            <a:off x="1757585" y="3536364"/>
            <a:ext cx="1123667" cy="573262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900" dirty="0" smtClean="0"/>
              <a:t>&lt;</a:t>
            </a:r>
            <a:r>
              <a:rPr kumimoji="1" lang="en-US" altLang="ja-JP" sz="900" dirty="0" err="1" smtClean="0"/>
              <a:t>Thymeleaf</a:t>
            </a:r>
            <a:r>
              <a:rPr kumimoji="1" lang="en-US" altLang="ja-JP" sz="900" dirty="0" smtClean="0"/>
              <a:t>&gt;</a:t>
            </a:r>
          </a:p>
          <a:p>
            <a:pPr algn="ctr"/>
            <a:r>
              <a:rPr lang="en-US" altLang="ja-JP" sz="1200" dirty="0" err="1"/>
              <a:t>Thymeleaf</a:t>
            </a:r>
            <a:endParaRPr lang="en-US" altLang="ja-JP" sz="1200" dirty="0"/>
          </a:p>
          <a:p>
            <a:pPr algn="ctr"/>
            <a:r>
              <a:rPr lang="en-US" altLang="ja-JP" sz="1200" dirty="0"/>
              <a:t>View</a:t>
            </a:r>
            <a:endParaRPr lang="ja-JP" altLang="en-US" sz="1200" dirty="0"/>
          </a:p>
        </p:txBody>
      </p:sp>
    </p:spTree>
    <p:extLst>
      <p:ext uri="{BB962C8B-B14F-4D97-AF65-F5344CB8AC3E}">
        <p14:creationId xmlns:p14="http://schemas.microsoft.com/office/powerpoint/2010/main" val="23032991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" name="Picture 6" descr="http://designleaves.y-com.info/images/material/f_icon/prettyxbrowser_p24_bl_nl_l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95675" y="924701"/>
            <a:ext cx="1429056" cy="1429057"/>
          </a:xfrm>
          <a:prstGeom prst="rect">
            <a:avLst/>
          </a:prstGeom>
          <a:noFill/>
        </p:spPr>
      </p:pic>
      <p:sp>
        <p:nvSpPr>
          <p:cNvPr id="40" name="正方形/長方形 39"/>
          <p:cNvSpPr/>
          <p:nvPr/>
        </p:nvSpPr>
        <p:spPr>
          <a:xfrm>
            <a:off x="302980" y="1462098"/>
            <a:ext cx="1214446" cy="50006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200" dirty="0" smtClean="0">
                <a:solidFill>
                  <a:schemeClr val="tx1"/>
                </a:solidFill>
              </a:rPr>
              <a:t>Xxx </a:t>
            </a:r>
          </a:p>
          <a:p>
            <a:pPr algn="ctr"/>
            <a:r>
              <a:rPr lang="en-US" altLang="ja-JP" sz="1200" dirty="0" smtClean="0">
                <a:solidFill>
                  <a:schemeClr val="tx1"/>
                </a:solidFill>
              </a:rPr>
              <a:t>screen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43" name="正方形/長方形 42"/>
          <p:cNvSpPr/>
          <p:nvPr/>
        </p:nvSpPr>
        <p:spPr>
          <a:xfrm>
            <a:off x="4099468" y="1358521"/>
            <a:ext cx="1110898" cy="826175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900" dirty="0" smtClean="0"/>
              <a:t>&lt;Spring MVC&gt;</a:t>
            </a:r>
          </a:p>
          <a:p>
            <a:pPr algn="ctr"/>
            <a:r>
              <a:rPr kumimoji="1" lang="en-US" altLang="ja-JP" sz="1200" dirty="0" smtClean="0"/>
              <a:t>Dispatcher</a:t>
            </a:r>
          </a:p>
          <a:p>
            <a:pPr algn="ctr"/>
            <a:r>
              <a:rPr lang="en-US" altLang="ja-JP" sz="1200" dirty="0" smtClean="0"/>
              <a:t>Servlet</a:t>
            </a:r>
            <a:endParaRPr kumimoji="1" lang="ja-JP" altLang="en-US" sz="1200" dirty="0"/>
          </a:p>
        </p:txBody>
      </p:sp>
      <p:sp>
        <p:nvSpPr>
          <p:cNvPr id="46" name="正方形/長方形 45"/>
          <p:cNvSpPr/>
          <p:nvPr/>
        </p:nvSpPr>
        <p:spPr>
          <a:xfrm>
            <a:off x="5924684" y="1390595"/>
            <a:ext cx="1146745" cy="817209"/>
          </a:xfrm>
          <a:prstGeom prst="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 anchorCtr="0"/>
          <a:lstStyle/>
          <a:p>
            <a:pPr algn="ctr"/>
            <a:r>
              <a:rPr kumimoji="1" lang="en-US" altLang="ja-JP" sz="1200" dirty="0" smtClean="0"/>
              <a:t>Controller</a:t>
            </a:r>
          </a:p>
        </p:txBody>
      </p:sp>
      <p:pic>
        <p:nvPicPr>
          <p:cNvPr id="49" name="Picture 6" descr="http://designleaves.y-com.info/images/material/f_icon/prettyxbrowser_p24_bl_nl_l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34000" y="3541055"/>
            <a:ext cx="1429056" cy="1581567"/>
          </a:xfrm>
          <a:prstGeom prst="rect">
            <a:avLst/>
          </a:prstGeom>
          <a:noFill/>
        </p:spPr>
      </p:pic>
      <p:sp>
        <p:nvSpPr>
          <p:cNvPr id="50" name="正方形/長方形 49"/>
          <p:cNvSpPr/>
          <p:nvPr/>
        </p:nvSpPr>
        <p:spPr>
          <a:xfrm>
            <a:off x="241305" y="4270772"/>
            <a:ext cx="1214446" cy="50006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200" dirty="0" smtClean="0">
                <a:solidFill>
                  <a:schemeClr val="tx1"/>
                </a:solidFill>
              </a:rPr>
              <a:t>System Error </a:t>
            </a:r>
          </a:p>
          <a:p>
            <a:pPr algn="ctr"/>
            <a:r>
              <a:rPr lang="en-US" altLang="ja-JP" sz="1200" dirty="0" smtClean="0">
                <a:solidFill>
                  <a:schemeClr val="tx1"/>
                </a:solidFill>
              </a:rPr>
              <a:t>screen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52" name="フローチャート : 書類 51"/>
          <p:cNvSpPr/>
          <p:nvPr/>
        </p:nvSpPr>
        <p:spPr>
          <a:xfrm>
            <a:off x="1269627" y="4270772"/>
            <a:ext cx="988142" cy="681242"/>
          </a:xfrm>
          <a:prstGeom prst="flowChartDocument">
            <a:avLst/>
          </a:prstGeom>
          <a:gradFill>
            <a:gsLst>
              <a:gs pos="0">
                <a:schemeClr val="accent3">
                  <a:tint val="50000"/>
                  <a:satMod val="300000"/>
                </a:schemeClr>
              </a:gs>
              <a:gs pos="0">
                <a:srgbClr val="7030A0"/>
              </a:gs>
              <a:gs pos="100000">
                <a:schemeClr val="accent4">
                  <a:lumMod val="40000"/>
                  <a:lumOff val="60000"/>
                </a:schemeClr>
              </a:gs>
            </a:gsLst>
          </a:gradFill>
          <a:ln>
            <a:solidFill>
              <a:srgbClr val="7030A0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t" anchorCtr="0"/>
          <a:lstStyle/>
          <a:p>
            <a:pPr algn="ctr"/>
            <a:r>
              <a:rPr lang="en-US" altLang="ja-JP" sz="1400" dirty="0" smtClean="0">
                <a:solidFill>
                  <a:schemeClr val="bg1"/>
                </a:solidFill>
              </a:rPr>
              <a:t>error.html</a:t>
            </a:r>
            <a:endParaRPr kumimoji="1" lang="en-US" altLang="ja-JP" sz="1400" dirty="0" smtClean="0">
              <a:solidFill>
                <a:schemeClr val="bg1"/>
              </a:solidFill>
            </a:endParaRPr>
          </a:p>
        </p:txBody>
      </p:sp>
      <p:sp>
        <p:nvSpPr>
          <p:cNvPr id="57" name="正方形/長方形 56"/>
          <p:cNvSpPr/>
          <p:nvPr/>
        </p:nvSpPr>
        <p:spPr>
          <a:xfrm>
            <a:off x="7703594" y="1383872"/>
            <a:ext cx="1252993" cy="830656"/>
          </a:xfrm>
          <a:prstGeom prst="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 anchorCtr="0"/>
          <a:lstStyle/>
          <a:p>
            <a:pPr algn="ctr"/>
            <a:r>
              <a:rPr lang="en-US" altLang="ja-JP" sz="1200" dirty="0" smtClean="0"/>
              <a:t>Service</a:t>
            </a:r>
          </a:p>
        </p:txBody>
      </p:sp>
      <p:cxnSp>
        <p:nvCxnSpPr>
          <p:cNvPr id="59" name="直線矢印コネクタ 13"/>
          <p:cNvCxnSpPr/>
          <p:nvPr/>
        </p:nvCxnSpPr>
        <p:spPr>
          <a:xfrm>
            <a:off x="1479177" y="1667306"/>
            <a:ext cx="2589398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直線矢印コネクタ 13"/>
          <p:cNvCxnSpPr/>
          <p:nvPr/>
        </p:nvCxnSpPr>
        <p:spPr>
          <a:xfrm>
            <a:off x="5200745" y="1639230"/>
            <a:ext cx="723939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直線矢印コネクタ 13"/>
          <p:cNvCxnSpPr/>
          <p:nvPr/>
        </p:nvCxnSpPr>
        <p:spPr>
          <a:xfrm flipH="1" flipV="1">
            <a:off x="5200745" y="1893034"/>
            <a:ext cx="734119" cy="1"/>
          </a:xfrm>
          <a:prstGeom prst="straightConnector1">
            <a:avLst/>
          </a:prstGeom>
          <a:ln>
            <a:prstDash val="dash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9" name="テキスト ボックス 118"/>
          <p:cNvSpPr txBox="1"/>
          <p:nvPr/>
        </p:nvSpPr>
        <p:spPr>
          <a:xfrm>
            <a:off x="1543503" y="1329546"/>
            <a:ext cx="47625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</a:t>
            </a:r>
            <a:endParaRPr kumimoji="1" lang="en-US" altLang="ja-JP" sz="16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20" name="テキスト ボックス 119"/>
          <p:cNvSpPr txBox="1"/>
          <p:nvPr/>
        </p:nvSpPr>
        <p:spPr>
          <a:xfrm>
            <a:off x="5374009" y="1362119"/>
            <a:ext cx="47625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16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</a:t>
            </a:r>
            <a:endParaRPr kumimoji="1" lang="en-US" altLang="ja-JP" sz="16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21" name="テキスト ボックス 120"/>
          <p:cNvSpPr txBox="1"/>
          <p:nvPr/>
        </p:nvSpPr>
        <p:spPr>
          <a:xfrm>
            <a:off x="7229775" y="1373003"/>
            <a:ext cx="47625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3</a:t>
            </a:r>
            <a:endParaRPr kumimoji="1" lang="en-US" altLang="ja-JP" sz="16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58" name="テキスト ボックス 157"/>
          <p:cNvSpPr txBox="1"/>
          <p:nvPr/>
        </p:nvSpPr>
        <p:spPr>
          <a:xfrm>
            <a:off x="1521869" y="3638255"/>
            <a:ext cx="47625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16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7</a:t>
            </a:r>
            <a:endParaRPr kumimoji="1" lang="en-US" altLang="ja-JP" sz="16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cxnSp>
        <p:nvCxnSpPr>
          <p:cNvPr id="123" name="直線矢印コネクタ 13"/>
          <p:cNvCxnSpPr/>
          <p:nvPr/>
        </p:nvCxnSpPr>
        <p:spPr>
          <a:xfrm>
            <a:off x="7078445" y="1671107"/>
            <a:ext cx="625149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" name="直線矢印コネクタ 13"/>
          <p:cNvCxnSpPr/>
          <p:nvPr/>
        </p:nvCxnSpPr>
        <p:spPr>
          <a:xfrm flipH="1" flipV="1">
            <a:off x="7078445" y="1900264"/>
            <a:ext cx="625150" cy="1"/>
          </a:xfrm>
          <a:prstGeom prst="straightConnector1">
            <a:avLst/>
          </a:prstGeom>
          <a:ln>
            <a:prstDash val="dash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3" name="正方形/長方形 82"/>
          <p:cNvSpPr/>
          <p:nvPr/>
        </p:nvSpPr>
        <p:spPr>
          <a:xfrm>
            <a:off x="249190" y="3951231"/>
            <a:ext cx="1214446" cy="50006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b="1" dirty="0" smtClean="0">
                <a:solidFill>
                  <a:srgbClr val="FF0000"/>
                </a:solidFill>
              </a:rPr>
              <a:t>Message.</a:t>
            </a:r>
            <a:endParaRPr kumimoji="1" lang="ja-JP" altLang="en-US" sz="1200" b="1" dirty="0">
              <a:solidFill>
                <a:srgbClr val="FF0000"/>
              </a:solidFill>
            </a:endParaRPr>
          </a:p>
        </p:txBody>
      </p:sp>
      <p:sp>
        <p:nvSpPr>
          <p:cNvPr id="44" name="正方形/長方形 43"/>
          <p:cNvSpPr/>
          <p:nvPr/>
        </p:nvSpPr>
        <p:spPr>
          <a:xfrm>
            <a:off x="2179966" y="3353616"/>
            <a:ext cx="1209874" cy="676927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900" dirty="0"/>
              <a:t>&lt;Application Server&gt;</a:t>
            </a:r>
          </a:p>
          <a:p>
            <a:pPr algn="ctr"/>
            <a:r>
              <a:rPr lang="en-US" altLang="ja-JP" sz="1200" dirty="0"/>
              <a:t>Servlet</a:t>
            </a:r>
          </a:p>
          <a:p>
            <a:pPr algn="ctr"/>
            <a:r>
              <a:rPr lang="en-US" altLang="ja-JP" sz="1200" dirty="0"/>
              <a:t>Container</a:t>
            </a:r>
            <a:endParaRPr lang="ja-JP" altLang="en-US" sz="1200" dirty="0"/>
          </a:p>
        </p:txBody>
      </p:sp>
      <p:cxnSp>
        <p:nvCxnSpPr>
          <p:cNvPr id="48" name="直線矢印コネクタ 13"/>
          <p:cNvCxnSpPr>
            <a:stCxn id="66" idx="2"/>
            <a:endCxn id="67" idx="2"/>
          </p:cNvCxnSpPr>
          <p:nvPr/>
        </p:nvCxnSpPr>
        <p:spPr>
          <a:xfrm flipH="1">
            <a:off x="2784902" y="2196524"/>
            <a:ext cx="1" cy="1050136"/>
          </a:xfrm>
          <a:prstGeom prst="straightConnector1">
            <a:avLst/>
          </a:prstGeom>
          <a:ln>
            <a:prstDash val="dash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直線コネクタ 57"/>
          <p:cNvCxnSpPr/>
          <p:nvPr/>
        </p:nvCxnSpPr>
        <p:spPr>
          <a:xfrm flipV="1">
            <a:off x="910203" y="2098106"/>
            <a:ext cx="0" cy="1762102"/>
          </a:xfrm>
          <a:prstGeom prst="line">
            <a:avLst/>
          </a:prstGeom>
          <a:ln w="9525">
            <a:prstDash val="dash"/>
            <a:head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直線矢印コネクタ 13"/>
          <p:cNvCxnSpPr>
            <a:stCxn id="44" idx="1"/>
            <a:endCxn id="52" idx="0"/>
          </p:cNvCxnSpPr>
          <p:nvPr/>
        </p:nvCxnSpPr>
        <p:spPr>
          <a:xfrm rot="10800000" flipV="1">
            <a:off x="1763698" y="3692080"/>
            <a:ext cx="416268" cy="578692"/>
          </a:xfrm>
          <a:prstGeom prst="curvedConnector2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フローチャート : 書類 68"/>
          <p:cNvSpPr/>
          <p:nvPr/>
        </p:nvSpPr>
        <p:spPr>
          <a:xfrm>
            <a:off x="3964168" y="4270772"/>
            <a:ext cx="857934" cy="597318"/>
          </a:xfrm>
          <a:prstGeom prst="flowChartDocumen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 anchorCtr="0"/>
          <a:lstStyle/>
          <a:p>
            <a:pPr algn="ctr"/>
            <a:r>
              <a:rPr lang="en-US" altLang="ja-JP" sz="1100" dirty="0" smtClean="0"/>
              <a:t>Server</a:t>
            </a:r>
          </a:p>
          <a:p>
            <a:pPr algn="ctr"/>
            <a:r>
              <a:rPr kumimoji="1" lang="en-US" altLang="ja-JP" sz="1100" dirty="0" smtClean="0"/>
              <a:t>log</a:t>
            </a:r>
          </a:p>
        </p:txBody>
      </p:sp>
      <p:cxnSp>
        <p:nvCxnSpPr>
          <p:cNvPr id="70" name="直線矢印コネクタ 13"/>
          <p:cNvCxnSpPr>
            <a:stCxn id="44" idx="3"/>
            <a:endCxn id="69" idx="0"/>
          </p:cNvCxnSpPr>
          <p:nvPr/>
        </p:nvCxnSpPr>
        <p:spPr>
          <a:xfrm>
            <a:off x="3389840" y="3692080"/>
            <a:ext cx="1003295" cy="578692"/>
          </a:xfrm>
          <a:prstGeom prst="curvedConnector2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4" name="テキスト ボックス 73"/>
          <p:cNvSpPr txBox="1"/>
          <p:nvPr/>
        </p:nvSpPr>
        <p:spPr>
          <a:xfrm>
            <a:off x="3778990" y="3869207"/>
            <a:ext cx="47625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6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6</a:t>
            </a:r>
          </a:p>
        </p:txBody>
      </p:sp>
      <p:sp>
        <p:nvSpPr>
          <p:cNvPr id="95" name="四角形吹き出し 94"/>
          <p:cNvSpPr/>
          <p:nvPr/>
        </p:nvSpPr>
        <p:spPr>
          <a:xfrm>
            <a:off x="4476410" y="3017674"/>
            <a:ext cx="1289931" cy="611361"/>
          </a:xfrm>
          <a:prstGeom prst="wedgeRectCallout">
            <a:avLst>
              <a:gd name="adj1" fmla="val -73145"/>
              <a:gd name="adj2" fmla="val -76016"/>
            </a:avLst>
          </a:prstGeom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ja-JP" sz="1200" dirty="0" smtClean="0">
                <a:solidFill>
                  <a:schemeClr val="tx1"/>
                </a:solidFill>
              </a:rPr>
              <a:t>XxxError </a:t>
            </a:r>
            <a:r>
              <a:rPr lang="en-US" altLang="ja-JP" sz="1200" dirty="0">
                <a:solidFill>
                  <a:schemeClr val="tx1"/>
                </a:solidFill>
              </a:rPr>
              <a:t>is </a:t>
            </a:r>
            <a:r>
              <a:rPr lang="en-US" altLang="ja-JP" sz="1200" dirty="0" smtClean="0">
                <a:solidFill>
                  <a:schemeClr val="tx1"/>
                </a:solidFill>
              </a:rPr>
              <a:t>wrapped </a:t>
            </a:r>
            <a:r>
              <a:rPr lang="en-US" altLang="ja-JP" sz="1200" dirty="0">
                <a:solidFill>
                  <a:schemeClr val="tx1"/>
                </a:solidFill>
              </a:rPr>
              <a:t>in </a:t>
            </a:r>
            <a:r>
              <a:rPr lang="en-US" altLang="ja-JP" sz="1200" dirty="0" smtClean="0">
                <a:solidFill>
                  <a:schemeClr val="tx1"/>
                </a:solidFill>
              </a:rPr>
              <a:t>ServletException</a:t>
            </a:r>
            <a:r>
              <a:rPr lang="en-US" altLang="ja-JP" sz="1200" dirty="0">
                <a:solidFill>
                  <a:schemeClr val="tx1"/>
                </a:solidFill>
              </a:rPr>
              <a:t>.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cxnSp>
        <p:nvCxnSpPr>
          <p:cNvPr id="99" name="直線矢印コネクタ 13"/>
          <p:cNvCxnSpPr>
            <a:stCxn id="43" idx="2"/>
          </p:cNvCxnSpPr>
          <p:nvPr/>
        </p:nvCxnSpPr>
        <p:spPr>
          <a:xfrm rot="5400000">
            <a:off x="4144249" y="2287044"/>
            <a:ext cx="613016" cy="408320"/>
          </a:xfrm>
          <a:prstGeom prst="curvedConnector2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3" name="テキスト ボックス 102"/>
          <p:cNvSpPr txBox="1"/>
          <p:nvPr/>
        </p:nvSpPr>
        <p:spPr>
          <a:xfrm>
            <a:off x="4629318" y="2436516"/>
            <a:ext cx="47625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6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4</a:t>
            </a:r>
          </a:p>
        </p:txBody>
      </p:sp>
      <p:sp>
        <p:nvSpPr>
          <p:cNvPr id="35" name="フローチャート : 書類 34"/>
          <p:cNvSpPr/>
          <p:nvPr/>
        </p:nvSpPr>
        <p:spPr>
          <a:xfrm>
            <a:off x="2481830" y="3951230"/>
            <a:ext cx="850837" cy="819607"/>
          </a:xfrm>
          <a:prstGeom prst="flowChartDocumen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t" anchorCtr="0"/>
          <a:lstStyle/>
          <a:p>
            <a:pPr algn="ctr"/>
            <a:r>
              <a:rPr lang="en-US" altLang="ja-JP" sz="1400" dirty="0" smtClean="0"/>
              <a:t>w</a:t>
            </a:r>
            <a:r>
              <a:rPr kumimoji="1" lang="en-US" altLang="ja-JP" sz="1400" dirty="0" smtClean="0"/>
              <a:t>eb.xml</a:t>
            </a:r>
          </a:p>
          <a:p>
            <a:pPr algn="ctr"/>
            <a:endParaRPr lang="en-US" altLang="ja-JP" sz="900" dirty="0"/>
          </a:p>
          <a:p>
            <a:pPr algn="ctr"/>
            <a:r>
              <a:rPr lang="en-US" altLang="ja-JP" sz="900" dirty="0"/>
              <a:t>&lt;error-page&gt;</a:t>
            </a:r>
          </a:p>
          <a:p>
            <a:pPr algn="ctr"/>
            <a:endParaRPr kumimoji="1" lang="en-US" altLang="ja-JP" sz="1400" dirty="0" smtClean="0"/>
          </a:p>
        </p:txBody>
      </p:sp>
      <p:sp>
        <p:nvSpPr>
          <p:cNvPr id="37" name="フローチャート : 書類 36"/>
          <p:cNvSpPr/>
          <p:nvPr/>
        </p:nvSpPr>
        <p:spPr>
          <a:xfrm>
            <a:off x="4739512" y="174630"/>
            <a:ext cx="857934" cy="597318"/>
          </a:xfrm>
          <a:prstGeom prst="flowChartDocumen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 anchorCtr="0"/>
          <a:lstStyle/>
          <a:p>
            <a:pPr algn="ctr"/>
            <a:r>
              <a:rPr lang="en-US" altLang="ja-JP" sz="1100" dirty="0"/>
              <a:t>Monitoring </a:t>
            </a:r>
            <a:r>
              <a:rPr kumimoji="1" lang="en-US" altLang="ja-JP" sz="1100" dirty="0" smtClean="0"/>
              <a:t>log</a:t>
            </a:r>
          </a:p>
        </p:txBody>
      </p:sp>
      <p:sp>
        <p:nvSpPr>
          <p:cNvPr id="38" name="フローチャート : 書類 37"/>
          <p:cNvSpPr/>
          <p:nvPr/>
        </p:nvSpPr>
        <p:spPr>
          <a:xfrm>
            <a:off x="5335186" y="466987"/>
            <a:ext cx="857934" cy="597318"/>
          </a:xfrm>
          <a:prstGeom prst="flowChartDocumen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 anchorCtr="0"/>
          <a:lstStyle/>
          <a:p>
            <a:pPr algn="ctr"/>
            <a:r>
              <a:rPr lang="en-US" altLang="ja-JP" sz="1100" dirty="0" smtClean="0"/>
              <a:t>Application</a:t>
            </a:r>
          </a:p>
          <a:p>
            <a:pPr algn="ctr"/>
            <a:r>
              <a:rPr kumimoji="1" lang="en-US" altLang="ja-JP" sz="1100" dirty="0" smtClean="0"/>
              <a:t>log</a:t>
            </a:r>
          </a:p>
        </p:txBody>
      </p:sp>
      <p:cxnSp>
        <p:nvCxnSpPr>
          <p:cNvPr id="47" name="直線矢印コネクタ 13"/>
          <p:cNvCxnSpPr>
            <a:stCxn id="66" idx="0"/>
            <a:endCxn id="63" idx="1"/>
          </p:cNvCxnSpPr>
          <p:nvPr/>
        </p:nvCxnSpPr>
        <p:spPr>
          <a:xfrm rot="5400000" flipH="1" flipV="1">
            <a:off x="2676876" y="602729"/>
            <a:ext cx="839695" cy="623641"/>
          </a:xfrm>
          <a:prstGeom prst="curvedConnector2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テキスト ボックス 50"/>
          <p:cNvSpPr txBox="1"/>
          <p:nvPr/>
        </p:nvSpPr>
        <p:spPr>
          <a:xfrm>
            <a:off x="2917397" y="878032"/>
            <a:ext cx="47625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16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5</a:t>
            </a:r>
            <a:endParaRPr kumimoji="1" lang="en-US" altLang="ja-JP" sz="16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3" name="テキスト ボックス 52"/>
          <p:cNvSpPr txBox="1"/>
          <p:nvPr/>
        </p:nvSpPr>
        <p:spPr>
          <a:xfrm>
            <a:off x="2842746" y="2353758"/>
            <a:ext cx="47625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6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5’</a:t>
            </a:r>
          </a:p>
        </p:txBody>
      </p:sp>
      <p:sp>
        <p:nvSpPr>
          <p:cNvPr id="54" name="テキスト ボックス 53"/>
          <p:cNvSpPr txBox="1"/>
          <p:nvPr/>
        </p:nvSpPr>
        <p:spPr>
          <a:xfrm>
            <a:off x="3653362" y="1966756"/>
            <a:ext cx="47625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6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4’</a:t>
            </a:r>
          </a:p>
        </p:txBody>
      </p:sp>
      <p:sp>
        <p:nvSpPr>
          <p:cNvPr id="62" name="四角形吹き出し 61"/>
          <p:cNvSpPr/>
          <p:nvPr/>
        </p:nvSpPr>
        <p:spPr>
          <a:xfrm>
            <a:off x="2588420" y="4952014"/>
            <a:ext cx="1493118" cy="507750"/>
          </a:xfrm>
          <a:prstGeom prst="wedgeRectCallout">
            <a:avLst>
              <a:gd name="adj1" fmla="val -33594"/>
              <a:gd name="adj2" fmla="val -95057"/>
            </a:avLst>
          </a:prstGeom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sz="1200" dirty="0" smtClean="0">
                <a:solidFill>
                  <a:schemeClr val="tx1"/>
                </a:solidFill>
              </a:rPr>
              <a:t>define exception</a:t>
            </a:r>
          </a:p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h</a:t>
            </a:r>
            <a:r>
              <a:rPr lang="en-US" altLang="ja-JP" sz="1200" dirty="0" smtClean="0">
                <a:solidFill>
                  <a:schemeClr val="tx1"/>
                </a:solidFill>
              </a:rPr>
              <a:t>andling rule.</a:t>
            </a:r>
            <a:endParaRPr lang="en-US" altLang="ja-JP" sz="1200" dirty="0">
              <a:solidFill>
                <a:schemeClr val="tx1"/>
              </a:solidFill>
            </a:endParaRPr>
          </a:p>
        </p:txBody>
      </p:sp>
      <p:sp>
        <p:nvSpPr>
          <p:cNvPr id="63" name="正方形/長方形 62"/>
          <p:cNvSpPr/>
          <p:nvPr/>
        </p:nvSpPr>
        <p:spPr>
          <a:xfrm>
            <a:off x="3408544" y="188143"/>
            <a:ext cx="853851" cy="613115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 smtClean="0"/>
              <a:t>Exception</a:t>
            </a:r>
          </a:p>
          <a:p>
            <a:pPr algn="ctr"/>
            <a:r>
              <a:rPr lang="en-US" altLang="ja-JP" sz="1200" dirty="0" smtClean="0"/>
              <a:t>Logger</a:t>
            </a:r>
            <a:endParaRPr kumimoji="1" lang="ja-JP" altLang="en-US" sz="1200" dirty="0"/>
          </a:p>
        </p:txBody>
      </p:sp>
      <p:sp>
        <p:nvSpPr>
          <p:cNvPr id="66" name="正方形/長方形 65"/>
          <p:cNvSpPr/>
          <p:nvPr/>
        </p:nvSpPr>
        <p:spPr>
          <a:xfrm>
            <a:off x="2161261" y="1334396"/>
            <a:ext cx="1247283" cy="862128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900" dirty="0" smtClean="0"/>
              <a:t>&lt;Servlet Filter&gt;</a:t>
            </a:r>
          </a:p>
          <a:p>
            <a:pPr algn="ctr"/>
            <a:r>
              <a:rPr lang="en-US" altLang="ja-JP" sz="1200" dirty="0" smtClean="0"/>
              <a:t>Exception</a:t>
            </a:r>
          </a:p>
          <a:p>
            <a:pPr algn="ctr"/>
            <a:r>
              <a:rPr lang="en-US" altLang="ja-JP" sz="1200" dirty="0" smtClean="0"/>
              <a:t>LoggingFilter</a:t>
            </a:r>
            <a:endParaRPr lang="en-US" altLang="ja-JP" sz="1200" dirty="0"/>
          </a:p>
        </p:txBody>
      </p:sp>
      <p:sp>
        <p:nvSpPr>
          <p:cNvPr id="84" name="フローチャート : 書類 83"/>
          <p:cNvSpPr/>
          <p:nvPr/>
        </p:nvSpPr>
        <p:spPr>
          <a:xfrm>
            <a:off x="1815113" y="924701"/>
            <a:ext cx="850837" cy="493317"/>
          </a:xfrm>
          <a:prstGeom prst="flowChartDocumen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t" anchorCtr="0"/>
          <a:lstStyle/>
          <a:p>
            <a:pPr algn="ctr"/>
            <a:r>
              <a:rPr lang="en-US" altLang="ja-JP" sz="1400" dirty="0" smtClean="0"/>
              <a:t>w</a:t>
            </a:r>
            <a:r>
              <a:rPr kumimoji="1" lang="en-US" altLang="ja-JP" sz="1400" dirty="0" smtClean="0"/>
              <a:t>eb.xml</a:t>
            </a:r>
          </a:p>
        </p:txBody>
      </p:sp>
      <p:sp>
        <p:nvSpPr>
          <p:cNvPr id="86" name="フローチャート : 書類 85"/>
          <p:cNvSpPr/>
          <p:nvPr/>
        </p:nvSpPr>
        <p:spPr>
          <a:xfrm>
            <a:off x="1475822" y="392992"/>
            <a:ext cx="819975" cy="665248"/>
          </a:xfrm>
          <a:prstGeom prst="flowChartDocumen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t" anchorCtr="0"/>
          <a:lstStyle/>
          <a:p>
            <a:pPr algn="ctr"/>
            <a:r>
              <a:rPr lang="en-US" altLang="ja-JP" sz="1200" dirty="0" smtClean="0"/>
              <a:t>applicationContext.xml</a:t>
            </a:r>
            <a:endParaRPr kumimoji="1" lang="en-US" altLang="ja-JP" sz="1200" dirty="0" smtClean="0"/>
          </a:p>
        </p:txBody>
      </p:sp>
      <p:sp>
        <p:nvSpPr>
          <p:cNvPr id="87" name="四角形吹き出し 86"/>
          <p:cNvSpPr/>
          <p:nvPr/>
        </p:nvSpPr>
        <p:spPr>
          <a:xfrm>
            <a:off x="418067" y="515728"/>
            <a:ext cx="984272" cy="398821"/>
          </a:xfrm>
          <a:prstGeom prst="wedgeRectCallout">
            <a:avLst>
              <a:gd name="adj1" fmla="val 64432"/>
              <a:gd name="adj2" fmla="val -8285"/>
            </a:avLst>
          </a:prstGeom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ja-JP" sz="1200" smtClean="0">
                <a:solidFill>
                  <a:schemeClr val="tx1"/>
                </a:solidFill>
              </a:rPr>
              <a:t>define </a:t>
            </a:r>
            <a:r>
              <a:rPr lang="en-US" altLang="ja-JP" sz="1200" dirty="0" smtClean="0">
                <a:solidFill>
                  <a:schemeClr val="tx1"/>
                </a:solidFill>
              </a:rPr>
              <a:t>bean </a:t>
            </a:r>
          </a:p>
          <a:p>
            <a:r>
              <a:rPr lang="en-US" altLang="ja-JP" sz="1200" dirty="0" smtClean="0">
                <a:solidFill>
                  <a:schemeClr val="tx1"/>
                </a:solidFill>
              </a:rPr>
              <a:t>&amp; filter</a:t>
            </a:r>
            <a:endParaRPr lang="ja-JP" altLang="en-US" sz="1200" dirty="0">
              <a:solidFill>
                <a:schemeClr val="tx1"/>
              </a:solidFill>
            </a:endParaRPr>
          </a:p>
        </p:txBody>
      </p:sp>
      <p:cxnSp>
        <p:nvCxnSpPr>
          <p:cNvPr id="106" name="直線矢印コネクタ 13"/>
          <p:cNvCxnSpPr/>
          <p:nvPr/>
        </p:nvCxnSpPr>
        <p:spPr>
          <a:xfrm flipH="1">
            <a:off x="3415737" y="1900265"/>
            <a:ext cx="683731" cy="1"/>
          </a:xfrm>
          <a:prstGeom prst="straightConnector1">
            <a:avLst/>
          </a:prstGeom>
          <a:ln>
            <a:prstDash val="dash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テキスト ボックス 54"/>
          <p:cNvSpPr txBox="1"/>
          <p:nvPr/>
        </p:nvSpPr>
        <p:spPr>
          <a:xfrm>
            <a:off x="7227344" y="1962164"/>
            <a:ext cx="47625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16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3’</a:t>
            </a:r>
            <a:endParaRPr kumimoji="1" lang="en-US" altLang="ja-JP" sz="16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6" name="テキスト ボックス 55"/>
          <p:cNvSpPr txBox="1"/>
          <p:nvPr/>
        </p:nvSpPr>
        <p:spPr>
          <a:xfrm>
            <a:off x="5356574" y="1948826"/>
            <a:ext cx="47625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16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3’</a:t>
            </a:r>
            <a:endParaRPr kumimoji="1" lang="en-US" altLang="ja-JP" sz="16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60" name="テキスト ボックス 59"/>
          <p:cNvSpPr txBox="1"/>
          <p:nvPr/>
        </p:nvSpPr>
        <p:spPr>
          <a:xfrm>
            <a:off x="546297" y="2760417"/>
            <a:ext cx="36390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16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8</a:t>
            </a:r>
            <a:endParaRPr kumimoji="1" lang="en-US" altLang="ja-JP" sz="16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67" name="フローチャート : 他ページ結合子 66"/>
          <p:cNvSpPr/>
          <p:nvPr/>
        </p:nvSpPr>
        <p:spPr>
          <a:xfrm rot="10800000">
            <a:off x="2684496" y="3246660"/>
            <a:ext cx="200813" cy="213911"/>
          </a:xfrm>
          <a:prstGeom prst="flowChartOffpageConnector">
            <a:avLst/>
          </a:prstGeom>
          <a:gradFill>
            <a:gsLst>
              <a:gs pos="54000">
                <a:srgbClr val="FFC000"/>
              </a:gs>
              <a:gs pos="0">
                <a:srgbClr val="FFFF00"/>
              </a:gs>
              <a:gs pos="100000">
                <a:srgbClr val="FFC000"/>
              </a:gs>
            </a:gsLst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71" name="星 24 70"/>
          <p:cNvSpPr/>
          <p:nvPr/>
        </p:nvSpPr>
        <p:spPr>
          <a:xfrm>
            <a:off x="3109639" y="2436516"/>
            <a:ext cx="1194016" cy="810144"/>
          </a:xfrm>
          <a:prstGeom prst="star24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100" dirty="0"/>
          </a:p>
        </p:txBody>
      </p:sp>
      <p:sp>
        <p:nvSpPr>
          <p:cNvPr id="72" name="正方形/長方形 71"/>
          <p:cNvSpPr/>
          <p:nvPr/>
        </p:nvSpPr>
        <p:spPr>
          <a:xfrm>
            <a:off x="3160438" y="2644436"/>
            <a:ext cx="1084486" cy="40726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200" dirty="0" err="1" smtClean="0">
                <a:solidFill>
                  <a:schemeClr val="bg1"/>
                </a:solidFill>
              </a:rPr>
              <a:t>Servlet</a:t>
            </a:r>
            <a:endParaRPr lang="en-US" altLang="ja-JP" sz="1200" dirty="0" smtClean="0">
              <a:solidFill>
                <a:schemeClr val="bg1"/>
              </a:solidFill>
            </a:endParaRPr>
          </a:p>
          <a:p>
            <a:pPr algn="ctr"/>
            <a:r>
              <a:rPr lang="en-US" altLang="ja-JP" sz="1200" dirty="0" smtClean="0">
                <a:solidFill>
                  <a:schemeClr val="bg1"/>
                </a:solidFill>
              </a:rPr>
              <a:t>Exception</a:t>
            </a:r>
            <a:endParaRPr kumimoji="1" lang="ja-JP" altLang="en-US" sz="1200" dirty="0">
              <a:solidFill>
                <a:schemeClr val="bg1"/>
              </a:solidFill>
            </a:endParaRPr>
          </a:p>
        </p:txBody>
      </p:sp>
      <p:grpSp>
        <p:nvGrpSpPr>
          <p:cNvPr id="77" name="グループ化 76"/>
          <p:cNvGrpSpPr/>
          <p:nvPr/>
        </p:nvGrpSpPr>
        <p:grpSpPr>
          <a:xfrm>
            <a:off x="7793349" y="2050627"/>
            <a:ext cx="1112438" cy="555462"/>
            <a:chOff x="5675261" y="3733751"/>
            <a:chExt cx="1112438" cy="555462"/>
          </a:xfrm>
        </p:grpSpPr>
        <p:sp>
          <p:nvSpPr>
            <p:cNvPr id="78" name="星 24 77"/>
            <p:cNvSpPr/>
            <p:nvPr/>
          </p:nvSpPr>
          <p:spPr>
            <a:xfrm>
              <a:off x="5675261" y="3733751"/>
              <a:ext cx="1112438" cy="555462"/>
            </a:xfrm>
            <a:prstGeom prst="star24">
              <a:avLst/>
            </a:prstGeom>
          </p:spPr>
          <p:style>
            <a:lnRef idx="1">
              <a:schemeClr val="accent6"/>
            </a:lnRef>
            <a:fillRef idx="3">
              <a:schemeClr val="accent6"/>
            </a:fillRef>
            <a:effectRef idx="2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100" dirty="0"/>
            </a:p>
          </p:txBody>
        </p:sp>
        <p:sp>
          <p:nvSpPr>
            <p:cNvPr id="79" name="正方形/長方形 78"/>
            <p:cNvSpPr/>
            <p:nvPr/>
          </p:nvSpPr>
          <p:spPr>
            <a:xfrm>
              <a:off x="5751461" y="3860751"/>
              <a:ext cx="927601" cy="29110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1200" dirty="0" smtClean="0">
                  <a:solidFill>
                    <a:schemeClr val="bg1"/>
                  </a:solidFill>
                </a:rPr>
                <a:t>XxxError</a:t>
              </a:r>
              <a:endParaRPr kumimoji="1" lang="ja-JP" altLang="en-US" sz="12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68" name="グループ化 67"/>
          <p:cNvGrpSpPr/>
          <p:nvPr/>
        </p:nvGrpSpPr>
        <p:grpSpPr>
          <a:xfrm>
            <a:off x="3393647" y="3017674"/>
            <a:ext cx="1112438" cy="555462"/>
            <a:chOff x="5675261" y="3733751"/>
            <a:chExt cx="1112438" cy="555462"/>
          </a:xfrm>
        </p:grpSpPr>
        <p:sp>
          <p:nvSpPr>
            <p:cNvPr id="73" name="星 24 72"/>
            <p:cNvSpPr/>
            <p:nvPr/>
          </p:nvSpPr>
          <p:spPr>
            <a:xfrm>
              <a:off x="5675261" y="3733751"/>
              <a:ext cx="1112438" cy="555462"/>
            </a:xfrm>
            <a:prstGeom prst="star24">
              <a:avLst/>
            </a:prstGeom>
          </p:spPr>
          <p:style>
            <a:lnRef idx="1">
              <a:schemeClr val="accent6"/>
            </a:lnRef>
            <a:fillRef idx="3">
              <a:schemeClr val="accent6"/>
            </a:fillRef>
            <a:effectRef idx="2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100" dirty="0"/>
            </a:p>
          </p:txBody>
        </p:sp>
        <p:sp>
          <p:nvSpPr>
            <p:cNvPr id="75" name="正方形/長方形 74"/>
            <p:cNvSpPr/>
            <p:nvPr/>
          </p:nvSpPr>
          <p:spPr>
            <a:xfrm>
              <a:off x="5751461" y="3860751"/>
              <a:ext cx="927601" cy="29110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1200" dirty="0" smtClean="0">
                  <a:solidFill>
                    <a:schemeClr val="bg1"/>
                  </a:solidFill>
                </a:rPr>
                <a:t>XxxError</a:t>
              </a:r>
              <a:endParaRPr kumimoji="1" lang="ja-JP" altLang="en-US" sz="1200" dirty="0">
                <a:solidFill>
                  <a:schemeClr val="bg1"/>
                </a:solidFill>
              </a:endParaRPr>
            </a:p>
          </p:txBody>
        </p:sp>
      </p:grpSp>
      <p:sp>
        <p:nvSpPr>
          <p:cNvPr id="76" name="右矢印 75"/>
          <p:cNvSpPr/>
          <p:nvPr/>
        </p:nvSpPr>
        <p:spPr>
          <a:xfrm>
            <a:off x="4230006" y="329602"/>
            <a:ext cx="592096" cy="344590"/>
          </a:xfrm>
          <a:prstGeom prst="rightArrow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000" dirty="0" smtClean="0">
                <a:solidFill>
                  <a:schemeClr val="tx1"/>
                </a:solidFill>
              </a:rPr>
              <a:t>error</a:t>
            </a:r>
            <a:endParaRPr kumimoji="1" lang="en-US" altLang="ja-JP" sz="1000" dirty="0" smtClean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603225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正方形/長方形 43"/>
          <p:cNvSpPr/>
          <p:nvPr/>
        </p:nvSpPr>
        <p:spPr>
          <a:xfrm>
            <a:off x="1837764" y="176744"/>
            <a:ext cx="5477426" cy="712451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="horz" rtlCol="0" anchor="t" anchorCtr="0"/>
          <a:lstStyle/>
          <a:p>
            <a:pPr algn="ctr"/>
            <a:r>
              <a:rPr lang="en-US" altLang="ja-JP" sz="1200" b="1" dirty="0"/>
              <a:t>&lt;Application Server&gt;</a:t>
            </a:r>
          </a:p>
          <a:p>
            <a:pPr algn="ctr"/>
            <a:r>
              <a:rPr kumimoji="1" lang="en-US" altLang="ja-JP" sz="1600" dirty="0" smtClean="0"/>
              <a:t>Servlet</a:t>
            </a:r>
          </a:p>
          <a:p>
            <a:pPr algn="ctr"/>
            <a:r>
              <a:rPr lang="en-US" altLang="ja-JP" sz="1600" dirty="0"/>
              <a:t>Container</a:t>
            </a:r>
            <a:endParaRPr kumimoji="1" lang="ja-JP" altLang="en-US" sz="1600" dirty="0"/>
          </a:p>
        </p:txBody>
      </p:sp>
      <p:cxnSp>
        <p:nvCxnSpPr>
          <p:cNvPr id="42" name="直線矢印コネクタ 13"/>
          <p:cNvCxnSpPr/>
          <p:nvPr/>
        </p:nvCxnSpPr>
        <p:spPr>
          <a:xfrm flipV="1">
            <a:off x="1079586" y="379039"/>
            <a:ext cx="612330" cy="1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headEnd type="none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3" name="Picture 4" descr="PC関連機器のイラストカット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98917" y="354606"/>
            <a:ext cx="529640" cy="420181"/>
          </a:xfrm>
          <a:prstGeom prst="rect">
            <a:avLst/>
          </a:prstGeom>
          <a:noFill/>
        </p:spPr>
      </p:pic>
      <p:sp>
        <p:nvSpPr>
          <p:cNvPr id="46" name="テキスト ボックス 45"/>
          <p:cNvSpPr txBox="1"/>
          <p:nvPr/>
        </p:nvSpPr>
        <p:spPr>
          <a:xfrm>
            <a:off x="580340" y="36974"/>
            <a:ext cx="69643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1100" dirty="0" smtClean="0"/>
              <a:t>request</a:t>
            </a:r>
          </a:p>
        </p:txBody>
      </p:sp>
      <p:sp>
        <p:nvSpPr>
          <p:cNvPr id="47" name="テキスト ボックス 46"/>
          <p:cNvSpPr txBox="1"/>
          <p:nvPr/>
        </p:nvSpPr>
        <p:spPr>
          <a:xfrm>
            <a:off x="547423" y="807174"/>
            <a:ext cx="76226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1100" dirty="0" smtClean="0"/>
              <a:t>response</a:t>
            </a:r>
          </a:p>
        </p:txBody>
      </p:sp>
      <p:sp>
        <p:nvSpPr>
          <p:cNvPr id="51" name="正方形/長方形 50"/>
          <p:cNvSpPr/>
          <p:nvPr/>
        </p:nvSpPr>
        <p:spPr>
          <a:xfrm>
            <a:off x="1869139" y="1158887"/>
            <a:ext cx="5446051" cy="1987427"/>
          </a:xfrm>
          <a:prstGeom prst="rect">
            <a:avLst/>
          </a:prstGeom>
          <a:noFill/>
          <a:ln w="317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kumimoji="1" lang="en-US" altLang="ja-JP" sz="16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&lt;spring </a:t>
            </a:r>
            <a:r>
              <a:rPr lang="en-US" altLang="ja-JP" sz="16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MVC</a:t>
            </a:r>
            <a:r>
              <a:rPr lang="en-US" altLang="ja-JP" sz="16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&gt;</a:t>
            </a:r>
            <a:endParaRPr kumimoji="1" lang="ja-JP" altLang="en-US" sz="16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" name="角丸四角形 2"/>
          <p:cNvSpPr/>
          <p:nvPr/>
        </p:nvSpPr>
        <p:spPr>
          <a:xfrm>
            <a:off x="2293312" y="1619972"/>
            <a:ext cx="1594426" cy="958744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dirty="0"/>
              <a:t>&lt;framework&gt;</a:t>
            </a:r>
          </a:p>
          <a:p>
            <a:pPr algn="ctr"/>
            <a:r>
              <a:rPr lang="en-US" altLang="ja-JP" dirty="0" smtClean="0"/>
              <a:t>Dispatcher</a:t>
            </a:r>
          </a:p>
          <a:p>
            <a:pPr algn="ctr"/>
            <a:r>
              <a:rPr lang="en-US" altLang="ja-JP" dirty="0" smtClean="0"/>
              <a:t>Servlet</a:t>
            </a:r>
            <a:endParaRPr kumimoji="1" lang="ja-JP" altLang="en-US" dirty="0"/>
          </a:p>
        </p:txBody>
      </p:sp>
      <p:sp>
        <p:nvSpPr>
          <p:cNvPr id="37" name="角丸四角形 36"/>
          <p:cNvSpPr/>
          <p:nvPr/>
        </p:nvSpPr>
        <p:spPr>
          <a:xfrm>
            <a:off x="4837224" y="3479309"/>
            <a:ext cx="1945975" cy="2105676"/>
          </a:xfrm>
          <a:prstGeom prst="round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b" anchorCtr="1"/>
          <a:lstStyle/>
          <a:p>
            <a:pPr algn="ctr"/>
            <a:r>
              <a:rPr lang="en-US" altLang="ja-JP" sz="1600" b="1" dirty="0" smtClean="0">
                <a:solidFill>
                  <a:schemeClr val="accent3">
                    <a:lumMod val="75000"/>
                  </a:schemeClr>
                </a:solidFill>
              </a:rPr>
              <a:t>Domain</a:t>
            </a:r>
            <a:r>
              <a:rPr kumimoji="1" lang="en-US" altLang="ja-JP" sz="1600" b="1" dirty="0" smtClean="0">
                <a:solidFill>
                  <a:schemeClr val="accent3">
                    <a:lumMod val="75000"/>
                  </a:schemeClr>
                </a:solidFill>
              </a:rPr>
              <a:t> Layer</a:t>
            </a:r>
            <a:endParaRPr kumimoji="1" lang="ja-JP" altLang="en-US" sz="1600" b="1" dirty="0">
              <a:solidFill>
                <a:schemeClr val="accent3">
                  <a:lumMod val="75000"/>
                </a:schemeClr>
              </a:solidFill>
            </a:endParaRPr>
          </a:p>
        </p:txBody>
      </p:sp>
      <p:sp>
        <p:nvSpPr>
          <p:cNvPr id="38" name="角丸四角形 37"/>
          <p:cNvSpPr/>
          <p:nvPr/>
        </p:nvSpPr>
        <p:spPr>
          <a:xfrm>
            <a:off x="2263498" y="3511036"/>
            <a:ext cx="2103312" cy="2094971"/>
          </a:xfrm>
          <a:prstGeom prst="round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b" anchorCtr="1"/>
          <a:lstStyle/>
          <a:p>
            <a:pPr algn="ctr"/>
            <a:r>
              <a:rPr kumimoji="1" lang="en-US" altLang="ja-JP" sz="1600" b="1" dirty="0" smtClean="0">
                <a:solidFill>
                  <a:srgbClr val="7030A0"/>
                </a:solidFill>
              </a:rPr>
              <a:t>Infrastructure Layer</a:t>
            </a:r>
            <a:endParaRPr kumimoji="1" lang="ja-JP" altLang="en-US" sz="1600" b="1" dirty="0">
              <a:solidFill>
                <a:srgbClr val="7030A0"/>
              </a:solidFill>
            </a:endParaRPr>
          </a:p>
        </p:txBody>
      </p:sp>
      <p:sp>
        <p:nvSpPr>
          <p:cNvPr id="39" name="角丸四角形 38"/>
          <p:cNvSpPr/>
          <p:nvPr/>
        </p:nvSpPr>
        <p:spPr>
          <a:xfrm>
            <a:off x="5045334" y="1619972"/>
            <a:ext cx="1440000" cy="1034897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600" dirty="0" smtClean="0"/>
              <a:t>Controller</a:t>
            </a:r>
            <a:endParaRPr kumimoji="1" lang="ja-JP" altLang="en-US" sz="1600" dirty="0"/>
          </a:p>
        </p:txBody>
      </p:sp>
      <p:sp>
        <p:nvSpPr>
          <p:cNvPr id="45" name="角丸四角形 44"/>
          <p:cNvSpPr/>
          <p:nvPr/>
        </p:nvSpPr>
        <p:spPr>
          <a:xfrm>
            <a:off x="5090211" y="3681785"/>
            <a:ext cx="1440000" cy="486777"/>
          </a:xfrm>
          <a:prstGeom prst="round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600" dirty="0" smtClean="0">
                <a:solidFill>
                  <a:schemeClr val="bg1"/>
                </a:solidFill>
              </a:rPr>
              <a:t>Service</a:t>
            </a:r>
            <a:endParaRPr kumimoji="1" lang="ja-JP" altLang="en-US" sz="1600" dirty="0">
              <a:solidFill>
                <a:schemeClr val="bg1"/>
              </a:solidFill>
            </a:endParaRPr>
          </a:p>
        </p:txBody>
      </p:sp>
      <p:sp>
        <p:nvSpPr>
          <p:cNvPr id="48" name="角丸四角形 47"/>
          <p:cNvSpPr/>
          <p:nvPr/>
        </p:nvSpPr>
        <p:spPr>
          <a:xfrm>
            <a:off x="5090211" y="4657050"/>
            <a:ext cx="1440000" cy="457176"/>
          </a:xfrm>
          <a:prstGeom prst="round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600" dirty="0" smtClean="0">
                <a:solidFill>
                  <a:schemeClr val="bg1"/>
                </a:solidFill>
              </a:rPr>
              <a:t>Repository</a:t>
            </a:r>
            <a:endParaRPr kumimoji="1" lang="ja-JP" altLang="en-US" sz="1600" dirty="0">
              <a:solidFill>
                <a:schemeClr val="bg1"/>
              </a:solidFill>
            </a:endParaRPr>
          </a:p>
        </p:txBody>
      </p:sp>
      <p:sp>
        <p:nvSpPr>
          <p:cNvPr id="49" name="角丸四角形 48"/>
          <p:cNvSpPr/>
          <p:nvPr/>
        </p:nvSpPr>
        <p:spPr>
          <a:xfrm>
            <a:off x="2536845" y="3662979"/>
            <a:ext cx="1574548" cy="536869"/>
          </a:xfrm>
          <a:prstGeom prst="round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600" dirty="0" smtClean="0"/>
              <a:t>RepositoryImpl</a:t>
            </a:r>
            <a:endParaRPr kumimoji="1" lang="ja-JP" altLang="en-US" sz="1600" dirty="0"/>
          </a:p>
        </p:txBody>
      </p:sp>
      <p:cxnSp>
        <p:nvCxnSpPr>
          <p:cNvPr id="56" name="直線矢印コネクタ 13"/>
          <p:cNvCxnSpPr/>
          <p:nvPr/>
        </p:nvCxnSpPr>
        <p:spPr>
          <a:xfrm>
            <a:off x="3336198" y="889195"/>
            <a:ext cx="0" cy="730777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headEnd type="none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直線矢印コネクタ 13"/>
          <p:cNvCxnSpPr/>
          <p:nvPr/>
        </p:nvCxnSpPr>
        <p:spPr>
          <a:xfrm flipV="1">
            <a:off x="3896703" y="1841791"/>
            <a:ext cx="1157596" cy="1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headEnd type="none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テキスト ボックス 66"/>
          <p:cNvSpPr txBox="1"/>
          <p:nvPr/>
        </p:nvSpPr>
        <p:spPr>
          <a:xfrm>
            <a:off x="1270358" y="60199"/>
            <a:ext cx="4762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1400" dirty="0"/>
              <a:t>1</a:t>
            </a:r>
            <a:endParaRPr kumimoji="1" lang="en-US" altLang="ja-JP" sz="1400" dirty="0" smtClean="0"/>
          </a:p>
        </p:txBody>
      </p:sp>
      <p:sp>
        <p:nvSpPr>
          <p:cNvPr id="69" name="テキスト ボックス 68"/>
          <p:cNvSpPr txBox="1"/>
          <p:nvPr/>
        </p:nvSpPr>
        <p:spPr>
          <a:xfrm>
            <a:off x="3420453" y="1243464"/>
            <a:ext cx="4762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400" dirty="0" smtClean="0"/>
              <a:t>2</a:t>
            </a:r>
          </a:p>
        </p:txBody>
      </p:sp>
      <p:sp>
        <p:nvSpPr>
          <p:cNvPr id="70" name="テキスト ボックス 69"/>
          <p:cNvSpPr txBox="1"/>
          <p:nvPr/>
        </p:nvSpPr>
        <p:spPr>
          <a:xfrm>
            <a:off x="4209341" y="1534014"/>
            <a:ext cx="4762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400" dirty="0" smtClean="0"/>
              <a:t>3</a:t>
            </a:r>
          </a:p>
        </p:txBody>
      </p:sp>
      <p:sp>
        <p:nvSpPr>
          <p:cNvPr id="71" name="テキスト ボックス 70"/>
          <p:cNvSpPr txBox="1"/>
          <p:nvPr/>
        </p:nvSpPr>
        <p:spPr>
          <a:xfrm>
            <a:off x="6122360" y="2834322"/>
            <a:ext cx="4762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400" dirty="0" smtClean="0"/>
              <a:t>4</a:t>
            </a:r>
          </a:p>
        </p:txBody>
      </p:sp>
      <p:cxnSp>
        <p:nvCxnSpPr>
          <p:cNvPr id="86" name="直線矢印コネクタ 13"/>
          <p:cNvCxnSpPr/>
          <p:nvPr/>
        </p:nvCxnSpPr>
        <p:spPr>
          <a:xfrm flipV="1">
            <a:off x="2879982" y="889195"/>
            <a:ext cx="0" cy="733514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headEnd type="none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直線矢印コネクタ 13"/>
          <p:cNvCxnSpPr/>
          <p:nvPr/>
        </p:nvCxnSpPr>
        <p:spPr>
          <a:xfrm flipH="1">
            <a:off x="1079586" y="663386"/>
            <a:ext cx="566738" cy="0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headEnd type="none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3" name="テキスト ボックス 92"/>
          <p:cNvSpPr txBox="1"/>
          <p:nvPr/>
        </p:nvSpPr>
        <p:spPr>
          <a:xfrm>
            <a:off x="4226321" y="2130923"/>
            <a:ext cx="4762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400" dirty="0" smtClean="0"/>
              <a:t>10</a:t>
            </a:r>
          </a:p>
        </p:txBody>
      </p:sp>
      <p:sp>
        <p:nvSpPr>
          <p:cNvPr id="94" name="テキスト ボックス 93"/>
          <p:cNvSpPr txBox="1"/>
          <p:nvPr/>
        </p:nvSpPr>
        <p:spPr>
          <a:xfrm>
            <a:off x="2493379" y="1311620"/>
            <a:ext cx="4762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400" dirty="0" smtClean="0"/>
              <a:t>13</a:t>
            </a:r>
          </a:p>
        </p:txBody>
      </p:sp>
      <p:sp>
        <p:nvSpPr>
          <p:cNvPr id="95" name="テキスト ボックス 94"/>
          <p:cNvSpPr txBox="1"/>
          <p:nvPr/>
        </p:nvSpPr>
        <p:spPr>
          <a:xfrm>
            <a:off x="1216707" y="761359"/>
            <a:ext cx="4762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1400" dirty="0" smtClean="0"/>
              <a:t>14</a:t>
            </a:r>
          </a:p>
        </p:txBody>
      </p:sp>
      <p:cxnSp>
        <p:nvCxnSpPr>
          <p:cNvPr id="50" name="直線矢印コネクタ 13"/>
          <p:cNvCxnSpPr>
            <a:stCxn id="64" idx="2"/>
          </p:cNvCxnSpPr>
          <p:nvPr/>
        </p:nvCxnSpPr>
        <p:spPr>
          <a:xfrm flipH="1">
            <a:off x="3869546" y="2402070"/>
            <a:ext cx="1048612" cy="0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headEnd type="arrow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正方形/長方形 51"/>
          <p:cNvSpPr/>
          <p:nvPr/>
        </p:nvSpPr>
        <p:spPr>
          <a:xfrm>
            <a:off x="1893746" y="3334965"/>
            <a:ext cx="5430410" cy="2599644"/>
          </a:xfrm>
          <a:prstGeom prst="rect">
            <a:avLst/>
          </a:prstGeom>
          <a:noFill/>
          <a:ln w="317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kumimoji="1" lang="en-US" altLang="ja-JP" sz="16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&lt;springframework</a:t>
            </a:r>
            <a:r>
              <a:rPr lang="en-US" altLang="ja-JP" sz="16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&gt;</a:t>
            </a:r>
            <a:endParaRPr kumimoji="1" lang="ja-JP" altLang="en-US" sz="16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82" name="直線矢印コネクタ 13"/>
          <p:cNvCxnSpPr/>
          <p:nvPr/>
        </p:nvCxnSpPr>
        <p:spPr>
          <a:xfrm>
            <a:off x="6054161" y="2688107"/>
            <a:ext cx="0" cy="993678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headEnd type="none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3" name="テキスト ボックス 82"/>
          <p:cNvSpPr txBox="1"/>
          <p:nvPr/>
        </p:nvSpPr>
        <p:spPr>
          <a:xfrm>
            <a:off x="6104205" y="4266717"/>
            <a:ext cx="4762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400" dirty="0" smtClean="0"/>
              <a:t>5</a:t>
            </a:r>
          </a:p>
        </p:txBody>
      </p:sp>
      <p:cxnSp>
        <p:nvCxnSpPr>
          <p:cNvPr id="60" name="直線矢印コネクタ 13"/>
          <p:cNvCxnSpPr/>
          <p:nvPr/>
        </p:nvCxnSpPr>
        <p:spPr>
          <a:xfrm flipV="1">
            <a:off x="5510717" y="2671672"/>
            <a:ext cx="0" cy="1010113"/>
          </a:xfrm>
          <a:prstGeom prst="straightConnector1">
            <a:avLst/>
          </a:prstGeom>
          <a:ln>
            <a:solidFill>
              <a:schemeClr val="tx2">
                <a:lumMod val="60000"/>
                <a:lumOff val="40000"/>
              </a:schemeClr>
            </a:solidFill>
            <a:prstDash val="dash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直線矢印コネクタ 13"/>
          <p:cNvCxnSpPr/>
          <p:nvPr/>
        </p:nvCxnSpPr>
        <p:spPr>
          <a:xfrm flipH="1">
            <a:off x="3869544" y="2090426"/>
            <a:ext cx="1200336" cy="0"/>
          </a:xfrm>
          <a:prstGeom prst="straightConnector1">
            <a:avLst/>
          </a:prstGeom>
          <a:ln>
            <a:solidFill>
              <a:schemeClr val="tx2">
                <a:lumMod val="60000"/>
                <a:lumOff val="40000"/>
              </a:schemeClr>
            </a:solidFill>
            <a:prstDash val="dash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フローチャート : 他ページ結合子 63"/>
          <p:cNvSpPr/>
          <p:nvPr/>
        </p:nvSpPr>
        <p:spPr>
          <a:xfrm rot="5400000">
            <a:off x="4877140" y="2247943"/>
            <a:ext cx="390290" cy="308254"/>
          </a:xfrm>
          <a:prstGeom prst="flowChartOffpageConnector">
            <a:avLst/>
          </a:prstGeom>
          <a:gradFill>
            <a:gsLst>
              <a:gs pos="54000">
                <a:srgbClr val="FFC000"/>
              </a:gs>
              <a:gs pos="0">
                <a:srgbClr val="FFFF00"/>
              </a:gs>
              <a:gs pos="100000">
                <a:srgbClr val="FFC000"/>
              </a:gs>
            </a:gsLst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cxnSp>
        <p:nvCxnSpPr>
          <p:cNvPr id="65" name="直線矢印コネクタ 13"/>
          <p:cNvCxnSpPr>
            <a:stCxn id="3" idx="2"/>
            <a:endCxn id="64" idx="3"/>
          </p:cNvCxnSpPr>
          <p:nvPr/>
        </p:nvCxnSpPr>
        <p:spPr>
          <a:xfrm rot="16200000" flipH="1">
            <a:off x="4072156" y="1597085"/>
            <a:ext cx="18499" cy="1981760"/>
          </a:xfrm>
          <a:prstGeom prst="curvedConnector3">
            <a:avLst>
              <a:gd name="adj1" fmla="val 1671885"/>
            </a:avLst>
          </a:prstGeom>
          <a:ln>
            <a:solidFill>
              <a:schemeClr val="tx1">
                <a:lumMod val="50000"/>
                <a:lumOff val="50000"/>
              </a:schemeClr>
            </a:solidFill>
            <a:headEnd type="arrow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" name="テキスト ボックス 74"/>
          <p:cNvSpPr txBox="1"/>
          <p:nvPr/>
        </p:nvSpPr>
        <p:spPr>
          <a:xfrm>
            <a:off x="3926199" y="2598370"/>
            <a:ext cx="4762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400" dirty="0" smtClean="0"/>
              <a:t>12</a:t>
            </a:r>
          </a:p>
        </p:txBody>
      </p:sp>
      <p:sp>
        <p:nvSpPr>
          <p:cNvPr id="76" name="線吹き出し 2 (枠付き) 75"/>
          <p:cNvSpPr/>
          <p:nvPr/>
        </p:nvSpPr>
        <p:spPr>
          <a:xfrm>
            <a:off x="6365598" y="379040"/>
            <a:ext cx="2518425" cy="1950123"/>
          </a:xfrm>
          <a:prstGeom prst="borderCallout2">
            <a:avLst>
              <a:gd name="adj1" fmla="val 88156"/>
              <a:gd name="adj2" fmla="val -2184"/>
              <a:gd name="adj3" fmla="val 105354"/>
              <a:gd name="adj4" fmla="val -13387"/>
              <a:gd name="adj5" fmla="val 105962"/>
              <a:gd name="adj6" fmla="val -47749"/>
            </a:avLst>
          </a:prstGeom>
          <a:solidFill>
            <a:schemeClr val="bg1"/>
          </a:solidFill>
          <a:ln w="254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ja-JP" sz="1400" b="1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11</a:t>
            </a:r>
          </a:p>
          <a:p>
            <a:r>
              <a:rPr lang="en-US" altLang="ja-JP" sz="1400" b="1" dirty="0" smtClean="0">
                <a:solidFill>
                  <a:schemeClr val="tx1"/>
                </a:solidFill>
              </a:rPr>
              <a:t>Define </a:t>
            </a:r>
            <a:r>
              <a:rPr lang="en-US" altLang="ja-JP" sz="1400" b="1" dirty="0">
                <a:solidFill>
                  <a:schemeClr val="tx1"/>
                </a:solidFill>
              </a:rPr>
              <a:t>@ExceptionHandler.</a:t>
            </a:r>
            <a:endParaRPr lang="en-US" altLang="ja-JP" sz="1400" dirty="0">
              <a:solidFill>
                <a:schemeClr val="tx1"/>
              </a:solidFill>
            </a:endParaRPr>
          </a:p>
          <a:p>
            <a:endParaRPr lang="en-US" altLang="ja-JP" sz="1400" dirty="0">
              <a:solidFill>
                <a:schemeClr val="tx1"/>
              </a:solidFill>
            </a:endParaRPr>
          </a:p>
          <a:p>
            <a:r>
              <a:rPr lang="en-US" altLang="ja-JP" sz="1400" b="1" dirty="0">
                <a:solidFill>
                  <a:schemeClr val="tx1"/>
                </a:solidFill>
              </a:rPr>
              <a:t>@ExceptionHandler</a:t>
            </a:r>
            <a:r>
              <a:rPr lang="en-US" altLang="ja-JP" sz="1000" dirty="0" smtClean="0">
                <a:solidFill>
                  <a:schemeClr val="tx1"/>
                </a:solidFill>
              </a:rPr>
              <a:t>(</a:t>
            </a:r>
            <a:r>
              <a:rPr lang="en-US" altLang="ja-JP" sz="1000" dirty="0">
                <a:solidFill>
                  <a:schemeClr val="tx1"/>
                </a:solidFill>
              </a:rPr>
              <a:t>(ObstructionException.class</a:t>
            </a:r>
            <a:r>
              <a:rPr lang="en-US" altLang="ja-JP" sz="1000" dirty="0" smtClean="0">
                <a:solidFill>
                  <a:schemeClr val="tx1"/>
                </a:solidFill>
              </a:rPr>
              <a:t>)</a:t>
            </a:r>
            <a:endParaRPr lang="en-US" altLang="ja-JP" sz="1000" dirty="0">
              <a:solidFill>
                <a:schemeClr val="tx1"/>
              </a:solidFill>
            </a:endParaRPr>
          </a:p>
          <a:p>
            <a:r>
              <a:rPr lang="en-US" altLang="ja-JP" sz="1000" dirty="0">
                <a:solidFill>
                  <a:schemeClr val="tx1"/>
                </a:solidFill>
              </a:rPr>
              <a:t>public String handleObstructionException</a:t>
            </a:r>
            <a:r>
              <a:rPr lang="en-US" altLang="ja-JP" sz="1000" dirty="0" smtClean="0">
                <a:solidFill>
                  <a:schemeClr val="tx1"/>
                </a:solidFill>
              </a:rPr>
              <a:t>(…) </a:t>
            </a:r>
            <a:r>
              <a:rPr lang="en-US" altLang="ja-JP" sz="1000" dirty="0">
                <a:solidFill>
                  <a:schemeClr val="tx1"/>
                </a:solidFill>
              </a:rPr>
              <a:t>{</a:t>
            </a:r>
          </a:p>
          <a:p>
            <a:r>
              <a:rPr lang="en-US" altLang="ja-JP" sz="1000" dirty="0">
                <a:solidFill>
                  <a:schemeClr val="tx1"/>
                </a:solidFill>
              </a:rPr>
              <a:t>    // do exception handling. </a:t>
            </a:r>
          </a:p>
          <a:p>
            <a:r>
              <a:rPr lang="en-US" altLang="ja-JP" sz="1000" dirty="0">
                <a:solidFill>
                  <a:schemeClr val="tx1"/>
                </a:solidFill>
              </a:rPr>
              <a:t>}</a:t>
            </a:r>
          </a:p>
        </p:txBody>
      </p:sp>
      <p:sp>
        <p:nvSpPr>
          <p:cNvPr id="66" name="角丸四角形 65"/>
          <p:cNvSpPr/>
          <p:nvPr/>
        </p:nvSpPr>
        <p:spPr>
          <a:xfrm>
            <a:off x="2387743" y="4613877"/>
            <a:ext cx="1882597" cy="521371"/>
          </a:xfrm>
          <a:prstGeom prst="round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600" dirty="0" smtClean="0"/>
              <a:t>System</a:t>
            </a:r>
            <a:r>
              <a:rPr lang="ja-JP" altLang="en-US" sz="1600" dirty="0"/>
              <a:t> </a:t>
            </a:r>
            <a:r>
              <a:rPr kumimoji="1" lang="en-US" altLang="ja-JP" sz="1600" dirty="0" smtClean="0"/>
              <a:t>Integration</a:t>
            </a:r>
            <a:r>
              <a:rPr lang="ja-JP" altLang="en-US" sz="1600" dirty="0" smtClean="0"/>
              <a:t> </a:t>
            </a:r>
            <a:endParaRPr lang="en-US" altLang="ja-JP" sz="1600" dirty="0" smtClean="0"/>
          </a:p>
          <a:p>
            <a:pPr algn="ctr"/>
            <a:r>
              <a:rPr kumimoji="1" lang="en-US" altLang="ja-JP" sz="1600" dirty="0" smtClean="0"/>
              <a:t>Connector</a:t>
            </a:r>
          </a:p>
        </p:txBody>
      </p:sp>
      <p:sp>
        <p:nvSpPr>
          <p:cNvPr id="68" name="正方形/長方形 67"/>
          <p:cNvSpPr/>
          <p:nvPr/>
        </p:nvSpPr>
        <p:spPr>
          <a:xfrm>
            <a:off x="363238" y="4520336"/>
            <a:ext cx="963664" cy="719528"/>
          </a:xfrm>
          <a:prstGeom prst="rect">
            <a:avLst/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 smtClean="0"/>
              <a:t>External</a:t>
            </a:r>
          </a:p>
          <a:p>
            <a:pPr algn="ctr"/>
            <a:r>
              <a:rPr lang="en-US" altLang="ja-JP" dirty="0" smtClean="0"/>
              <a:t>System</a:t>
            </a:r>
            <a:endParaRPr kumimoji="1" lang="ja-JP" altLang="en-US" dirty="0"/>
          </a:p>
        </p:txBody>
      </p:sp>
      <p:cxnSp>
        <p:nvCxnSpPr>
          <p:cNvPr id="73" name="直線矢印コネクタ 13"/>
          <p:cNvCxnSpPr/>
          <p:nvPr/>
        </p:nvCxnSpPr>
        <p:spPr>
          <a:xfrm flipH="1" flipV="1">
            <a:off x="4164324" y="3925173"/>
            <a:ext cx="907964" cy="853331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headEnd type="none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直線矢印コネクタ 13"/>
          <p:cNvCxnSpPr/>
          <p:nvPr/>
        </p:nvCxnSpPr>
        <p:spPr>
          <a:xfrm>
            <a:off x="3581353" y="4226744"/>
            <a:ext cx="0" cy="364722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headEnd type="none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7" name="テキスト ボックス 76"/>
          <p:cNvSpPr txBox="1"/>
          <p:nvPr/>
        </p:nvSpPr>
        <p:spPr>
          <a:xfrm>
            <a:off x="4520361" y="4014673"/>
            <a:ext cx="4762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400" dirty="0" smtClean="0"/>
              <a:t>6</a:t>
            </a:r>
          </a:p>
        </p:txBody>
      </p:sp>
      <p:sp>
        <p:nvSpPr>
          <p:cNvPr id="78" name="テキスト ボックス 77"/>
          <p:cNvSpPr txBox="1"/>
          <p:nvPr/>
        </p:nvSpPr>
        <p:spPr>
          <a:xfrm>
            <a:off x="1983917" y="4932087"/>
            <a:ext cx="4762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400" dirty="0" smtClean="0"/>
              <a:t>8</a:t>
            </a:r>
          </a:p>
        </p:txBody>
      </p:sp>
      <p:cxnSp>
        <p:nvCxnSpPr>
          <p:cNvPr id="79" name="直線矢印コネクタ 13"/>
          <p:cNvCxnSpPr>
            <a:stCxn id="98" idx="6"/>
            <a:endCxn id="66" idx="1"/>
          </p:cNvCxnSpPr>
          <p:nvPr/>
        </p:nvCxnSpPr>
        <p:spPr>
          <a:xfrm>
            <a:off x="1932336" y="4874561"/>
            <a:ext cx="455407" cy="2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headEnd type="arrow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直線矢印コネクタ 13"/>
          <p:cNvCxnSpPr/>
          <p:nvPr/>
        </p:nvCxnSpPr>
        <p:spPr>
          <a:xfrm flipV="1">
            <a:off x="3037909" y="4189584"/>
            <a:ext cx="0" cy="424293"/>
          </a:xfrm>
          <a:prstGeom prst="straightConnector1">
            <a:avLst/>
          </a:prstGeom>
          <a:ln>
            <a:prstDash val="dash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直線矢印コネクタ 13"/>
          <p:cNvCxnSpPr/>
          <p:nvPr/>
        </p:nvCxnSpPr>
        <p:spPr>
          <a:xfrm>
            <a:off x="4164324" y="4093521"/>
            <a:ext cx="881010" cy="874165"/>
          </a:xfrm>
          <a:prstGeom prst="straightConnector1">
            <a:avLst/>
          </a:prstGeom>
          <a:ln>
            <a:prstDash val="dash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直線矢印コネクタ 13"/>
          <p:cNvCxnSpPr/>
          <p:nvPr/>
        </p:nvCxnSpPr>
        <p:spPr>
          <a:xfrm>
            <a:off x="6054161" y="4193259"/>
            <a:ext cx="0" cy="431357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headEnd type="none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直線矢印コネクタ 13"/>
          <p:cNvCxnSpPr/>
          <p:nvPr/>
        </p:nvCxnSpPr>
        <p:spPr>
          <a:xfrm flipV="1">
            <a:off x="5510717" y="4168562"/>
            <a:ext cx="0" cy="481386"/>
          </a:xfrm>
          <a:prstGeom prst="straightConnector1">
            <a:avLst/>
          </a:prstGeom>
          <a:ln>
            <a:solidFill>
              <a:schemeClr val="tx2">
                <a:lumMod val="60000"/>
                <a:lumOff val="40000"/>
              </a:schemeClr>
            </a:solidFill>
            <a:prstDash val="dash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6" name="テキスト ボックス 95"/>
          <p:cNvSpPr txBox="1"/>
          <p:nvPr/>
        </p:nvSpPr>
        <p:spPr>
          <a:xfrm>
            <a:off x="3631421" y="4266716"/>
            <a:ext cx="4762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400" dirty="0" smtClean="0"/>
              <a:t>7</a:t>
            </a:r>
          </a:p>
        </p:txBody>
      </p:sp>
      <p:sp>
        <p:nvSpPr>
          <p:cNvPr id="98" name="禁止 97"/>
          <p:cNvSpPr/>
          <p:nvPr/>
        </p:nvSpPr>
        <p:spPr>
          <a:xfrm>
            <a:off x="1425499" y="4714688"/>
            <a:ext cx="506837" cy="319745"/>
          </a:xfrm>
          <a:prstGeom prst="noSmoking">
            <a:avLst/>
          </a:prstGeom>
          <a:solidFill>
            <a:srgbClr val="FF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>
              <a:solidFill>
                <a:schemeClr val="tx1"/>
              </a:solidFill>
            </a:endParaRPr>
          </a:p>
        </p:txBody>
      </p:sp>
      <p:sp>
        <p:nvSpPr>
          <p:cNvPr id="99" name="爆発 2 98"/>
          <p:cNvSpPr/>
          <p:nvPr/>
        </p:nvSpPr>
        <p:spPr>
          <a:xfrm>
            <a:off x="1704381" y="3835411"/>
            <a:ext cx="1177862" cy="1132275"/>
          </a:xfrm>
          <a:prstGeom prst="irregularSeal2">
            <a:avLst/>
          </a:prstGeom>
          <a:gradFill>
            <a:gsLst>
              <a:gs pos="0">
                <a:srgbClr val="FFF200"/>
              </a:gs>
              <a:gs pos="96000">
                <a:srgbClr val="FF7A00"/>
              </a:gs>
              <a:gs pos="100000">
                <a:srgbClr val="FF0300"/>
              </a:gs>
              <a:gs pos="100000">
                <a:srgbClr val="4D0808"/>
              </a:gs>
            </a:gsLst>
            <a:lin ang="16200000" scaled="0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00" name="正方形/長方形 99"/>
          <p:cNvSpPr/>
          <p:nvPr/>
        </p:nvSpPr>
        <p:spPr>
          <a:xfrm>
            <a:off x="1776478" y="4167277"/>
            <a:ext cx="927601" cy="50006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200" dirty="0" smtClean="0">
                <a:solidFill>
                  <a:schemeClr val="tx1"/>
                </a:solidFill>
              </a:rPr>
              <a:t>ObstructionException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01" name="四角形吹き出し 100"/>
          <p:cNvSpPr/>
          <p:nvPr/>
        </p:nvSpPr>
        <p:spPr>
          <a:xfrm>
            <a:off x="489780" y="3209808"/>
            <a:ext cx="1670597" cy="771614"/>
          </a:xfrm>
          <a:prstGeom prst="wedgeRectCallout">
            <a:avLst>
              <a:gd name="adj1" fmla="val 42397"/>
              <a:gd name="adj2" fmla="val 79771"/>
            </a:avLst>
          </a:prstGeom>
          <a:ln w="190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US" altLang="ja-JP" sz="1400" dirty="0" smtClean="0"/>
              <a:t>9</a:t>
            </a:r>
          </a:p>
          <a:p>
            <a:r>
              <a:rPr lang="en-US" altLang="ja-JP" sz="1400" dirty="0" smtClean="0"/>
              <a:t>Occur obstruction of external system.</a:t>
            </a:r>
            <a:endParaRPr kumimoji="1" lang="ja-JP" altLang="en-US" sz="12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216480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ホワイ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​​テーマ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13935</TotalTime>
  <Words>1020</Words>
  <PresentationFormat>画面に合わせる (4:3)</PresentationFormat>
  <Paragraphs>574</Paragraphs>
  <Slides>13</Slides>
  <Notes>9</Notes>
  <HiddenSlides>0</HiddenSlides>
  <MMClips>0</MMClips>
  <ScaleCrop>false</ScaleCrop>
  <HeadingPairs>
    <vt:vector size="4" baseType="variant">
      <vt:variant>
        <vt:lpstr>テーマ</vt:lpstr>
      </vt:variant>
      <vt:variant>
        <vt:i4>1</vt:i4>
      </vt:variant>
      <vt:variant>
        <vt:lpstr>スライド タイトル</vt:lpstr>
      </vt:variant>
      <vt:variant>
        <vt:i4>13</vt:i4>
      </vt:variant>
    </vt:vector>
  </HeadingPairs>
  <TitlesOfParts>
    <vt:vector size="14" baseType="lpstr">
      <vt:lpstr>ホワイト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2012-07-17T19:23:13Z</dcterms:created>
  <dcterms:modified xsi:type="dcterms:W3CDTF">2017-11-21T07:07:14Z</dcterms:modified>
</cp:coreProperties>
</file>