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83" r:id="rId2"/>
    <p:sldId id="284" r:id="rId3"/>
    <p:sldId id="312" r:id="rId4"/>
    <p:sldId id="285" r:id="rId5"/>
    <p:sldId id="311" r:id="rId6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33CC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9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2024/12/27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352427" y="544514"/>
            <a:ext cx="4432795" cy="213359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rgbClr val="0070C0"/>
                </a:solidFill>
              </a:rPr>
              <a:t>CL_ORDERSTATUS</a:t>
            </a:r>
            <a:r>
              <a:rPr lang="en-US" sz="1200" b="1" dirty="0">
                <a:solidFill>
                  <a:schemeClr val="tx1"/>
                </a:solidFill>
              </a:rPr>
              <a:t>" class="</a:t>
            </a:r>
            <a:r>
              <a:rPr lang="en-US" sz="1200" b="1" dirty="0" err="1">
                <a:solidFill>
                  <a:schemeClr val="tx1"/>
                </a:solidFill>
              </a:rPr>
              <a:t>org.terasoluna.gfw.common.codelist.SimpleMapCodeList</a:t>
            </a:r>
            <a:r>
              <a:rPr lang="en-US" sz="12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&lt;property name="map"&gt;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&lt;util:map key-type="java.lang.String" value-type=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"java.lang.String" map-class="java.util.LinkedHashMap"&gt;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   &lt;entry key="1" value="Received"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   &lt;entry key="2" value="Sent"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    &lt;entry key="3" value="Cancelled"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    &lt;/util:map&gt;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   &lt;/property&gt;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&lt;/bean&gt;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162049" y="3240087"/>
          <a:ext cx="256222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value(key)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label(value)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Received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Sent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Cancelled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1076324" y="3057525"/>
            <a:ext cx="27527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altLang="ja-JP" sz="1200" b="1" dirty="0">
                <a:solidFill>
                  <a:srgbClr val="0070C0"/>
                </a:solidFill>
              </a:rPr>
              <a:t>CL_ORDERSTATUS</a:t>
            </a:r>
            <a:endParaRPr kumimoji="1" lang="ja-JP" altLang="en-US" sz="1200" b="1" dirty="0">
              <a:solidFill>
                <a:srgbClr val="0070C0"/>
              </a:solidFill>
            </a:endParaRPr>
          </a:p>
        </p:txBody>
      </p:sp>
      <p:cxnSp>
        <p:nvCxnSpPr>
          <p:cNvPr id="29" name="直線コネクタ 28"/>
          <p:cNvCxnSpPr/>
          <p:nvPr/>
        </p:nvCxnSpPr>
        <p:spPr>
          <a:xfrm rot="10800000" flipV="1">
            <a:off x="116686" y="1794436"/>
            <a:ext cx="838200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>
            <a:cxnSpLocks/>
          </p:cNvCxnSpPr>
          <p:nvPr/>
        </p:nvCxnSpPr>
        <p:spPr>
          <a:xfrm>
            <a:off x="112710" y="1794436"/>
            <a:ext cx="2" cy="197905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>
            <a:off x="114299" y="3771900"/>
            <a:ext cx="1504952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/>
          <p:cNvSpPr/>
          <p:nvPr/>
        </p:nvSpPr>
        <p:spPr>
          <a:xfrm>
            <a:off x="665606" y="4695825"/>
            <a:ext cx="3771900" cy="11239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&lt;select id="orderStatus" name="orderStatus" &gt;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value="1"&gt;Received&lt;/option&gt;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value="2"&gt;Sent&lt;/option&gt;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value="3"&gt;Cancelled&lt;/option&gt;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&lt;/select&gt; </a:t>
            </a:r>
          </a:p>
        </p:txBody>
      </p:sp>
      <p:sp>
        <p:nvSpPr>
          <p:cNvPr id="54" name="正方形/長方形 53"/>
          <p:cNvSpPr/>
          <p:nvPr/>
        </p:nvSpPr>
        <p:spPr>
          <a:xfrm>
            <a:off x="352426" y="333074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codelist.xml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正方形/長方形 54"/>
          <p:cNvSpPr/>
          <p:nvPr/>
        </p:nvSpPr>
        <p:spPr>
          <a:xfrm>
            <a:off x="665606" y="4513263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1619251" y="3525840"/>
            <a:ext cx="400050" cy="811527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9" name="正方形/長方形 58"/>
          <p:cNvSpPr/>
          <p:nvPr/>
        </p:nvSpPr>
        <p:spPr>
          <a:xfrm>
            <a:off x="952501" y="1519839"/>
            <a:ext cx="987012" cy="55737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0" name="正方形/長方形 59"/>
          <p:cNvSpPr/>
          <p:nvPr/>
        </p:nvSpPr>
        <p:spPr>
          <a:xfrm>
            <a:off x="1972317" y="1515752"/>
            <a:ext cx="1388464" cy="557370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1" name="正方形/長方形 60"/>
          <p:cNvSpPr/>
          <p:nvPr/>
        </p:nvSpPr>
        <p:spPr>
          <a:xfrm>
            <a:off x="2565845" y="3506789"/>
            <a:ext cx="1034605" cy="811527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2" name="正方形/長方形 61"/>
          <p:cNvSpPr/>
          <p:nvPr/>
        </p:nvSpPr>
        <p:spPr>
          <a:xfrm>
            <a:off x="885825" y="5010747"/>
            <a:ext cx="1181451" cy="52328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正方形/長方形 62"/>
          <p:cNvSpPr/>
          <p:nvPr/>
        </p:nvSpPr>
        <p:spPr>
          <a:xfrm>
            <a:off x="2115250" y="5010747"/>
            <a:ext cx="1368075" cy="523279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6" name="直線コネクタ 65"/>
          <p:cNvCxnSpPr/>
          <p:nvPr/>
        </p:nvCxnSpPr>
        <p:spPr>
          <a:xfrm rot="10800000">
            <a:off x="114301" y="4135437"/>
            <a:ext cx="1504953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正方形/長方形 67"/>
          <p:cNvSpPr/>
          <p:nvPr/>
        </p:nvSpPr>
        <p:spPr>
          <a:xfrm>
            <a:off x="5305875" y="3013385"/>
            <a:ext cx="3387996" cy="11388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&lt;select </a:t>
            </a:r>
            <a:r>
              <a:rPr lang="en-US" altLang="ja-JP" sz="1200" b="1" dirty="0" err="1">
                <a:solidFill>
                  <a:schemeClr val="tx1"/>
                </a:solidFill>
              </a:rPr>
              <a:t>th:field</a:t>
            </a:r>
            <a:r>
              <a:rPr lang="en-US" altLang="ja-JP" sz="1200" b="1" dirty="0">
                <a:solidFill>
                  <a:schemeClr val="tx1"/>
                </a:solidFill>
              </a:rPr>
              <a:t>=“*{</a:t>
            </a:r>
            <a:r>
              <a:rPr lang="en-US" altLang="ja-JP" sz="1200" b="1" dirty="0" err="1">
                <a:solidFill>
                  <a:schemeClr val="tx1"/>
                </a:solidFill>
              </a:rPr>
              <a:t>orderStatus</a:t>
            </a:r>
            <a:r>
              <a:rPr lang="en-US" altLang="ja-JP" sz="1200" b="1" dirty="0">
                <a:solidFill>
                  <a:schemeClr val="tx1"/>
                </a:solidFill>
              </a:rPr>
              <a:t>}"&gt;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&lt;option </a:t>
            </a:r>
            <a:r>
              <a:rPr lang="en-US" altLang="ja-JP" sz="1200" b="1" dirty="0" err="1">
                <a:solidFill>
                  <a:schemeClr val="tx1"/>
                </a:solidFill>
              </a:rPr>
              <a:t>th:each</a:t>
            </a:r>
            <a:r>
              <a:rPr lang="en-US" altLang="ja-JP" sz="1200" b="1" dirty="0">
                <a:solidFill>
                  <a:schemeClr val="tx1"/>
                </a:solidFill>
              </a:rPr>
              <a:t>=“order  :  ${</a:t>
            </a:r>
            <a:r>
              <a:rPr lang="en-US" altLang="ja-JP" sz="1200" b="1" dirty="0">
                <a:solidFill>
                  <a:srgbClr val="0070C0"/>
                </a:solidFill>
              </a:rPr>
              <a:t>CL_ORDERSTATUS</a:t>
            </a:r>
            <a:r>
              <a:rPr lang="en-US" altLang="ja-JP" sz="1200" b="1" dirty="0">
                <a:solidFill>
                  <a:schemeClr val="tx1"/>
                </a:solidFill>
              </a:rPr>
              <a:t>}“</a:t>
            </a:r>
          </a:p>
          <a:p>
            <a:r>
              <a:rPr lang="en-US" altLang="ja-JP" sz="1200" b="1" dirty="0">
                <a:solidFill>
                  <a:srgbClr val="0070C0"/>
                </a:solidFill>
              </a:rPr>
              <a:t>     </a:t>
            </a:r>
            <a:r>
              <a:rPr lang="en-US" altLang="ja-JP" sz="1200" b="1" dirty="0">
                <a:solidFill>
                  <a:schemeClr val="tx1"/>
                </a:solidFill>
              </a:rPr>
              <a:t> </a:t>
            </a:r>
            <a:r>
              <a:rPr lang="en-US" altLang="ja-JP" sz="1200" b="1" dirty="0" err="1">
                <a:solidFill>
                  <a:schemeClr val="tx1"/>
                </a:solidFill>
              </a:rPr>
              <a:t>th:value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order.key</a:t>
            </a:r>
            <a:r>
              <a:rPr lang="en-US" altLang="ja-JP" sz="1200" b="1" dirty="0">
                <a:solidFill>
                  <a:schemeClr val="tx1"/>
                </a:solidFill>
              </a:rPr>
              <a:t>}“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</a:t>
            </a:r>
            <a:r>
              <a:rPr lang="en-US" altLang="ja-JP" sz="1200" b="1" dirty="0" err="1">
                <a:solidFill>
                  <a:schemeClr val="tx1"/>
                </a:solidFill>
              </a:rPr>
              <a:t>th:text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order.value</a:t>
            </a:r>
            <a:r>
              <a:rPr lang="en-US" altLang="ja-JP" sz="1200" b="1" dirty="0">
                <a:solidFill>
                  <a:schemeClr val="tx1"/>
                </a:solidFill>
              </a:rPr>
              <a:t>}“ /&gt;Order Status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&lt;/option&gt;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&lt;/select&gt;</a:t>
            </a:r>
          </a:p>
        </p:txBody>
      </p:sp>
      <p:cxnSp>
        <p:nvCxnSpPr>
          <p:cNvPr id="73" name="直線矢印コネクタ 72"/>
          <p:cNvCxnSpPr/>
          <p:nvPr/>
        </p:nvCxnSpPr>
        <p:spPr>
          <a:xfrm>
            <a:off x="114300" y="5260179"/>
            <a:ext cx="771525" cy="3179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/>
          <p:cNvCxnSpPr/>
          <p:nvPr/>
        </p:nvCxnSpPr>
        <p:spPr>
          <a:xfrm rot="5400000">
            <a:off x="-448069" y="4699399"/>
            <a:ext cx="1127922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>
            <a:cxnSpLocks/>
            <a:endCxn id="60" idx="3"/>
          </p:cNvCxnSpPr>
          <p:nvPr/>
        </p:nvCxnSpPr>
        <p:spPr>
          <a:xfrm flipH="1">
            <a:off x="3360781" y="1794437"/>
            <a:ext cx="85720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/>
          <p:cNvCxnSpPr>
            <a:cxnSpLocks/>
          </p:cNvCxnSpPr>
          <p:nvPr/>
        </p:nvCxnSpPr>
        <p:spPr>
          <a:xfrm>
            <a:off x="4217986" y="1794437"/>
            <a:ext cx="1" cy="198937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/>
          <p:cNvCxnSpPr/>
          <p:nvPr/>
        </p:nvCxnSpPr>
        <p:spPr>
          <a:xfrm rot="10800000">
            <a:off x="3600451" y="3783809"/>
            <a:ext cx="61912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/>
          <p:cNvCxnSpPr/>
          <p:nvPr/>
        </p:nvCxnSpPr>
        <p:spPr>
          <a:xfrm rot="10800000">
            <a:off x="3600452" y="4137027"/>
            <a:ext cx="620715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>
            <a:cxnSpLocks/>
          </p:cNvCxnSpPr>
          <p:nvPr/>
        </p:nvCxnSpPr>
        <p:spPr>
          <a:xfrm flipH="1">
            <a:off x="4219575" y="4137027"/>
            <a:ext cx="1591" cy="10972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>
            <a:cxnSpLocks/>
          </p:cNvCxnSpPr>
          <p:nvPr/>
        </p:nvCxnSpPr>
        <p:spPr>
          <a:xfrm flipH="1">
            <a:off x="3486506" y="5234307"/>
            <a:ext cx="731480" cy="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カギ線コネクタ 88"/>
          <p:cNvCxnSpPr>
            <a:cxnSpLocks/>
            <a:stCxn id="6" idx="3"/>
            <a:endCxn id="68" idx="1"/>
          </p:cNvCxnSpPr>
          <p:nvPr/>
        </p:nvCxnSpPr>
        <p:spPr>
          <a:xfrm>
            <a:off x="3829050" y="3148806"/>
            <a:ext cx="1476825" cy="43402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正方形/長方形 89"/>
          <p:cNvSpPr/>
          <p:nvPr/>
        </p:nvSpPr>
        <p:spPr>
          <a:xfrm>
            <a:off x="5286153" y="2789868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 err="1">
                <a:solidFill>
                  <a:schemeClr val="tx1"/>
                </a:solidFill>
              </a:rPr>
              <a:t>Thymeleaf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2" name="屈折矢印 91"/>
          <p:cNvSpPr/>
          <p:nvPr/>
        </p:nvSpPr>
        <p:spPr>
          <a:xfrm rot="16200000" flipH="1">
            <a:off x="4736391" y="3929935"/>
            <a:ext cx="946782" cy="154384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4" name="右矢印 93"/>
          <p:cNvSpPr/>
          <p:nvPr/>
        </p:nvSpPr>
        <p:spPr>
          <a:xfrm>
            <a:off x="4437506" y="5324478"/>
            <a:ext cx="1658144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5" name="正方形/長方形 94"/>
          <p:cNvSpPr/>
          <p:nvPr/>
        </p:nvSpPr>
        <p:spPr>
          <a:xfrm>
            <a:off x="6143624" y="4916486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5650" y="5086352"/>
            <a:ext cx="22193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590551" y="277812"/>
            <a:ext cx="4895847" cy="130333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rgbClr val="0070C0"/>
                </a:solidFill>
              </a:rPr>
              <a:t>CL_MONTH</a:t>
            </a:r>
            <a:r>
              <a:rPr lang="en-US" sz="1200" b="1" dirty="0">
                <a:solidFill>
                  <a:schemeClr val="tx1"/>
                </a:solidFill>
              </a:rPr>
              <a:t>"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class="</a:t>
            </a:r>
            <a:r>
              <a:rPr lang="en-US" sz="1200" b="1" dirty="0" err="1">
                <a:solidFill>
                  <a:schemeClr val="tx1"/>
                </a:solidFill>
              </a:rPr>
              <a:t>org.terasoluna.gfw.common.codelist.NumberRangeCodeList</a:t>
            </a:r>
            <a:r>
              <a:rPr lang="en-US" sz="12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name="from" value="1"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name="to" value="12"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name="valueFormat" value="%d"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name="labelFormat" value="%02d"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&lt;/bean&gt;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362074" y="1943264"/>
          <a:ext cx="2562226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01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02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3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03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…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11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12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1362074" y="1764031"/>
            <a:ext cx="27527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sz="1200" b="1" dirty="0">
                <a:solidFill>
                  <a:srgbClr val="0070C0"/>
                </a:solidFill>
              </a:rPr>
              <a:t>CL_MONTH</a:t>
            </a:r>
            <a:endParaRPr kumimoji="1" lang="ja-JP" altLang="en-US" sz="1200" b="1" dirty="0">
              <a:solidFill>
                <a:srgbClr val="0070C0"/>
              </a:solidFill>
            </a:endParaRPr>
          </a:p>
        </p:txBody>
      </p:sp>
      <p:cxnSp>
        <p:nvCxnSpPr>
          <p:cNvPr id="7" name="直線コネクタ 6"/>
          <p:cNvCxnSpPr>
            <a:stCxn id="14" idx="1"/>
          </p:cNvCxnSpPr>
          <p:nvPr/>
        </p:nvCxnSpPr>
        <p:spPr>
          <a:xfrm rot="10800000" flipV="1">
            <a:off x="354017" y="1107202"/>
            <a:ext cx="327020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 rot="5400000">
            <a:off x="-431198" y="1892418"/>
            <a:ext cx="1570435" cy="158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>
            <a:off x="354018" y="2676840"/>
            <a:ext cx="1303335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/>
          <p:cNvSpPr/>
          <p:nvPr/>
        </p:nvSpPr>
        <p:spPr>
          <a:xfrm>
            <a:off x="681036" y="3810316"/>
            <a:ext cx="3771900" cy="174923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&lt;select id="depMonth" name="depMonth"&gt;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value="1"&gt;01&lt;/option&gt;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value="2"&gt;02&lt;/option&gt;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value="3"&gt;03&lt;/option&gt;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...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value="11"&gt;11&lt;/option&gt;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&lt;option value="12"&gt;12&lt;/option&gt;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&lt;/select&gt;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590551" y="95250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codelist.xml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665606" y="3624580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1657353" y="2196155"/>
            <a:ext cx="638171" cy="1232845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681037" y="1023781"/>
            <a:ext cx="3157539" cy="166844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681036" y="1231743"/>
            <a:ext cx="3243263" cy="168431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2889694" y="2196155"/>
            <a:ext cx="729809" cy="1232845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/>
          <p:cNvSpPr/>
          <p:nvPr/>
        </p:nvSpPr>
        <p:spPr>
          <a:xfrm>
            <a:off x="784221" y="4130800"/>
            <a:ext cx="1219636" cy="1111251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2054229" y="4130799"/>
            <a:ext cx="1006244" cy="1111251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9" name="直線コネクタ 18"/>
          <p:cNvCxnSpPr/>
          <p:nvPr/>
        </p:nvCxnSpPr>
        <p:spPr>
          <a:xfrm rot="10800000">
            <a:off x="431798" y="3238818"/>
            <a:ext cx="1225556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5078633" y="2246785"/>
            <a:ext cx="3711349" cy="111600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&lt;select </a:t>
            </a:r>
            <a:r>
              <a:rPr lang="en-US" altLang="ja-JP" sz="1200" b="1" dirty="0" err="1">
                <a:solidFill>
                  <a:schemeClr val="tx1"/>
                </a:solidFill>
              </a:rPr>
              <a:t>th:field</a:t>
            </a:r>
            <a:r>
              <a:rPr lang="en-US" altLang="ja-JP" sz="1200" b="1" dirty="0">
                <a:solidFill>
                  <a:schemeClr val="tx1"/>
                </a:solidFill>
              </a:rPr>
              <a:t>=“*{</a:t>
            </a:r>
            <a:r>
              <a:rPr lang="en-US" altLang="ja-JP" sz="1200" b="1" dirty="0" err="1">
                <a:solidFill>
                  <a:schemeClr val="tx1"/>
                </a:solidFill>
              </a:rPr>
              <a:t>depMonth</a:t>
            </a:r>
            <a:r>
              <a:rPr lang="en-US" altLang="ja-JP" sz="1200" b="1" dirty="0">
                <a:solidFill>
                  <a:schemeClr val="tx1"/>
                </a:solidFill>
              </a:rPr>
              <a:t>}"&gt;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&lt;option </a:t>
            </a:r>
            <a:r>
              <a:rPr lang="en-US" altLang="ja-JP" sz="1200" b="1" dirty="0" err="1">
                <a:solidFill>
                  <a:schemeClr val="tx1"/>
                </a:solidFill>
              </a:rPr>
              <a:t>th:each</a:t>
            </a:r>
            <a:r>
              <a:rPr lang="en-US" altLang="ja-JP" sz="1200" b="1" dirty="0">
                <a:solidFill>
                  <a:schemeClr val="tx1"/>
                </a:solidFill>
              </a:rPr>
              <a:t>=“month : ${</a:t>
            </a:r>
            <a:r>
              <a:rPr lang="en-US" altLang="ja-JP" sz="1200" b="1" dirty="0">
                <a:solidFill>
                  <a:srgbClr val="0070C0"/>
                </a:solidFill>
              </a:rPr>
              <a:t>CL_MONTH</a:t>
            </a:r>
            <a:r>
              <a:rPr lang="en-US" altLang="ja-JP" sz="1200" b="1" dirty="0">
                <a:solidFill>
                  <a:schemeClr val="tx1"/>
                </a:solidFill>
              </a:rPr>
              <a:t>}" 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</a:t>
            </a:r>
            <a:r>
              <a:rPr lang="en-US" altLang="ja-JP" sz="1200" b="1" dirty="0" err="1">
                <a:solidFill>
                  <a:schemeClr val="tx1"/>
                </a:solidFill>
              </a:rPr>
              <a:t>th:value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month.key</a:t>
            </a:r>
            <a:r>
              <a:rPr lang="en-US" altLang="ja-JP" sz="1200" b="1" dirty="0">
                <a:solidFill>
                  <a:schemeClr val="tx1"/>
                </a:solidFill>
              </a:rPr>
              <a:t>}“ </a:t>
            </a:r>
            <a:r>
              <a:rPr lang="en-US" altLang="ja-JP" sz="1200" b="1" dirty="0" err="1">
                <a:solidFill>
                  <a:schemeClr val="tx1"/>
                </a:solidFill>
              </a:rPr>
              <a:t>th:text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month.value</a:t>
            </a:r>
            <a:r>
              <a:rPr lang="en-US" altLang="ja-JP" sz="1200" b="1" dirty="0">
                <a:solidFill>
                  <a:schemeClr val="tx1"/>
                </a:solidFill>
              </a:rPr>
              <a:t>}"&gt;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00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&lt;/option&gt;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&lt;/select&gt;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21" name="直線矢印コネクタ 20"/>
          <p:cNvCxnSpPr/>
          <p:nvPr/>
        </p:nvCxnSpPr>
        <p:spPr>
          <a:xfrm flipV="1">
            <a:off x="431800" y="4918386"/>
            <a:ext cx="352421" cy="7946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 rot="5400000">
            <a:off x="-410369" y="4076217"/>
            <a:ext cx="1684336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 rot="10800000">
            <a:off x="3924301" y="1304927"/>
            <a:ext cx="314331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rot="16200000" flipH="1">
            <a:off x="3552676" y="1990889"/>
            <a:ext cx="1373503" cy="158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rot="10800000">
            <a:off x="3614736" y="2675252"/>
            <a:ext cx="61912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rot="10800000">
            <a:off x="3619503" y="3237228"/>
            <a:ext cx="620715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5400000">
            <a:off x="3375817" y="4076217"/>
            <a:ext cx="1681158" cy="31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 rot="10800000">
            <a:off x="3087693" y="4926332"/>
            <a:ext cx="1146168" cy="1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cxnSpLocks/>
            <a:endCxn id="20" idx="1"/>
          </p:cNvCxnSpPr>
          <p:nvPr/>
        </p:nvCxnSpPr>
        <p:spPr>
          <a:xfrm>
            <a:off x="3838576" y="1855471"/>
            <a:ext cx="1240057" cy="949315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5198273" y="1991679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 err="1">
                <a:solidFill>
                  <a:schemeClr val="tx1"/>
                </a:solidFill>
              </a:rPr>
              <a:t>Thymeleaf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屈折矢印 30"/>
          <p:cNvSpPr/>
          <p:nvPr/>
        </p:nvSpPr>
        <p:spPr>
          <a:xfrm rot="16200000" flipH="1">
            <a:off x="4777534" y="3074470"/>
            <a:ext cx="894649" cy="154384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右矢印 32"/>
          <p:cNvSpPr/>
          <p:nvPr/>
        </p:nvSpPr>
        <p:spPr>
          <a:xfrm>
            <a:off x="4452936" y="4959350"/>
            <a:ext cx="1814513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5486399" y="4396740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1357299" y="2154236"/>
            <a:ext cx="2567002" cy="1319525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49" name="直線矢印コネクタ 48"/>
          <p:cNvCxnSpPr>
            <a:cxnSpLocks/>
          </p:cNvCxnSpPr>
          <p:nvPr/>
        </p:nvCxnSpPr>
        <p:spPr>
          <a:xfrm>
            <a:off x="127795" y="3025295"/>
            <a:ext cx="1213641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>
            <a:off x="114299" y="821531"/>
            <a:ext cx="0" cy="220376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/>
          <p:cNvSpPr/>
          <p:nvPr/>
        </p:nvSpPr>
        <p:spPr>
          <a:xfrm>
            <a:off x="681036" y="671353"/>
            <a:ext cx="2471741" cy="315597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2" name="直線コネクタ 51"/>
          <p:cNvCxnSpPr/>
          <p:nvPr/>
        </p:nvCxnSpPr>
        <p:spPr>
          <a:xfrm flipH="1">
            <a:off x="114299" y="821534"/>
            <a:ext cx="55130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7243" y="4396740"/>
            <a:ext cx="39052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41639" y="315913"/>
            <a:ext cx="5705473" cy="9699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chemeClr val="accent1"/>
                </a:solidFill>
              </a:rPr>
              <a:t>CL_ORDERSTATUS</a:t>
            </a:r>
            <a:r>
              <a:rPr lang="en-US" sz="1200" dirty="0">
                <a:solidFill>
                  <a:schemeClr val="tx1"/>
                </a:solidFill>
              </a:rPr>
              <a:t>"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class="</a:t>
            </a:r>
            <a:r>
              <a:rPr lang="en-US" sz="1200" dirty="0" err="1">
                <a:solidFill>
                  <a:schemeClr val="tx1"/>
                </a:solidFill>
              </a:rPr>
              <a:t>org.terasoluna.gfw.common.codelist.EnumCodeList</a:t>
            </a:r>
            <a:r>
              <a:rPr lang="en-US" sz="1200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</a:t>
            </a:r>
            <a:r>
              <a:rPr lang="en-US" sz="1400" b="1" dirty="0">
                <a:solidFill>
                  <a:schemeClr val="tx1"/>
                </a:solidFill>
              </a:rPr>
              <a:t>&lt;constructor-</a:t>
            </a:r>
            <a:r>
              <a:rPr lang="en-US" sz="1400" b="1" dirty="0" err="1">
                <a:solidFill>
                  <a:schemeClr val="tx1"/>
                </a:solidFill>
              </a:rPr>
              <a:t>arg</a:t>
            </a:r>
            <a:r>
              <a:rPr lang="en-US" sz="1400" b="1" dirty="0">
                <a:solidFill>
                  <a:schemeClr val="tx1"/>
                </a:solidFill>
              </a:rPr>
              <a:t> value="</a:t>
            </a:r>
            <a:r>
              <a:rPr lang="en-US" sz="1400" b="1" dirty="0" err="1">
                <a:solidFill>
                  <a:schemeClr val="tx1"/>
                </a:solidFill>
              </a:rPr>
              <a:t>com.example.domain.model.OrderStatus</a:t>
            </a:r>
            <a:r>
              <a:rPr lang="en-US" sz="1400" b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sz="1200" dirty="0">
                <a:solidFill>
                  <a:schemeClr val="tx1"/>
                </a:solidFill>
              </a:rPr>
              <a:t>&lt;/bean&gt;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74740"/>
              </p:ext>
            </p:extLst>
          </p:nvPr>
        </p:nvGraphicFramePr>
        <p:xfrm>
          <a:off x="3861536" y="2096346"/>
          <a:ext cx="2074863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value(key)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label(value)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Received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Sent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Cancelled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3506960" y="1772819"/>
            <a:ext cx="2779540" cy="3616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sz="1200" b="1" dirty="0">
                <a:solidFill>
                  <a:schemeClr val="accent1"/>
                </a:solidFill>
              </a:rPr>
              <a:t>CL_ORDERSTATUS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9525" y="95250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b="1" dirty="0">
                <a:solidFill>
                  <a:schemeClr val="tx1"/>
                </a:solidFill>
              </a:rPr>
              <a:t>codelist.xml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123827" y="1795778"/>
            <a:ext cx="3315718" cy="36779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public </a:t>
            </a:r>
            <a:r>
              <a:rPr lang="en-US" altLang="ja-JP" sz="1200" dirty="0" err="1"/>
              <a:t>enum</a:t>
            </a:r>
            <a:r>
              <a:rPr lang="en-US" altLang="ja-JP" sz="1200" dirty="0"/>
              <a:t> </a:t>
            </a:r>
            <a:r>
              <a:rPr lang="en-US" altLang="ja-JP" sz="1400" b="1" dirty="0" err="1"/>
              <a:t>OrderStatus</a:t>
            </a:r>
            <a:endParaRPr lang="en-US" altLang="ja-JP" sz="1400" b="1" dirty="0"/>
          </a:p>
          <a:p>
            <a:r>
              <a:rPr lang="en-US" altLang="ja-JP" sz="1200" dirty="0"/>
              <a:t>    implements </a:t>
            </a:r>
            <a:r>
              <a:rPr lang="en-US" altLang="ja-JP" sz="1400" b="1" dirty="0" err="1"/>
              <a:t>EnumCodeList.CodeListItem</a:t>
            </a:r>
            <a:r>
              <a:rPr lang="en-US" altLang="ja-JP" sz="1200" dirty="0"/>
              <a:t> {</a:t>
            </a:r>
          </a:p>
          <a:p>
            <a:endParaRPr lang="en-US" altLang="ja-JP" sz="1200" dirty="0"/>
          </a:p>
          <a:p>
            <a:r>
              <a:rPr lang="en-US" altLang="ja-JP" sz="1400" b="1" dirty="0"/>
              <a:t>    </a:t>
            </a:r>
            <a:r>
              <a:rPr lang="en-US" altLang="ja-JP" sz="1600" b="1" dirty="0"/>
              <a:t>RECEIVED    </a:t>
            </a:r>
            <a:r>
              <a:rPr lang="ja-JP" altLang="en-US" sz="1600" b="1" dirty="0"/>
              <a:t> </a:t>
            </a:r>
            <a:r>
              <a:rPr lang="en-US" altLang="ja-JP" sz="1600" b="1" dirty="0"/>
              <a:t>("1",   "Received"), </a:t>
            </a:r>
          </a:p>
          <a:p>
            <a:r>
              <a:rPr lang="en-US" altLang="ja-JP" sz="1600" b="1" dirty="0"/>
              <a:t>    SENT             ("2",   "Sent"), </a:t>
            </a:r>
          </a:p>
          <a:p>
            <a:r>
              <a:rPr lang="en-US" altLang="ja-JP" sz="1600" b="1" dirty="0"/>
              <a:t>    CANCELLED ("3",    "Cancelled");</a:t>
            </a:r>
          </a:p>
          <a:p>
            <a:endParaRPr lang="en-US" altLang="ja-JP" sz="900" dirty="0"/>
          </a:p>
          <a:p>
            <a:r>
              <a:rPr lang="en-US" altLang="ja-JP" sz="800" dirty="0"/>
              <a:t>    private final String value;</a:t>
            </a:r>
          </a:p>
          <a:p>
            <a:r>
              <a:rPr lang="en-US" altLang="ja-JP" sz="800" dirty="0"/>
              <a:t>    private final String label;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OrderStatus</a:t>
            </a:r>
            <a:r>
              <a:rPr lang="en-US" altLang="ja-JP" sz="800" dirty="0"/>
              <a:t>(String </a:t>
            </a:r>
            <a:r>
              <a:rPr lang="en-US" altLang="ja-JP" sz="800" dirty="0" err="1"/>
              <a:t>codeValue</a:t>
            </a:r>
            <a:r>
              <a:rPr lang="en-US" altLang="ja-JP" sz="800" dirty="0"/>
              <a:t>, String </a:t>
            </a:r>
            <a:r>
              <a:rPr lang="en-US" altLang="ja-JP" sz="800" dirty="0" err="1"/>
              <a:t>codeLabel</a:t>
            </a:r>
            <a:r>
              <a:rPr lang="en-US" altLang="ja-JP" sz="800" dirty="0"/>
              <a:t>) {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this.value</a:t>
            </a:r>
            <a:r>
              <a:rPr lang="en-US" altLang="ja-JP" sz="800" dirty="0"/>
              <a:t> = </a:t>
            </a:r>
            <a:r>
              <a:rPr lang="en-US" altLang="ja-JP" sz="800" dirty="0" err="1"/>
              <a:t>codeValue</a:t>
            </a:r>
            <a:r>
              <a:rPr lang="en-US" altLang="ja-JP" sz="800" dirty="0"/>
              <a:t>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this.label</a:t>
            </a:r>
            <a:r>
              <a:rPr lang="en-US" altLang="ja-JP" sz="800" dirty="0"/>
              <a:t> = </a:t>
            </a:r>
            <a:r>
              <a:rPr lang="en-US" altLang="ja-JP" sz="800" dirty="0" err="1"/>
              <a:t>codeLabel</a:t>
            </a:r>
            <a:r>
              <a:rPr lang="en-US" altLang="ja-JP" sz="800" dirty="0"/>
              <a:t>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1000" b="1" dirty="0"/>
              <a:t>    @Override</a:t>
            </a:r>
          </a:p>
          <a:p>
            <a:r>
              <a:rPr lang="en-US" altLang="ja-JP" sz="1000" b="1" dirty="0"/>
              <a:t>    public String </a:t>
            </a:r>
            <a:r>
              <a:rPr lang="en-US" altLang="ja-JP" sz="1000" b="1" dirty="0" err="1"/>
              <a:t>getCodeValue</a:t>
            </a:r>
            <a:r>
              <a:rPr lang="en-US" altLang="ja-JP" sz="1000" b="1" dirty="0"/>
              <a:t>() {</a:t>
            </a:r>
          </a:p>
          <a:p>
            <a:r>
              <a:rPr lang="en-US" altLang="ja-JP" sz="1000" b="1" dirty="0"/>
              <a:t>        return value;</a:t>
            </a:r>
          </a:p>
          <a:p>
            <a:r>
              <a:rPr lang="en-US" altLang="ja-JP" sz="1000" b="1" dirty="0"/>
              <a:t>    }</a:t>
            </a:r>
          </a:p>
          <a:p>
            <a:r>
              <a:rPr lang="en-US" altLang="ja-JP" sz="1000" b="1" dirty="0"/>
              <a:t>    @Override</a:t>
            </a:r>
          </a:p>
          <a:p>
            <a:r>
              <a:rPr lang="en-US" altLang="ja-JP" sz="1000" b="1" dirty="0"/>
              <a:t>    public String </a:t>
            </a:r>
            <a:r>
              <a:rPr lang="en-US" altLang="ja-JP" sz="1000" b="1" dirty="0" err="1"/>
              <a:t>getCodeLabel</a:t>
            </a:r>
            <a:r>
              <a:rPr lang="en-US" altLang="ja-JP" sz="1000" b="1" dirty="0"/>
              <a:t>() {</a:t>
            </a:r>
          </a:p>
          <a:p>
            <a:r>
              <a:rPr lang="en-US" altLang="ja-JP" sz="1000" b="1" dirty="0"/>
              <a:t>        return label;</a:t>
            </a:r>
          </a:p>
          <a:p>
            <a:r>
              <a:rPr lang="en-US" altLang="ja-JP" sz="1000" b="1" dirty="0"/>
              <a:t>    }</a:t>
            </a:r>
          </a:p>
          <a:p>
            <a:r>
              <a:rPr lang="en-US" altLang="ja-JP" sz="800" dirty="0"/>
              <a:t>}</a:t>
            </a:r>
          </a:p>
        </p:txBody>
      </p:sp>
      <p:sp>
        <p:nvSpPr>
          <p:cNvPr id="42" name="正方形/長方形 41"/>
          <p:cNvSpPr/>
          <p:nvPr/>
        </p:nvSpPr>
        <p:spPr>
          <a:xfrm>
            <a:off x="5562206" y="5458921"/>
            <a:ext cx="3429394" cy="11239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&lt;select id="orderStatus" name="orderStatus" &gt;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value="1"&gt;Received&lt;/option&gt;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value="2"&gt;Sent&lt;/option&gt;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 &lt;option value="3"&gt;Cancelled&lt;/option&gt;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&lt;/select&gt; </a:t>
            </a:r>
          </a:p>
        </p:txBody>
      </p:sp>
      <p:sp>
        <p:nvSpPr>
          <p:cNvPr id="43" name="正方形/長方形 42"/>
          <p:cNvSpPr/>
          <p:nvPr/>
        </p:nvSpPr>
        <p:spPr>
          <a:xfrm>
            <a:off x="5390532" y="5177144"/>
            <a:ext cx="927065" cy="2582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b="1" dirty="0">
                <a:solidFill>
                  <a:schemeClr val="tx1"/>
                </a:solidFill>
              </a:rPr>
              <a:t>html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7" name="カギ線コネクタ 46"/>
          <p:cNvCxnSpPr>
            <a:stCxn id="6" idx="3"/>
          </p:cNvCxnSpPr>
          <p:nvPr/>
        </p:nvCxnSpPr>
        <p:spPr>
          <a:xfrm>
            <a:off x="6286500" y="1953633"/>
            <a:ext cx="1733550" cy="1870501"/>
          </a:xfrm>
          <a:prstGeom prst="bentConnector2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/>
          <p:cNvSpPr/>
          <p:nvPr/>
        </p:nvSpPr>
        <p:spPr>
          <a:xfrm>
            <a:off x="5484310" y="3498209"/>
            <a:ext cx="1337680" cy="325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b="1" dirty="0" err="1">
                <a:solidFill>
                  <a:schemeClr val="tx1"/>
                </a:solidFill>
              </a:rPr>
              <a:t>Thymeleaf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右矢印 54"/>
          <p:cNvSpPr/>
          <p:nvPr/>
        </p:nvSpPr>
        <p:spPr>
          <a:xfrm rot="10800000">
            <a:off x="4144119" y="6005666"/>
            <a:ext cx="1246413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正方形/長方形 55"/>
          <p:cNvSpPr/>
          <p:nvPr/>
        </p:nvSpPr>
        <p:spPr>
          <a:xfrm>
            <a:off x="1651331" y="5600700"/>
            <a:ext cx="1211442" cy="288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b="1" dirty="0">
                <a:solidFill>
                  <a:schemeClr val="tx1"/>
                </a:solidFill>
              </a:rPr>
              <a:t>Browser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0736" y="5837242"/>
            <a:ext cx="22193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右矢印 61"/>
          <p:cNvSpPr/>
          <p:nvPr/>
        </p:nvSpPr>
        <p:spPr>
          <a:xfrm rot="5400000">
            <a:off x="7033660" y="4982623"/>
            <a:ext cx="486486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正方形/長方形 62"/>
          <p:cNvSpPr/>
          <p:nvPr/>
        </p:nvSpPr>
        <p:spPr>
          <a:xfrm>
            <a:off x="1290639" y="2372571"/>
            <a:ext cx="1938336" cy="962024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4" name="正方形/長方形 63"/>
          <p:cNvSpPr/>
          <p:nvPr/>
        </p:nvSpPr>
        <p:spPr>
          <a:xfrm>
            <a:off x="3766741" y="2372570"/>
            <a:ext cx="2253059" cy="962025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5" name="正方形/長方形 64"/>
          <p:cNvSpPr/>
          <p:nvPr/>
        </p:nvSpPr>
        <p:spPr>
          <a:xfrm>
            <a:off x="5601836" y="5572125"/>
            <a:ext cx="3082914" cy="969962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7" name="正方形/長方形 66"/>
          <p:cNvSpPr/>
          <p:nvPr/>
        </p:nvSpPr>
        <p:spPr>
          <a:xfrm>
            <a:off x="4090277" y="2439925"/>
            <a:ext cx="525558" cy="817623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正方形/長方形 67"/>
          <p:cNvSpPr/>
          <p:nvPr/>
        </p:nvSpPr>
        <p:spPr>
          <a:xfrm>
            <a:off x="4933951" y="2439925"/>
            <a:ext cx="913162" cy="817623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9" name="正方形/長方形 68"/>
          <p:cNvSpPr/>
          <p:nvPr/>
        </p:nvSpPr>
        <p:spPr>
          <a:xfrm>
            <a:off x="280278" y="4219572"/>
            <a:ext cx="1694912" cy="446031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0" name="正方形/長方形 69"/>
          <p:cNvSpPr/>
          <p:nvPr/>
        </p:nvSpPr>
        <p:spPr>
          <a:xfrm>
            <a:off x="265685" y="4812405"/>
            <a:ext cx="1709505" cy="485007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4" name="図形 16"/>
          <p:cNvCxnSpPr>
            <a:cxnSpLocks/>
            <a:stCxn id="69" idx="3"/>
            <a:endCxn id="67" idx="2"/>
          </p:cNvCxnSpPr>
          <p:nvPr/>
        </p:nvCxnSpPr>
        <p:spPr>
          <a:xfrm flipV="1">
            <a:off x="1975190" y="3257548"/>
            <a:ext cx="2377866" cy="1185040"/>
          </a:xfrm>
          <a:prstGeom prst="curvedConnector2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図形 90"/>
          <p:cNvCxnSpPr>
            <a:cxnSpLocks/>
            <a:stCxn id="70" idx="3"/>
            <a:endCxn id="68" idx="2"/>
          </p:cNvCxnSpPr>
          <p:nvPr/>
        </p:nvCxnSpPr>
        <p:spPr>
          <a:xfrm flipV="1">
            <a:off x="1975190" y="3257548"/>
            <a:ext cx="3415342" cy="1797361"/>
          </a:xfrm>
          <a:prstGeom prst="curvedConnector2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>
            <a:stCxn id="63" idx="3"/>
            <a:endCxn id="64" idx="1"/>
          </p:cNvCxnSpPr>
          <p:nvPr/>
        </p:nvCxnSpPr>
        <p:spPr>
          <a:xfrm>
            <a:off x="3228975" y="2853583"/>
            <a:ext cx="537766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87"/>
          <p:cNvCxnSpPr>
            <a:stCxn id="64" idx="3"/>
          </p:cNvCxnSpPr>
          <p:nvPr/>
        </p:nvCxnSpPr>
        <p:spPr>
          <a:xfrm>
            <a:off x="6019800" y="2853583"/>
            <a:ext cx="666750" cy="2718542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正方形/長方形 117"/>
          <p:cNvSpPr/>
          <p:nvPr/>
        </p:nvSpPr>
        <p:spPr>
          <a:xfrm>
            <a:off x="-9524" y="1537436"/>
            <a:ext cx="733424" cy="2678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b="1" dirty="0" err="1">
                <a:solidFill>
                  <a:schemeClr val="tx1"/>
                </a:solidFill>
              </a:rPr>
              <a:t>Enum</a:t>
            </a:r>
            <a:endParaRPr kumimoji="1" lang="ja-JP" alt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9" name="カギ線コネクタ 118"/>
          <p:cNvCxnSpPr>
            <a:endCxn id="2" idx="0"/>
          </p:cNvCxnSpPr>
          <p:nvPr/>
        </p:nvCxnSpPr>
        <p:spPr>
          <a:xfrm flipH="1">
            <a:off x="1781686" y="1019175"/>
            <a:ext cx="790065" cy="77660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正方形/長方形 142"/>
          <p:cNvSpPr/>
          <p:nvPr/>
        </p:nvSpPr>
        <p:spPr>
          <a:xfrm>
            <a:off x="1381851" y="2453391"/>
            <a:ext cx="472964" cy="785107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4" name="正方形/長方形 143"/>
          <p:cNvSpPr/>
          <p:nvPr/>
        </p:nvSpPr>
        <p:spPr>
          <a:xfrm>
            <a:off x="1949610" y="2458975"/>
            <a:ext cx="1195963" cy="779523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9" name="正方形/長方形 148"/>
          <p:cNvSpPr/>
          <p:nvPr/>
        </p:nvSpPr>
        <p:spPr>
          <a:xfrm>
            <a:off x="5802135" y="5769330"/>
            <a:ext cx="1190419" cy="521932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1" name="正方形/長方形 150"/>
          <p:cNvSpPr/>
          <p:nvPr/>
        </p:nvSpPr>
        <p:spPr>
          <a:xfrm>
            <a:off x="7035007" y="5769331"/>
            <a:ext cx="1293003" cy="521931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52" name="カギ線コネクタ 151"/>
          <p:cNvCxnSpPr/>
          <p:nvPr/>
        </p:nvCxnSpPr>
        <p:spPr>
          <a:xfrm>
            <a:off x="2176718" y="487544"/>
            <a:ext cx="3425117" cy="1285275"/>
          </a:xfrm>
          <a:prstGeom prst="bentConnector3">
            <a:avLst>
              <a:gd name="adj1" fmla="val 100057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/>
          <p:cNvSpPr/>
          <p:nvPr/>
        </p:nvSpPr>
        <p:spPr>
          <a:xfrm>
            <a:off x="5524501" y="3796559"/>
            <a:ext cx="3510755" cy="1064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&lt;select </a:t>
            </a:r>
            <a:r>
              <a:rPr lang="en-US" altLang="ja-JP" sz="1200" b="1" dirty="0" err="1">
                <a:solidFill>
                  <a:schemeClr val="tx1"/>
                </a:solidFill>
              </a:rPr>
              <a:t>th:field</a:t>
            </a:r>
            <a:r>
              <a:rPr lang="en-US" altLang="ja-JP" sz="1200" b="1" dirty="0">
                <a:solidFill>
                  <a:schemeClr val="tx1"/>
                </a:solidFill>
              </a:rPr>
              <a:t>="*{</a:t>
            </a:r>
            <a:r>
              <a:rPr lang="en-US" altLang="ja-JP" sz="1200" b="1" dirty="0" err="1">
                <a:solidFill>
                  <a:schemeClr val="tx1"/>
                </a:solidFill>
              </a:rPr>
              <a:t>orderStatus</a:t>
            </a:r>
            <a:r>
              <a:rPr lang="en-US" altLang="ja-JP" sz="1200" b="1" dirty="0">
                <a:solidFill>
                  <a:schemeClr val="tx1"/>
                </a:solidFill>
              </a:rPr>
              <a:t>}"&gt;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&lt;option </a:t>
            </a:r>
            <a:r>
              <a:rPr lang="en-US" altLang="ja-JP" sz="1200" b="1" dirty="0" err="1">
                <a:solidFill>
                  <a:schemeClr val="tx1"/>
                </a:solidFill>
              </a:rPr>
              <a:t>th:each</a:t>
            </a:r>
            <a:r>
              <a:rPr lang="en-US" altLang="ja-JP" sz="1200" b="1" dirty="0">
                <a:solidFill>
                  <a:schemeClr val="tx1"/>
                </a:solidFill>
              </a:rPr>
              <a:t>=“order  :  ${</a:t>
            </a:r>
            <a:r>
              <a:rPr lang="en-US" altLang="ja-JP" sz="1200" b="1" dirty="0">
                <a:solidFill>
                  <a:srgbClr val="0070C0"/>
                </a:solidFill>
              </a:rPr>
              <a:t>CL_ORDERSTATUS</a:t>
            </a:r>
            <a:r>
              <a:rPr lang="en-US" altLang="ja-JP" sz="1200" b="1" dirty="0">
                <a:solidFill>
                  <a:schemeClr val="tx1"/>
                </a:solidFill>
              </a:rPr>
              <a:t>}“</a:t>
            </a:r>
          </a:p>
          <a:p>
            <a:r>
              <a:rPr lang="en-US" altLang="ja-JP" sz="1200" b="1" dirty="0">
                <a:solidFill>
                  <a:srgbClr val="0070C0"/>
                </a:solidFill>
              </a:rPr>
              <a:t>     </a:t>
            </a:r>
            <a:r>
              <a:rPr lang="en-US" altLang="ja-JP" sz="1200" b="1" dirty="0">
                <a:solidFill>
                  <a:schemeClr val="tx1"/>
                </a:solidFill>
              </a:rPr>
              <a:t> </a:t>
            </a:r>
            <a:r>
              <a:rPr lang="en-US" altLang="ja-JP" sz="1200" b="1" dirty="0" err="1">
                <a:solidFill>
                  <a:schemeClr val="tx1"/>
                </a:solidFill>
              </a:rPr>
              <a:t>th:value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order.key</a:t>
            </a:r>
            <a:r>
              <a:rPr lang="en-US" altLang="ja-JP" sz="1200" b="1" dirty="0">
                <a:solidFill>
                  <a:schemeClr val="tx1"/>
                </a:solidFill>
              </a:rPr>
              <a:t>}“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</a:t>
            </a:r>
            <a:r>
              <a:rPr lang="en-US" altLang="ja-JP" sz="1200" b="1" dirty="0" err="1">
                <a:solidFill>
                  <a:schemeClr val="tx1"/>
                </a:solidFill>
              </a:rPr>
              <a:t>th:text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order.value</a:t>
            </a:r>
            <a:r>
              <a:rPr lang="en-US" altLang="ja-JP" sz="1200" b="1" dirty="0">
                <a:solidFill>
                  <a:schemeClr val="tx1"/>
                </a:solidFill>
              </a:rPr>
              <a:t>}"&gt;Order Status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&lt;/option&gt;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&lt;/select&gt;</a:t>
            </a:r>
          </a:p>
        </p:txBody>
      </p:sp>
    </p:spTree>
    <p:extLst>
      <p:ext uri="{BB962C8B-B14F-4D97-AF65-F5344CB8AC3E}">
        <p14:creationId xmlns:p14="http://schemas.microsoft.com/office/powerpoint/2010/main" val="157753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297944" y="176214"/>
            <a:ext cx="6029704" cy="148621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&lt;bean id="</a:t>
            </a:r>
            <a:r>
              <a:rPr lang="en-US" sz="1200" b="1" dirty="0">
                <a:solidFill>
                  <a:srgbClr val="0070C0"/>
                </a:solidFill>
              </a:rPr>
              <a:t>CL_AUTHORITIES</a:t>
            </a:r>
            <a:r>
              <a:rPr lang="en-US" sz="1200" b="1" dirty="0">
                <a:solidFill>
                  <a:schemeClr val="tx1"/>
                </a:solidFill>
              </a:rPr>
              <a:t>" class="</a:t>
            </a:r>
            <a:r>
              <a:rPr lang="en-US" sz="1200" b="1" dirty="0" err="1">
                <a:solidFill>
                  <a:schemeClr val="tx1"/>
                </a:solidFill>
              </a:rPr>
              <a:t>org.terasoluna.gfw.common.codelist.JdbcCodeList</a:t>
            </a:r>
            <a:r>
              <a:rPr lang="en-US" sz="12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</a:t>
            </a:r>
            <a:r>
              <a:rPr lang="en-US" altLang="ja-JP" sz="1200" b="1" dirty="0" err="1">
                <a:solidFill>
                  <a:schemeClr val="tx1"/>
                </a:solidFill>
              </a:rPr>
              <a:t>jdbcTemplate</a:t>
            </a:r>
            <a:r>
              <a:rPr lang="en-US" sz="1200" b="1" dirty="0">
                <a:solidFill>
                  <a:schemeClr val="tx1"/>
                </a:solidFill>
              </a:rPr>
              <a:t>" ref="</a:t>
            </a:r>
            <a:r>
              <a:rPr lang="en-US" altLang="ja-JP" sz="1200" b="1" dirty="0" err="1">
                <a:solidFill>
                  <a:schemeClr val="tx1"/>
                </a:solidFill>
              </a:rPr>
              <a:t>jdbcTemplateForCodeList</a:t>
            </a:r>
            <a:r>
              <a:rPr lang="en-US" sz="1200" b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</a:t>
            </a:r>
            <a:r>
              <a:rPr lang="en-US" sz="1200" b="1" dirty="0" err="1">
                <a:solidFill>
                  <a:schemeClr val="tx1"/>
                </a:solidFill>
              </a:rPr>
              <a:t>querySql</a:t>
            </a:r>
            <a:r>
              <a:rPr lang="en-US" sz="1200" b="1" dirty="0">
                <a:solidFill>
                  <a:schemeClr val="tx1"/>
                </a:solidFill>
              </a:rPr>
              <a:t>"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  value="SELECT authority_id, authority_name FROM authority ORDER BY authority_id"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name="valueColumn" value="authority_id"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&lt;property name="labelColumn" value="authority_name" 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&lt;/bean&gt;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1069466" y="2345600"/>
          <a:ext cx="256222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STAFF_MANAGEMENT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MASTER_MANAGEMENT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03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STOCK_MANAGEMENT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04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ORDER_MANAGEMENT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05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SHOW_SHOPPING_CENTER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正方形/長方形 5"/>
          <p:cNvSpPr/>
          <p:nvPr/>
        </p:nvSpPr>
        <p:spPr>
          <a:xfrm>
            <a:off x="1040891" y="2166367"/>
            <a:ext cx="27527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Map&lt;String,String&gt; </a:t>
            </a:r>
            <a:r>
              <a:rPr lang="en-US" sz="1200" b="1" dirty="0">
                <a:solidFill>
                  <a:srgbClr val="0070C0"/>
                </a:solidFill>
              </a:rPr>
              <a:t>CL_AUTHORITIES</a:t>
            </a:r>
            <a:endParaRPr kumimoji="1" lang="ja-JP" altLang="en-US" sz="1200" b="1" dirty="0">
              <a:solidFill>
                <a:srgbClr val="0070C0"/>
              </a:solidFill>
            </a:endParaRPr>
          </a:p>
        </p:txBody>
      </p:sp>
      <p:cxnSp>
        <p:nvCxnSpPr>
          <p:cNvPr id="8" name="直線コネクタ 7"/>
          <p:cNvCxnSpPr/>
          <p:nvPr/>
        </p:nvCxnSpPr>
        <p:spPr>
          <a:xfrm rot="5400000">
            <a:off x="5102142" y="1462068"/>
            <a:ext cx="786808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10800000" flipV="1">
            <a:off x="4160330" y="1081269"/>
            <a:ext cx="1335215" cy="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/>
          <p:cNvSpPr/>
          <p:nvPr/>
        </p:nvSpPr>
        <p:spPr>
          <a:xfrm>
            <a:off x="388428" y="4185220"/>
            <a:ext cx="5315744" cy="1712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&lt;span&gt;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&lt;input type="checkbox" value="01"</a:t>
            </a:r>
            <a:r>
              <a:rPr lang="en-US" altLang="ja-JP" sz="1200" b="1" dirty="0">
                <a:solidFill>
                  <a:schemeClr val="tx1"/>
                </a:solidFill>
              </a:rPr>
              <a:t> id="authorities1" name="authorities" </a:t>
            </a:r>
            <a:r>
              <a:rPr lang="en-US" sz="1200" b="1" dirty="0">
                <a:solidFill>
                  <a:schemeClr val="tx1"/>
                </a:solidFill>
              </a:rPr>
              <a:t>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&lt;label for="authorities1"&gt;STAFF_MANAGEMENT&lt;/label&gt;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&lt;/span&gt;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…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&lt;span&gt;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&lt;input type="checkbox" value="05"</a:t>
            </a:r>
            <a:r>
              <a:rPr lang="en-US" altLang="ja-JP" sz="1200" b="1" dirty="0">
                <a:solidFill>
                  <a:schemeClr val="tx1"/>
                </a:solidFill>
              </a:rPr>
              <a:t> id="authorities5" name="authorities" </a:t>
            </a:r>
            <a:r>
              <a:rPr lang="en-US" sz="1200" b="1" dirty="0">
                <a:solidFill>
                  <a:schemeClr val="tx1"/>
                </a:solidFill>
              </a:rPr>
              <a:t>/&gt;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  &lt;label for="authorities5"&gt;SHOW_SHOPPING_CENTER&lt;/label&gt;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&lt;/span&gt;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297943" y="-20862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codelist.xml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372998" y="3999484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1364745" y="2552414"/>
            <a:ext cx="638171" cy="1090328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388429" y="1023781"/>
            <a:ext cx="3771899" cy="166844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388428" y="1227455"/>
            <a:ext cx="4039557" cy="172720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2313432" y="2552414"/>
            <a:ext cx="1232536" cy="1090328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/>
          <p:cNvSpPr/>
          <p:nvPr/>
        </p:nvSpPr>
        <p:spPr>
          <a:xfrm>
            <a:off x="491613" y="4401820"/>
            <a:ext cx="4960497" cy="16493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491613" y="4600271"/>
            <a:ext cx="3936371" cy="172774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9" name="直線コネクタ 18"/>
          <p:cNvCxnSpPr/>
          <p:nvPr/>
        </p:nvCxnSpPr>
        <p:spPr>
          <a:xfrm rot="10800000">
            <a:off x="139190" y="3238818"/>
            <a:ext cx="1225556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>
            <a:cxnSpLocks/>
            <a:endCxn id="66" idx="1"/>
          </p:cNvCxnSpPr>
          <p:nvPr/>
        </p:nvCxnSpPr>
        <p:spPr>
          <a:xfrm>
            <a:off x="129547" y="5408933"/>
            <a:ext cx="362066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cxnSpLocks/>
          </p:cNvCxnSpPr>
          <p:nvPr/>
        </p:nvCxnSpPr>
        <p:spPr>
          <a:xfrm flipH="1">
            <a:off x="129547" y="3234050"/>
            <a:ext cx="9645" cy="217488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 rot="10800000">
            <a:off x="4427988" y="1304929"/>
            <a:ext cx="281173" cy="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rot="5400000">
            <a:off x="3944139" y="2076384"/>
            <a:ext cx="1532428" cy="238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rot="10800000" flipV="1">
            <a:off x="3545968" y="2843785"/>
            <a:ext cx="1163188" cy="1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rot="10800000">
            <a:off x="3545969" y="3304762"/>
            <a:ext cx="1940730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rot="16200000" flipH="1">
            <a:off x="4423567" y="4450992"/>
            <a:ext cx="2302099" cy="964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>
            <a:cxnSpLocks/>
            <a:endCxn id="65" idx="3"/>
          </p:cNvCxnSpPr>
          <p:nvPr/>
        </p:nvCxnSpPr>
        <p:spPr>
          <a:xfrm flipH="1" flipV="1">
            <a:off x="4487937" y="5605272"/>
            <a:ext cx="1106932" cy="1592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cxnSpLocks/>
          </p:cNvCxnSpPr>
          <p:nvPr/>
        </p:nvCxnSpPr>
        <p:spPr>
          <a:xfrm>
            <a:off x="3631692" y="2269601"/>
            <a:ext cx="2690832" cy="511790"/>
          </a:xfrm>
          <a:prstGeom prst="bentConnector3">
            <a:avLst>
              <a:gd name="adj1" fmla="val 99983"/>
            </a:avLst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5041411" y="2552414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 err="1">
                <a:solidFill>
                  <a:schemeClr val="tx1"/>
                </a:solidFill>
              </a:rPr>
              <a:t>Thymeleaf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屈折矢印 30"/>
          <p:cNvSpPr/>
          <p:nvPr/>
        </p:nvSpPr>
        <p:spPr>
          <a:xfrm rot="16200000" flipH="1">
            <a:off x="5934042" y="3479583"/>
            <a:ext cx="1068811" cy="154384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右矢印 31"/>
          <p:cNvSpPr/>
          <p:nvPr/>
        </p:nvSpPr>
        <p:spPr>
          <a:xfrm>
            <a:off x="5704171" y="5272561"/>
            <a:ext cx="1536197" cy="4190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正方形/長方形 32"/>
          <p:cNvSpPr/>
          <p:nvPr/>
        </p:nvSpPr>
        <p:spPr>
          <a:xfrm>
            <a:off x="7240370" y="4773045"/>
            <a:ext cx="148780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5" name="直線矢印コネクタ 34"/>
          <p:cNvCxnSpPr/>
          <p:nvPr/>
        </p:nvCxnSpPr>
        <p:spPr>
          <a:xfrm>
            <a:off x="6470142" y="1233679"/>
            <a:ext cx="156366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rot="16200000" flipH="1">
            <a:off x="6263275" y="1028400"/>
            <a:ext cx="413735" cy="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/>
          <p:cNvSpPr/>
          <p:nvPr/>
        </p:nvSpPr>
        <p:spPr>
          <a:xfrm>
            <a:off x="388428" y="651041"/>
            <a:ext cx="5811204" cy="335910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38" name="直線コネクタ 37"/>
          <p:cNvCxnSpPr/>
          <p:nvPr/>
        </p:nvCxnSpPr>
        <p:spPr>
          <a:xfrm rot="10800000">
            <a:off x="6196080" y="821535"/>
            <a:ext cx="274063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 39"/>
          <p:cNvGraphicFramePr>
            <a:graphicFrameLocks noGrp="1"/>
          </p:cNvGraphicFramePr>
          <p:nvPr/>
        </p:nvGraphicFramePr>
        <p:xfrm>
          <a:off x="6628100" y="1123951"/>
          <a:ext cx="2267713" cy="1280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authorty_id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autority_name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01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STAFF_MANAGEMENT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02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MASTER_MANAGEMENT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03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STOCK_MANAGEMENT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04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ORDER_MANAGEMENT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05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SHOW_SHOPPING_CENTER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正方形/長方形 40"/>
          <p:cNvSpPr/>
          <p:nvPr/>
        </p:nvSpPr>
        <p:spPr>
          <a:xfrm>
            <a:off x="6628100" y="941389"/>
            <a:ext cx="2267713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autority table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6847179" y="1342710"/>
            <a:ext cx="432590" cy="1061401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正方形/長方形 51"/>
          <p:cNvSpPr/>
          <p:nvPr/>
        </p:nvSpPr>
        <p:spPr>
          <a:xfrm>
            <a:off x="7485349" y="1342710"/>
            <a:ext cx="1366043" cy="1061402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" name="直線コネクタ 6"/>
          <p:cNvCxnSpPr>
            <a:cxnSpLocks/>
            <a:stCxn id="51" idx="1"/>
          </p:cNvCxnSpPr>
          <p:nvPr/>
        </p:nvCxnSpPr>
        <p:spPr>
          <a:xfrm flipH="1" flipV="1">
            <a:off x="5495547" y="1853884"/>
            <a:ext cx="1351632" cy="1952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/>
          <p:nvPr/>
        </p:nvCxnSpPr>
        <p:spPr>
          <a:xfrm rot="10800000">
            <a:off x="824592" y="2035174"/>
            <a:ext cx="5995200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/>
          <p:cNvCxnSpPr/>
          <p:nvPr/>
        </p:nvCxnSpPr>
        <p:spPr>
          <a:xfrm>
            <a:off x="824591" y="3014939"/>
            <a:ext cx="540155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/>
          <p:nvPr/>
        </p:nvCxnSpPr>
        <p:spPr>
          <a:xfrm rot="5400000">
            <a:off x="334709" y="2525056"/>
            <a:ext cx="979766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正方形/長方形 64"/>
          <p:cNvSpPr/>
          <p:nvPr/>
        </p:nvSpPr>
        <p:spPr>
          <a:xfrm>
            <a:off x="491612" y="5518885"/>
            <a:ext cx="3996325" cy="172774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正方形/長方形 65"/>
          <p:cNvSpPr/>
          <p:nvPr/>
        </p:nvSpPr>
        <p:spPr>
          <a:xfrm>
            <a:off x="491613" y="5332505"/>
            <a:ext cx="4957760" cy="152856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1" name="直線矢印コネクタ 70"/>
          <p:cNvCxnSpPr>
            <a:cxnSpLocks/>
            <a:endCxn id="17" idx="1"/>
          </p:cNvCxnSpPr>
          <p:nvPr/>
        </p:nvCxnSpPr>
        <p:spPr>
          <a:xfrm>
            <a:off x="154622" y="4484285"/>
            <a:ext cx="336991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77693" y="5043637"/>
            <a:ext cx="1487806" cy="85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5" name="直線矢印コネクタ 84"/>
          <p:cNvCxnSpPr>
            <a:cxnSpLocks/>
            <a:endCxn id="18" idx="3"/>
          </p:cNvCxnSpPr>
          <p:nvPr/>
        </p:nvCxnSpPr>
        <p:spPr>
          <a:xfrm flipH="1" flipV="1">
            <a:off x="4427984" y="4686658"/>
            <a:ext cx="1151455" cy="3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5041411" y="2817036"/>
            <a:ext cx="3739876" cy="1064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&lt;span </a:t>
            </a:r>
            <a:r>
              <a:rPr lang="en-US" altLang="ja-JP" sz="1200" b="1" dirty="0" err="1">
                <a:solidFill>
                  <a:schemeClr val="tx1"/>
                </a:solidFill>
              </a:rPr>
              <a:t>th:each</a:t>
            </a:r>
            <a:r>
              <a:rPr lang="en-US" altLang="ja-JP" sz="1200" b="1" dirty="0">
                <a:solidFill>
                  <a:schemeClr val="tx1"/>
                </a:solidFill>
              </a:rPr>
              <a:t>=" authority : ${</a:t>
            </a:r>
            <a:r>
              <a:rPr lang="en-US" altLang="ja-JP" sz="1200" b="1" dirty="0">
                <a:solidFill>
                  <a:srgbClr val="0070C0"/>
                </a:solidFill>
              </a:rPr>
              <a:t>CL_AUTHORITIES</a:t>
            </a:r>
            <a:r>
              <a:rPr lang="en-US" altLang="ja-JP" sz="1200" b="1" dirty="0">
                <a:solidFill>
                  <a:schemeClr val="tx1"/>
                </a:solidFill>
              </a:rPr>
              <a:t>}"&gt;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&lt;input type="checkbox" </a:t>
            </a:r>
            <a:r>
              <a:rPr lang="en-US" altLang="ja-JP" sz="1200" b="1" dirty="0" err="1">
                <a:solidFill>
                  <a:schemeClr val="tx1"/>
                </a:solidFill>
              </a:rPr>
              <a:t>th:field</a:t>
            </a:r>
            <a:r>
              <a:rPr lang="en-US" altLang="ja-JP" sz="1200" b="1" dirty="0">
                <a:solidFill>
                  <a:schemeClr val="tx1"/>
                </a:solidFill>
              </a:rPr>
              <a:t>="*{authorities}" </a:t>
            </a:r>
            <a:r>
              <a:rPr lang="en-US" altLang="ja-JP" sz="1200" b="1" dirty="0" err="1">
                <a:solidFill>
                  <a:schemeClr val="tx1"/>
                </a:solidFill>
              </a:rPr>
              <a:t>th:value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authority.key</a:t>
            </a:r>
            <a:r>
              <a:rPr lang="en-US" altLang="ja-JP" sz="1200" b="1" dirty="0">
                <a:solidFill>
                  <a:schemeClr val="tx1"/>
                </a:solidFill>
              </a:rPr>
              <a:t>}" /&gt;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&lt;label </a:t>
            </a:r>
            <a:r>
              <a:rPr lang="en-US" altLang="ja-JP" sz="1200" b="1" dirty="0" err="1">
                <a:solidFill>
                  <a:schemeClr val="tx1"/>
                </a:solidFill>
              </a:rPr>
              <a:t>th:for</a:t>
            </a:r>
            <a:r>
              <a:rPr lang="en-US" altLang="ja-JP" sz="1200" b="1" dirty="0">
                <a:solidFill>
                  <a:schemeClr val="tx1"/>
                </a:solidFill>
              </a:rPr>
              <a:t>="${#</a:t>
            </a:r>
            <a:r>
              <a:rPr lang="en-US" altLang="ja-JP" sz="1200" b="1" dirty="0" err="1">
                <a:solidFill>
                  <a:schemeClr val="tx1"/>
                </a:solidFill>
              </a:rPr>
              <a:t>ids.prev</a:t>
            </a:r>
            <a:r>
              <a:rPr lang="en-US" altLang="ja-JP" sz="1200" b="1" dirty="0">
                <a:solidFill>
                  <a:schemeClr val="tx1"/>
                </a:solidFill>
              </a:rPr>
              <a:t>('authorities')}" </a:t>
            </a:r>
            <a:r>
              <a:rPr lang="en-US" altLang="ja-JP" sz="1200" b="1" dirty="0" err="1">
                <a:solidFill>
                  <a:schemeClr val="tx1"/>
                </a:solidFill>
              </a:rPr>
              <a:t>th:text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authority.value</a:t>
            </a:r>
            <a:r>
              <a:rPr lang="en-US" altLang="ja-JP" sz="1200" b="1" dirty="0">
                <a:solidFill>
                  <a:schemeClr val="tx1"/>
                </a:solidFill>
              </a:rPr>
              <a:t>}"&gt;dummy label&lt;/label&gt;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&lt;/span&gt;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297942" y="-1469724"/>
            <a:ext cx="7053833" cy="372652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b="1" dirty="0">
                <a:solidFill>
                  <a:schemeClr val="tx1"/>
                </a:solidFill>
              </a:rPr>
              <a:t>&lt;bean id="</a:t>
            </a:r>
            <a:r>
              <a:rPr lang="en-US" altLang="ja-JP" sz="1000" b="1" dirty="0">
                <a:solidFill>
                  <a:srgbClr val="0070C0"/>
                </a:solidFill>
              </a:rPr>
              <a:t>CL_BASE_PRICE</a:t>
            </a:r>
            <a:r>
              <a:rPr lang="en-US" altLang="ja-JP" sz="1000" b="1" dirty="0">
                <a:solidFill>
                  <a:schemeClr val="tx1"/>
                </a:solidFill>
              </a:rPr>
              <a:t>"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class="org.terasoluna.gfw.common.codelist.i18n.SimpleI18nCodeList"&gt;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&lt;property name="</a:t>
            </a:r>
            <a:r>
              <a:rPr lang="en-US" altLang="ja-JP" sz="1000" b="1" dirty="0" err="1">
                <a:solidFill>
                  <a:schemeClr val="tx1"/>
                </a:solidFill>
              </a:rPr>
              <a:t>rowsByCodeList</a:t>
            </a:r>
            <a:r>
              <a:rPr lang="en-US" altLang="ja-JP" sz="10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</a:t>
            </a:r>
            <a:r>
              <a:rPr lang="en-US" altLang="ja-JP" sz="1000" b="1" dirty="0" err="1">
                <a:solidFill>
                  <a:schemeClr val="tx1"/>
                </a:solidFill>
              </a:rPr>
              <a:t>util:map</a:t>
            </a:r>
            <a:r>
              <a:rPr lang="en-US" altLang="ja-JP" sz="1000" b="1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&lt;entry key="</a:t>
            </a:r>
            <a:r>
              <a:rPr lang="en-US" altLang="ja-JP" sz="1000" b="1" dirty="0" err="1">
                <a:solidFill>
                  <a:schemeClr val="tx1"/>
                </a:solidFill>
              </a:rPr>
              <a:t>en</a:t>
            </a:r>
            <a:r>
              <a:rPr lang="en-US" altLang="ja-JP" sz="1000" b="1" dirty="0">
                <a:solidFill>
                  <a:schemeClr val="tx1"/>
                </a:solidFill>
              </a:rPr>
              <a:t>" value-ref="CL_PRICE_EN"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&lt;entry key="ja" value-ref="CL_PRICE_JA"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&lt;/</a:t>
            </a:r>
            <a:r>
              <a:rPr lang="en-US" altLang="ja-JP" sz="1000" b="1" dirty="0" err="1">
                <a:solidFill>
                  <a:schemeClr val="tx1"/>
                </a:solidFill>
              </a:rPr>
              <a:t>util:map</a:t>
            </a:r>
            <a:r>
              <a:rPr lang="en-US" altLang="ja-JP" sz="1000" b="1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&lt;/property&gt;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&lt;/bean&gt;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&lt;bean id="</a:t>
            </a:r>
            <a:r>
              <a:rPr lang="en-US" altLang="ja-JP" sz="1000" b="1" dirty="0">
                <a:solidFill>
                  <a:srgbClr val="0070C0"/>
                </a:solidFill>
              </a:rPr>
              <a:t>CL_BASE_PRICE_EN</a:t>
            </a:r>
            <a:r>
              <a:rPr lang="en-US" altLang="ja-JP" sz="1000" b="1" dirty="0">
                <a:solidFill>
                  <a:schemeClr val="tx1"/>
                </a:solidFill>
              </a:rPr>
              <a:t>" class="</a:t>
            </a:r>
            <a:r>
              <a:rPr lang="en-US" altLang="ja-JP" sz="1000" b="1" dirty="0" err="1">
                <a:solidFill>
                  <a:schemeClr val="tx1"/>
                </a:solidFill>
              </a:rPr>
              <a:t>org.terasoluna.gfw.common.codelist.SimpleMapCodeList</a:t>
            </a:r>
            <a:r>
              <a:rPr lang="en-US" altLang="ja-JP" sz="10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&lt;property name="map"&gt;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</a:t>
            </a:r>
            <a:r>
              <a:rPr lang="en-US" altLang="ja-JP" sz="1000" b="1" dirty="0" err="1">
                <a:solidFill>
                  <a:schemeClr val="tx1"/>
                </a:solidFill>
              </a:rPr>
              <a:t>util:map</a:t>
            </a:r>
            <a:r>
              <a:rPr lang="en-US" altLang="ja-JP" sz="1000" b="1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&lt;entry key="0" value="unlimited"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&lt;entry key="10000" value="Less than \10,000"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&lt;!-- omitted --</a:t>
            </a:r>
            <a:r>
              <a:rPr lang="en-US" altLang="ja-JP" sz="1000" b="1" i="1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&lt;/</a:t>
            </a:r>
            <a:r>
              <a:rPr lang="en-US" altLang="ja-JP" sz="1000" b="1" dirty="0" err="1">
                <a:solidFill>
                  <a:schemeClr val="tx1"/>
                </a:solidFill>
              </a:rPr>
              <a:t>util:map</a:t>
            </a:r>
            <a:r>
              <a:rPr lang="en-US" altLang="ja-JP" sz="1000" b="1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&lt;/property&gt;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&lt;/bean&gt;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&lt;bean id="</a:t>
            </a:r>
            <a:r>
              <a:rPr lang="en-US" altLang="ja-JP" sz="1000" b="1" dirty="0">
                <a:solidFill>
                  <a:srgbClr val="0070C0"/>
                </a:solidFill>
              </a:rPr>
              <a:t>CL_BASE_PRICE_JA</a:t>
            </a:r>
            <a:r>
              <a:rPr lang="en-US" altLang="ja-JP" sz="1000" b="1" dirty="0">
                <a:solidFill>
                  <a:schemeClr val="tx1"/>
                </a:solidFill>
              </a:rPr>
              <a:t>" class="</a:t>
            </a:r>
            <a:r>
              <a:rPr lang="en-US" altLang="ja-JP" sz="1000" b="1" dirty="0" err="1">
                <a:solidFill>
                  <a:schemeClr val="tx1"/>
                </a:solidFill>
              </a:rPr>
              <a:t>org.terasoluna.gfw.common.codelist.SimpleMapCodeList</a:t>
            </a:r>
            <a:r>
              <a:rPr lang="en-US" altLang="ja-JP" sz="1000" b="1" dirty="0">
                <a:solidFill>
                  <a:schemeClr val="tx1"/>
                </a:solidFill>
              </a:rPr>
              <a:t>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&lt;property name="map"&gt;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</a:t>
            </a:r>
            <a:r>
              <a:rPr lang="en-US" altLang="ja-JP" sz="1000" b="1" dirty="0" err="1">
                <a:solidFill>
                  <a:schemeClr val="tx1"/>
                </a:solidFill>
              </a:rPr>
              <a:t>util:map</a:t>
            </a:r>
            <a:r>
              <a:rPr lang="en-US" altLang="ja-JP" sz="1000" b="1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&lt;entry key="0" value="</a:t>
            </a:r>
            <a:r>
              <a:rPr lang="ja-JP" altLang="en-US" sz="1000" b="1" dirty="0">
                <a:solidFill>
                  <a:schemeClr val="tx1"/>
                </a:solidFill>
              </a:rPr>
              <a:t>上限なし</a:t>
            </a:r>
            <a:r>
              <a:rPr lang="en-US" altLang="ja-JP" sz="1000" b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    &lt;entry key="10000" value="10,000</a:t>
            </a:r>
            <a:r>
              <a:rPr lang="ja-JP" altLang="en-US" sz="1000" b="1" dirty="0">
                <a:solidFill>
                  <a:schemeClr val="tx1"/>
                </a:solidFill>
              </a:rPr>
              <a:t>円以下</a:t>
            </a:r>
            <a:r>
              <a:rPr lang="en-US" altLang="ja-JP" sz="1000" b="1" dirty="0">
                <a:solidFill>
                  <a:schemeClr val="tx1"/>
                </a:solidFill>
              </a:rPr>
              <a:t>" /&gt;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&lt;!-- omitted --</a:t>
            </a:r>
            <a:r>
              <a:rPr lang="en-US" altLang="ja-JP" sz="1000" b="1" i="1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374143" y="2861954"/>
            <a:ext cx="3267075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</a:t>
            </a:r>
            <a:r>
              <a:rPr lang="en-US" altLang="ja-JP" sz="1200" b="1" i="1" dirty="0">
                <a:solidFill>
                  <a:schemeClr val="tx1"/>
                </a:solidFill>
              </a:rPr>
              <a:t>Locale</a:t>
            </a:r>
            <a:r>
              <a:rPr lang="en-US" altLang="ja-JP" sz="1200" b="1" dirty="0">
                <a:solidFill>
                  <a:schemeClr val="tx1"/>
                </a:solidFill>
              </a:rPr>
              <a:t>,</a:t>
            </a:r>
            <a:r>
              <a:rPr lang="en-US" altLang="ja-JP" sz="1200" b="1" i="1" dirty="0">
                <a:solidFill>
                  <a:schemeClr val="tx1"/>
                </a:solidFill>
              </a:rPr>
              <a:t> LinkedHashMap</a:t>
            </a:r>
            <a:r>
              <a:rPr lang="en-US" altLang="ja-JP" sz="1200" b="1" dirty="0">
                <a:solidFill>
                  <a:schemeClr val="tx1"/>
                </a:solidFill>
              </a:rPr>
              <a:t>&gt; </a:t>
            </a:r>
            <a:r>
              <a:rPr lang="en-US" altLang="ja-JP" sz="1200" b="1" dirty="0">
                <a:solidFill>
                  <a:schemeClr val="accent1"/>
                </a:solidFill>
              </a:rPr>
              <a:t>CL_BASE_PRICE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/>
        </p:nvGraphicFramePr>
        <p:xfrm>
          <a:off x="557786" y="3124844"/>
          <a:ext cx="256222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en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Map&lt;String,String&gt;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ja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Map&lt;String,String&gt;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正方形/長方形 8"/>
          <p:cNvSpPr/>
          <p:nvPr/>
        </p:nvSpPr>
        <p:spPr>
          <a:xfrm>
            <a:off x="3641218" y="2860367"/>
            <a:ext cx="3505201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Map&lt;String,</a:t>
            </a:r>
            <a:r>
              <a:rPr lang="en-US" altLang="ja-JP" sz="1200" b="1" i="1" dirty="0">
                <a:solidFill>
                  <a:schemeClr val="tx1"/>
                </a:solidFill>
              </a:rPr>
              <a:t> String</a:t>
            </a:r>
            <a:r>
              <a:rPr lang="en-US" altLang="ja-JP" sz="1200" b="1" dirty="0">
                <a:solidFill>
                  <a:schemeClr val="tx1"/>
                </a:solidFill>
              </a:rPr>
              <a:t>&gt; </a:t>
            </a:r>
            <a:r>
              <a:rPr lang="en-US" altLang="ja-JP" sz="1200" b="1" dirty="0">
                <a:solidFill>
                  <a:schemeClr val="accent1"/>
                </a:solidFill>
              </a:rPr>
              <a:t>en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  <p:graphicFrame>
        <p:nvGraphicFramePr>
          <p:cNvPr id="10" name="表 9"/>
          <p:cNvGraphicFramePr>
            <a:graphicFrameLocks noGrp="1"/>
          </p:cNvGraphicFramePr>
          <p:nvPr/>
        </p:nvGraphicFramePr>
        <p:xfrm>
          <a:off x="4082036" y="3124844"/>
          <a:ext cx="256222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value(key)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label(value)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0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unlimited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10000</a:t>
                      </a:r>
                      <a:endParaRPr kumimoji="1" lang="ja-JP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800" i="1" dirty="0">
                          <a:solidFill>
                            <a:schemeClr val="tx1"/>
                          </a:solidFill>
                        </a:rPr>
                        <a:t>Less </a:t>
                      </a:r>
                      <a:r>
                        <a:rPr lang="en-US" altLang="ja-JP" sz="800" i="1">
                          <a:solidFill>
                            <a:schemeClr val="tx1"/>
                          </a:solidFill>
                        </a:rPr>
                        <a:t>than \10,000</a:t>
                      </a:r>
                      <a:endParaRPr kumimoji="1" lang="ja-JP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正方形/長方形 10"/>
          <p:cNvSpPr/>
          <p:nvPr/>
        </p:nvSpPr>
        <p:spPr>
          <a:xfrm>
            <a:off x="557786" y="3339891"/>
            <a:ext cx="2562226" cy="205958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/>
          <p:cNvSpPr/>
          <p:nvPr/>
        </p:nvSpPr>
        <p:spPr>
          <a:xfrm>
            <a:off x="4082036" y="3336293"/>
            <a:ext cx="2562226" cy="42863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363348" y="-52940"/>
            <a:ext cx="5255132" cy="1342900"/>
          </a:xfrm>
          <a:prstGeom prst="rect">
            <a:avLst/>
          </a:prstGeom>
          <a:noFill/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7" name="図形 16"/>
          <p:cNvCxnSpPr>
            <a:cxnSpLocks/>
            <a:stCxn id="15" idx="3"/>
            <a:endCxn id="11" idx="1"/>
          </p:cNvCxnSpPr>
          <p:nvPr/>
        </p:nvCxnSpPr>
        <p:spPr>
          <a:xfrm flipH="1">
            <a:off x="557786" y="618510"/>
            <a:ext cx="5060694" cy="2824360"/>
          </a:xfrm>
          <a:prstGeom prst="bentConnector5">
            <a:avLst>
              <a:gd name="adj1" fmla="val -8055"/>
              <a:gd name="adj2" fmla="val 67888"/>
              <a:gd name="adj3" fmla="val 104517"/>
            </a:avLst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図形 26"/>
          <p:cNvCxnSpPr>
            <a:stCxn id="7" idx="0"/>
            <a:endCxn id="36" idx="0"/>
          </p:cNvCxnSpPr>
          <p:nvPr/>
        </p:nvCxnSpPr>
        <p:spPr>
          <a:xfrm rot="16200000" flipH="1">
            <a:off x="4363292" y="506343"/>
            <a:ext cx="928396" cy="5639619"/>
          </a:xfrm>
          <a:prstGeom prst="bentConnector3">
            <a:avLst>
              <a:gd name="adj1" fmla="val -1887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/>
          <p:cNvSpPr/>
          <p:nvPr/>
        </p:nvSpPr>
        <p:spPr>
          <a:xfrm>
            <a:off x="7146419" y="3790350"/>
            <a:ext cx="1001761" cy="1450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 err="1">
                <a:solidFill>
                  <a:schemeClr val="tx1"/>
                </a:solidFill>
              </a:rPr>
              <a:t>Thymeleaf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正方形/長方形 37"/>
          <p:cNvSpPr/>
          <p:nvPr/>
        </p:nvSpPr>
        <p:spPr>
          <a:xfrm>
            <a:off x="542925" y="4597344"/>
            <a:ext cx="4062530" cy="100463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&lt;div class="span-8 last"&gt;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&lt;select id="basePrice" name="basePrice"&gt;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value="0"&gt;unlimited&lt;/option&gt;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value="10000"&gt;Less than \10,000&lt;/option&gt;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&lt;!-- omitted --&gt;</a:t>
            </a:r>
            <a:endParaRPr lang="en-US" sz="1000" b="1" dirty="0">
              <a:solidFill>
                <a:schemeClr val="tx1"/>
              </a:solidFill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&lt;/div&gt;</a:t>
            </a:r>
          </a:p>
        </p:txBody>
      </p:sp>
      <p:sp>
        <p:nvSpPr>
          <p:cNvPr id="39" name="正方形/長方形 38"/>
          <p:cNvSpPr/>
          <p:nvPr/>
        </p:nvSpPr>
        <p:spPr>
          <a:xfrm>
            <a:off x="542925" y="4414782"/>
            <a:ext cx="146475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 Locale=en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542924" y="5807019"/>
            <a:ext cx="4062531" cy="100463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&lt;div class="span-8 last"&gt;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&lt;select id="basePrice" name="basePrice"&gt;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value="0"&gt;</a:t>
            </a:r>
            <a:r>
              <a:rPr lang="ja-JP" altLang="en-US" sz="1000" b="1" dirty="0">
                <a:solidFill>
                  <a:schemeClr val="tx1"/>
                </a:solidFill>
              </a:rPr>
              <a:t>上限なし</a:t>
            </a:r>
            <a:r>
              <a:rPr lang="en-US" altLang="ja-JP" sz="1000" b="1" dirty="0">
                <a:solidFill>
                  <a:schemeClr val="tx1"/>
                </a:solidFill>
              </a:rPr>
              <a:t>&lt;/</a:t>
            </a:r>
            <a:r>
              <a:rPr lang="en-US" sz="1000" b="1" dirty="0">
                <a:solidFill>
                  <a:schemeClr val="tx1"/>
                </a:solidFill>
              </a:rPr>
              <a:t>option&gt;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    &lt;option value="10000"&gt;10,000</a:t>
            </a:r>
            <a:r>
              <a:rPr lang="ja-JP" altLang="en-US" sz="1000" b="1" dirty="0">
                <a:solidFill>
                  <a:schemeClr val="tx1"/>
                </a:solidFill>
              </a:rPr>
              <a:t>円以下</a:t>
            </a:r>
            <a:r>
              <a:rPr lang="en-US" altLang="ja-JP" sz="1000" b="1" dirty="0">
                <a:solidFill>
                  <a:schemeClr val="tx1"/>
                </a:solidFill>
              </a:rPr>
              <a:t>&lt;/</a:t>
            </a:r>
            <a:r>
              <a:rPr lang="en-US" sz="1000" b="1" dirty="0">
                <a:solidFill>
                  <a:schemeClr val="tx1"/>
                </a:solidFill>
              </a:rPr>
              <a:t>option&gt;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    &lt;!-- omitted --&gt;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&lt;/div&gt;</a:t>
            </a:r>
          </a:p>
        </p:txBody>
      </p:sp>
      <p:sp>
        <p:nvSpPr>
          <p:cNvPr id="46" name="正方形/長方形 45"/>
          <p:cNvSpPr/>
          <p:nvPr/>
        </p:nvSpPr>
        <p:spPr>
          <a:xfrm>
            <a:off x="542924" y="5624457"/>
            <a:ext cx="146475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html Locale=ja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1" name="図形 50"/>
          <p:cNvCxnSpPr>
            <a:cxnSpLocks/>
            <a:endCxn id="39" idx="1"/>
          </p:cNvCxnSpPr>
          <p:nvPr/>
        </p:nvCxnSpPr>
        <p:spPr>
          <a:xfrm rot="10800000" flipV="1">
            <a:off x="542925" y="4304799"/>
            <a:ext cx="5385434" cy="201264"/>
          </a:xfrm>
          <a:prstGeom prst="bentConnector3">
            <a:avLst>
              <a:gd name="adj1" fmla="val 10424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図形 51"/>
          <p:cNvCxnSpPr>
            <a:cxnSpLocks/>
            <a:endCxn id="46" idx="1"/>
          </p:cNvCxnSpPr>
          <p:nvPr/>
        </p:nvCxnSpPr>
        <p:spPr>
          <a:xfrm rot="10800000" flipV="1">
            <a:off x="542925" y="4124010"/>
            <a:ext cx="5385435" cy="1591728"/>
          </a:xfrm>
          <a:prstGeom prst="bentConnector3">
            <a:avLst>
              <a:gd name="adj1" fmla="val 10679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/>
          <p:cNvCxnSpPr>
            <a:stCxn id="38" idx="3"/>
            <a:endCxn id="2" idx="1"/>
          </p:cNvCxnSpPr>
          <p:nvPr/>
        </p:nvCxnSpPr>
        <p:spPr>
          <a:xfrm flipV="1">
            <a:off x="4605455" y="5094092"/>
            <a:ext cx="285929" cy="5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正方形/長方形 69"/>
          <p:cNvSpPr/>
          <p:nvPr/>
        </p:nvSpPr>
        <p:spPr>
          <a:xfrm>
            <a:off x="4546555" y="4379622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31775" y="5796826"/>
            <a:ext cx="919225" cy="1040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/>
          <p:cNvSpPr/>
          <p:nvPr/>
        </p:nvSpPr>
        <p:spPr>
          <a:xfrm>
            <a:off x="4606603" y="5586898"/>
            <a:ext cx="2085977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Browser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3" name="直線矢印コネクタ 72"/>
          <p:cNvCxnSpPr>
            <a:stCxn id="45" idx="3"/>
            <a:endCxn id="1027" idx="1"/>
          </p:cNvCxnSpPr>
          <p:nvPr/>
        </p:nvCxnSpPr>
        <p:spPr>
          <a:xfrm>
            <a:off x="4605455" y="6309337"/>
            <a:ext cx="326320" cy="78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/>
          <p:cNvCxnSpPr>
            <a:cxnSpLocks/>
            <a:stCxn id="11" idx="3"/>
            <a:endCxn id="10" idx="1"/>
          </p:cNvCxnSpPr>
          <p:nvPr/>
        </p:nvCxnSpPr>
        <p:spPr>
          <a:xfrm>
            <a:off x="3120012" y="3442870"/>
            <a:ext cx="962024" cy="2014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正方形/長方形 85"/>
          <p:cNvSpPr/>
          <p:nvPr/>
        </p:nvSpPr>
        <p:spPr>
          <a:xfrm>
            <a:off x="363348" y="1317325"/>
            <a:ext cx="5255132" cy="904667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9" name="正方形/長方形 88"/>
          <p:cNvSpPr/>
          <p:nvPr/>
        </p:nvSpPr>
        <p:spPr>
          <a:xfrm>
            <a:off x="557786" y="3576329"/>
            <a:ext cx="2562226" cy="188595"/>
          </a:xfrm>
          <a:prstGeom prst="rect">
            <a:avLst/>
          </a:prstGeom>
          <a:noFill/>
          <a:ln w="317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91" name="図形 90"/>
          <p:cNvCxnSpPr>
            <a:cxnSpLocks/>
            <a:stCxn id="86" idx="3"/>
            <a:endCxn id="89" idx="1"/>
          </p:cNvCxnSpPr>
          <p:nvPr/>
        </p:nvCxnSpPr>
        <p:spPr>
          <a:xfrm flipH="1">
            <a:off x="557786" y="1769659"/>
            <a:ext cx="5060694" cy="1900968"/>
          </a:xfrm>
          <a:prstGeom prst="bentConnector5">
            <a:avLst>
              <a:gd name="adj1" fmla="val -4517"/>
              <a:gd name="adj2" fmla="val 30997"/>
              <a:gd name="adj3" fmla="val 108071"/>
            </a:avLst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C:\Users\bttatsutanik.RDH\work_gfw\documents\guideline\source\ArchitectureInDetail\images\codelist_i18n_e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91384" y="4686287"/>
            <a:ext cx="1000008" cy="815609"/>
          </a:xfrm>
          <a:prstGeom prst="rect">
            <a:avLst/>
          </a:prstGeom>
          <a:noFill/>
        </p:spPr>
      </p:pic>
      <p:sp>
        <p:nvSpPr>
          <p:cNvPr id="30" name="正方形/長方形 29"/>
          <p:cNvSpPr/>
          <p:nvPr/>
        </p:nvSpPr>
        <p:spPr>
          <a:xfrm>
            <a:off x="5928359" y="3960778"/>
            <a:ext cx="3243047" cy="128255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&lt;select </a:t>
            </a:r>
            <a:r>
              <a:rPr lang="en-US" altLang="ja-JP" sz="1200" b="1" dirty="0" err="1">
                <a:solidFill>
                  <a:schemeClr val="tx1"/>
                </a:solidFill>
              </a:rPr>
              <a:t>th:field</a:t>
            </a:r>
            <a:r>
              <a:rPr lang="en-US" altLang="ja-JP" sz="1200" b="1" dirty="0">
                <a:solidFill>
                  <a:schemeClr val="tx1"/>
                </a:solidFill>
              </a:rPr>
              <a:t>=“*{</a:t>
            </a:r>
            <a:r>
              <a:rPr lang="en-US" altLang="ja-JP" sz="1200" b="1" dirty="0" err="1">
                <a:solidFill>
                  <a:schemeClr val="tx1"/>
                </a:solidFill>
              </a:rPr>
              <a:t>basePrice</a:t>
            </a:r>
            <a:r>
              <a:rPr lang="en-US" altLang="ja-JP" sz="1200" b="1" dirty="0">
                <a:solidFill>
                  <a:schemeClr val="tx1"/>
                </a:solidFill>
              </a:rPr>
              <a:t>}"&gt;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&lt;option </a:t>
            </a:r>
            <a:r>
              <a:rPr lang="en-US" altLang="ja-JP" sz="1200" b="1" dirty="0" err="1">
                <a:solidFill>
                  <a:schemeClr val="tx1"/>
                </a:solidFill>
              </a:rPr>
              <a:t>th:each</a:t>
            </a:r>
            <a:r>
              <a:rPr lang="en-US" altLang="ja-JP" sz="1200" b="1" dirty="0">
                <a:solidFill>
                  <a:schemeClr val="tx1"/>
                </a:solidFill>
              </a:rPr>
              <a:t>=“price  :  ${</a:t>
            </a:r>
            <a:r>
              <a:rPr lang="en-US" altLang="ja-JP" sz="1200" b="1" dirty="0">
                <a:solidFill>
                  <a:srgbClr val="0070C0"/>
                </a:solidFill>
              </a:rPr>
              <a:t>CL_BASE_PRICE</a:t>
            </a:r>
            <a:r>
              <a:rPr lang="en-US" altLang="ja-JP" sz="1200" b="1" dirty="0">
                <a:solidFill>
                  <a:schemeClr val="tx1"/>
                </a:solidFill>
              </a:rPr>
              <a:t>}“</a:t>
            </a:r>
          </a:p>
          <a:p>
            <a:r>
              <a:rPr lang="en-US" altLang="ja-JP" sz="1200" b="1" dirty="0">
                <a:solidFill>
                  <a:srgbClr val="0070C0"/>
                </a:solidFill>
              </a:rPr>
              <a:t>     </a:t>
            </a:r>
            <a:r>
              <a:rPr lang="en-US" altLang="ja-JP" sz="1200" b="1" dirty="0">
                <a:solidFill>
                  <a:schemeClr val="tx1"/>
                </a:solidFill>
              </a:rPr>
              <a:t> </a:t>
            </a:r>
            <a:r>
              <a:rPr lang="en-US" altLang="ja-JP" sz="1200" b="1" dirty="0" err="1">
                <a:solidFill>
                  <a:schemeClr val="tx1"/>
                </a:solidFill>
              </a:rPr>
              <a:t>th:value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price.key</a:t>
            </a:r>
            <a:r>
              <a:rPr lang="en-US" altLang="ja-JP" sz="1200" b="1" dirty="0">
                <a:solidFill>
                  <a:schemeClr val="tx1"/>
                </a:solidFill>
              </a:rPr>
              <a:t>}“ 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</a:t>
            </a:r>
            <a:r>
              <a:rPr lang="en-US" altLang="ja-JP" sz="1200" b="1" dirty="0" err="1">
                <a:solidFill>
                  <a:schemeClr val="tx1"/>
                </a:solidFill>
              </a:rPr>
              <a:t>th:text</a:t>
            </a:r>
            <a:r>
              <a:rPr lang="en-US" altLang="ja-JP" sz="1200" b="1" dirty="0">
                <a:solidFill>
                  <a:schemeClr val="tx1"/>
                </a:solidFill>
              </a:rPr>
              <a:t>="${</a:t>
            </a:r>
            <a:r>
              <a:rPr lang="en-US" altLang="ja-JP" sz="1200" b="1" dirty="0" err="1">
                <a:solidFill>
                  <a:schemeClr val="tx1"/>
                </a:solidFill>
              </a:rPr>
              <a:t>price.value</a:t>
            </a:r>
            <a:r>
              <a:rPr lang="en-US" altLang="ja-JP" sz="1200" b="1" dirty="0">
                <a:solidFill>
                  <a:schemeClr val="tx1"/>
                </a:solidFill>
              </a:rPr>
              <a:t>}"&gt;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Order Status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&lt;/option&gt;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&lt;/select&gt;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3BC07D3-6438-C734-CA54-F16C83DD43CD}"/>
              </a:ext>
            </a:extLst>
          </p:cNvPr>
          <p:cNvSpPr/>
          <p:nvPr/>
        </p:nvSpPr>
        <p:spPr>
          <a:xfrm>
            <a:off x="297943" y="-1676942"/>
            <a:ext cx="2562226" cy="1825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</a:rPr>
              <a:t>codelist.xml</a:t>
            </a:r>
            <a:endParaRPr kumimoji="1" lang="ja-JP" alt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21658</TotalTime>
  <Words>1504</Words>
  <Application>Microsoft Office PowerPoint</Application>
  <PresentationFormat>画面に合わせる (4:3)</PresentationFormat>
  <Paragraphs>238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TIG 川原 秀之/Kawahara, Hideyuki (NTT DATA)</cp:lastModifiedBy>
  <cp:revision>41</cp:revision>
  <dcterms:created xsi:type="dcterms:W3CDTF">2012-07-17T19:23:13Z</dcterms:created>
  <dcterms:modified xsi:type="dcterms:W3CDTF">2024-12-27T07:54:59Z</dcterms:modified>
</cp:coreProperties>
</file>